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Lst>
  <p:notesMasterIdLst>
    <p:notesMasterId r:id="rId27"/>
  </p:notesMasterIdLst>
  <p:sldIdLst>
    <p:sldId id="256" r:id="rId5"/>
    <p:sldId id="257" r:id="rId6"/>
    <p:sldId id="258" r:id="rId7"/>
    <p:sldId id="259" r:id="rId8"/>
    <p:sldId id="260" r:id="rId9"/>
    <p:sldId id="261" r:id="rId10"/>
    <p:sldId id="262" r:id="rId11"/>
    <p:sldId id="263" r:id="rId12"/>
    <p:sldId id="274" r:id="rId13"/>
    <p:sldId id="273" r:id="rId14"/>
    <p:sldId id="275" r:id="rId15"/>
    <p:sldId id="264" r:id="rId16"/>
    <p:sldId id="271" r:id="rId17"/>
    <p:sldId id="272" r:id="rId18"/>
    <p:sldId id="278" r:id="rId19"/>
    <p:sldId id="265" r:id="rId20"/>
    <p:sldId id="277" r:id="rId21"/>
    <p:sldId id="266" r:id="rId22"/>
    <p:sldId id="268" r:id="rId23"/>
    <p:sldId id="269" r:id="rId24"/>
    <p:sldId id="270" r:id="rId25"/>
    <p:sldId id="267" r:id="rId26"/>
  </p:sldIdLst>
  <p:sldSz cx="18288000" cy="10287000"/>
  <p:notesSz cx="6858000" cy="9144000"/>
  <p:embeddedFontLst>
    <p:embeddedFont>
      <p:font typeface="Bugaki" panose="020B0604020202020204" charset="0"/>
      <p:regular r:id="rId28"/>
    </p:embeddedFont>
    <p:embeddedFont>
      <p:font typeface="Open Sauce" panose="020B0604020202020204" charset="0"/>
      <p:regular r:id="rId29"/>
    </p:embeddedFont>
    <p:embeddedFont>
      <p:font typeface="Open Sauce Bold" panose="020B0604020202020204" charset="0"/>
      <p:regular r:id="rId30"/>
    </p:embeddedFont>
    <p:embeddedFont>
      <p:font typeface="Poppins" panose="00000500000000000000" pitchFamily="2" charset="0"/>
      <p:regular r:id="rId31"/>
      <p:bold r:id="rId32"/>
      <p:italic r:id="rId33"/>
      <p:boldItalic r:id="rId34"/>
    </p:embeddedFont>
    <p:embeddedFont>
      <p:font typeface="Roboto" panose="02000000000000000000" pitchFamily="2" charset="0"/>
      <p:regular r:id="rId35"/>
      <p:bold r:id="rId36"/>
      <p:italic r:id="rId37"/>
      <p:boldItalic r:id="rId3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13B54"/>
    <a:srgbClr val="FEFEFC"/>
    <a:srgbClr val="FAEDCD"/>
    <a:srgbClr val="F4E1BA"/>
    <a:srgbClr val="FFFFCC"/>
    <a:srgbClr val="92ABB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7DED610-9897-4024-81B4-E4391926C98A}" v="7" dt="2025-04-13T21:44:50.932"/>
    <p1510:client id="{0ABF5694-A4D5-4806-A97F-B2C125602005}" v="105" dt="2025-04-13T22:24:52.949"/>
    <p1510:client id="{1666E312-BC8D-40A7-BFA7-5F6092CBC19D}" v="228" dt="2025-04-13T16:52:38.183"/>
    <p1510:client id="{330246B7-13A1-42D5-9272-E88CAAD8ACC2}" v="17" dt="2025-04-13T22:34:58.312"/>
    <p1510:client id="{48101EF6-45A3-5444-475C-CC80CED77310}" v="53" dt="2025-04-14T00:48:01.760"/>
    <p1510:client id="{93C874AF-2055-4BE9-B561-CBD59BC2C1EC}" v="5" dt="2025-04-13T21:52:43.145"/>
    <p1510:client id="{9C8B4CDD-6FFA-262A-DFED-AB8E0F956503}" v="281" dt="2025-04-13T20:04:58.707"/>
    <p1510:client id="{C2843218-B51F-40AF-BE5E-D025215E1D9F}" v="4180" dt="2025-04-14T01:12:58.111"/>
    <p1510:client id="{C9DC71D7-BE1C-4562-A208-4A173D2B5BC8}" v="76" dt="2025-04-13T21:03:01.134"/>
    <p1510:client id="{ED36B192-E0A3-CCFB-66A0-68C8035B272A}" v="579" dt="2025-04-13T21:31:17.75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2" autoAdjust="0"/>
    <p:restoredTop sz="94622" autoAdjust="0"/>
  </p:normalViewPr>
  <p:slideViewPr>
    <p:cSldViewPr>
      <p:cViewPr varScale="1">
        <p:scale>
          <a:sx n="70" d="100"/>
          <a:sy n="70" d="100"/>
        </p:scale>
        <p:origin x="774"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21" Type="http://schemas.openxmlformats.org/officeDocument/2006/relationships/slide" Target="slides/slide17.xml"/><Relationship Id="rId34" Type="http://schemas.openxmlformats.org/officeDocument/2006/relationships/font" Target="fonts/font7.fntdata"/><Relationship Id="rId42"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2.fntdata"/><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font" Target="fonts/font1.fntdata"/><Relationship Id="rId36" Type="http://schemas.openxmlformats.org/officeDocument/2006/relationships/font" Target="fonts/font9.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4.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43" Type="http://schemas.microsoft.com/office/2015/10/relationships/revisionInfo" Target="revisionInfo.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6.fntdata"/><Relationship Id="rId38" Type="http://schemas.openxmlformats.org/officeDocument/2006/relationships/font" Target="fonts/font1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84BDBE-AA93-4179-B911-CDE1B3F42B85}" type="datetimeFigureOut">
              <a:rPr lang="en-CA" smtClean="0"/>
              <a:t>2025-04-13</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8C3E07-D562-4CB6-874C-280B7E3B27F9}" type="slidenum">
              <a:rPr lang="en-CA" smtClean="0"/>
              <a:t>‹#›</a:t>
            </a:fld>
            <a:endParaRPr lang="en-CA"/>
          </a:p>
        </p:txBody>
      </p:sp>
    </p:spTree>
    <p:extLst>
      <p:ext uri="{BB962C8B-B14F-4D97-AF65-F5344CB8AC3E}">
        <p14:creationId xmlns:p14="http://schemas.microsoft.com/office/powerpoint/2010/main" val="23014407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678C3E07-D562-4CB6-874C-280B7E3B27F9}" type="slidenum">
              <a:rPr lang="en-CA" smtClean="0"/>
              <a:t>6</a:t>
            </a:fld>
            <a:endParaRPr lang="en-CA"/>
          </a:p>
        </p:txBody>
      </p:sp>
    </p:spTree>
    <p:extLst>
      <p:ext uri="{BB962C8B-B14F-4D97-AF65-F5344CB8AC3E}">
        <p14:creationId xmlns:p14="http://schemas.microsoft.com/office/powerpoint/2010/main" val="20106697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3" Type="http://schemas.openxmlformats.org/officeDocument/2006/relationships/image" Target="../media/image2.png"/><Relationship Id="rId7" Type="http://schemas.openxmlformats.org/officeDocument/2006/relationships/image" Target="../media/image6.svg"/><Relationship Id="rId12" Type="http://schemas.openxmlformats.org/officeDocument/2006/relationships/image" Target="../media/image11.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jpeg"/><Relationship Id="rId10" Type="http://schemas.openxmlformats.org/officeDocument/2006/relationships/image" Target="../media/image9.png"/><Relationship Id="rId4" Type="http://schemas.openxmlformats.org/officeDocument/2006/relationships/image" Target="../media/image3.jpe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4.svg"/><Relationship Id="rId5" Type="http://schemas.openxmlformats.org/officeDocument/2006/relationships/image" Target="../media/image7.png"/><Relationship Id="rId4" Type="http://schemas.openxmlformats.org/officeDocument/2006/relationships/image" Target="../media/image13.sv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15.jpeg"/><Relationship Id="rId4" Type="http://schemas.openxmlformats.org/officeDocument/2006/relationships/image" Target="../media/image8.svg"/></Relationships>
</file>

<file path=ppt/slides/_rels/slide4.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7.png"/><Relationship Id="rId7" Type="http://schemas.openxmlformats.org/officeDocument/2006/relationships/image" Target="../media/image18.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8.svg"/></Relationships>
</file>

<file path=ppt/slides/_rels/slide5.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7.png"/><Relationship Id="rId7" Type="http://schemas.openxmlformats.org/officeDocument/2006/relationships/image" Target="../media/image2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8.svg"/><Relationship Id="rId9" Type="http://schemas.openxmlformats.org/officeDocument/2006/relationships/image" Target="../media/image24.pn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26.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8.sv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29.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8.sv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30.png"/><Relationship Id="rId4" Type="http://schemas.openxmlformats.org/officeDocument/2006/relationships/image" Target="../media/image8.sv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34.png"/><Relationship Id="rId2" Type="http://schemas.openxmlformats.org/officeDocument/2006/relationships/image" Target="../media/image31.jpeg"/><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8.sv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37.png"/><Relationship Id="rId2" Type="http://schemas.openxmlformats.org/officeDocument/2006/relationships/image" Target="../media/image31.jpeg"/><Relationship Id="rId1" Type="http://schemas.openxmlformats.org/officeDocument/2006/relationships/slideLayout" Target="../slideLayouts/slideLayout7.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8.sv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1.jpeg"/><Relationship Id="rId1" Type="http://schemas.openxmlformats.org/officeDocument/2006/relationships/slideLayout" Target="../slideLayouts/slideLayout7.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8.sv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40.png"/><Relationship Id="rId4" Type="http://schemas.openxmlformats.org/officeDocument/2006/relationships/image" Target="../media/image8.sv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41.png"/><Relationship Id="rId4" Type="http://schemas.openxmlformats.org/officeDocument/2006/relationships/image" Target="../media/image8.sv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44.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8.sv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45.png"/><Relationship Id="rId4" Type="http://schemas.openxmlformats.org/officeDocument/2006/relationships/image" Target="../media/image8.sv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8.svg"/></Relationships>
</file>

<file path=ppt/slides/_rels/slide17.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7.png"/><Relationship Id="rId7" Type="http://schemas.openxmlformats.org/officeDocument/2006/relationships/image" Target="../media/image48.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8.svg"/><Relationship Id="rId9" Type="http://schemas.openxmlformats.org/officeDocument/2006/relationships/image" Target="../media/image50.png"/></Relationships>
</file>

<file path=ppt/slides/_rels/slide18.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7.png"/><Relationship Id="rId7" Type="http://schemas.openxmlformats.org/officeDocument/2006/relationships/image" Target="../media/image53.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8.svg"/></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8.svg"/></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8.svg"/></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59.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8.jpeg"/><Relationship Id="rId5" Type="http://schemas.openxmlformats.org/officeDocument/2006/relationships/image" Target="../media/image57.png"/><Relationship Id="rId4" Type="http://schemas.openxmlformats.org/officeDocument/2006/relationships/image" Target="../media/image8.svg"/></Relationships>
</file>

<file path=ppt/slides/_rels/slide22.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image" Target="../media/image7.png"/><Relationship Id="rId7" Type="http://schemas.openxmlformats.org/officeDocument/2006/relationships/image" Target="../media/image6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61.png"/><Relationship Id="rId5" Type="http://schemas.openxmlformats.org/officeDocument/2006/relationships/image" Target="../media/image60.png"/><Relationship Id="rId10" Type="http://schemas.openxmlformats.org/officeDocument/2006/relationships/image" Target="../media/image65.png"/><Relationship Id="rId4" Type="http://schemas.openxmlformats.org/officeDocument/2006/relationships/image" Target="../media/image8.svg"/><Relationship Id="rId9" Type="http://schemas.openxmlformats.org/officeDocument/2006/relationships/image" Target="../media/image6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CA"/>
          </a:p>
        </p:txBody>
      </p:sp>
      <p:sp>
        <p:nvSpPr>
          <p:cNvPr id="3" name="Freeform 3"/>
          <p:cNvSpPr/>
          <p:nvPr/>
        </p:nvSpPr>
        <p:spPr>
          <a:xfrm>
            <a:off x="10300568" y="632114"/>
            <a:ext cx="7404317" cy="7389449"/>
          </a:xfrm>
          <a:custGeom>
            <a:avLst/>
            <a:gdLst/>
            <a:ahLst/>
            <a:cxnLst/>
            <a:rect l="l" t="t" r="r" b="b"/>
            <a:pathLst>
              <a:path w="7404317" h="7389449">
                <a:moveTo>
                  <a:pt x="0" y="0"/>
                </a:moveTo>
                <a:lnTo>
                  <a:pt x="7404318" y="0"/>
                </a:lnTo>
                <a:lnTo>
                  <a:pt x="7404318" y="7389449"/>
                </a:lnTo>
                <a:lnTo>
                  <a:pt x="0" y="7389449"/>
                </a:lnTo>
                <a:lnTo>
                  <a:pt x="0" y="0"/>
                </a:lnTo>
                <a:close/>
              </a:path>
            </a:pathLst>
          </a:custGeom>
          <a:blipFill>
            <a:blip r:embed="rId3"/>
            <a:stretch>
              <a:fillRect/>
            </a:stretch>
          </a:blipFill>
        </p:spPr>
        <p:txBody>
          <a:bodyPr/>
          <a:lstStyle/>
          <a:p>
            <a:endParaRPr lang="en-CA"/>
          </a:p>
        </p:txBody>
      </p:sp>
      <p:grpSp>
        <p:nvGrpSpPr>
          <p:cNvPr id="4" name="Group 4"/>
          <p:cNvGrpSpPr/>
          <p:nvPr/>
        </p:nvGrpSpPr>
        <p:grpSpPr>
          <a:xfrm>
            <a:off x="10426142" y="750254"/>
            <a:ext cx="7084726" cy="7084726"/>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CA"/>
            </a:p>
          </p:txBody>
        </p:sp>
        <p:sp>
          <p:nvSpPr>
            <p:cNvPr id="6" name="TextBox 6"/>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7" name="Group 7"/>
          <p:cNvGrpSpPr/>
          <p:nvPr/>
        </p:nvGrpSpPr>
        <p:grpSpPr>
          <a:xfrm>
            <a:off x="10879565" y="1203689"/>
            <a:ext cx="6177881" cy="6177856"/>
            <a:chOff x="0" y="0"/>
            <a:chExt cx="6350000" cy="6349975"/>
          </a:xfrm>
        </p:grpSpPr>
        <p:sp>
          <p:nvSpPr>
            <p:cNvPr id="8" name="Freeform 8"/>
            <p:cNvSpPr/>
            <p:nvPr/>
          </p:nvSpPr>
          <p:spPr>
            <a:xfrm>
              <a:off x="0" y="0"/>
              <a:ext cx="6350000" cy="6349975"/>
            </a:xfrm>
            <a:custGeom>
              <a:avLst/>
              <a:gdLst/>
              <a:ahLst/>
              <a:cxnLst/>
              <a:rect l="l" t="t" r="r" b="b"/>
              <a:pathLst>
                <a:path w="6350000" h="6349975">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4"/>
              <a:stretch>
                <a:fillRect l="-29522" r="-29522"/>
              </a:stretch>
            </a:blipFill>
          </p:spPr>
          <p:txBody>
            <a:bodyPr/>
            <a:lstStyle/>
            <a:p>
              <a:endParaRPr lang="en-CA"/>
            </a:p>
          </p:txBody>
        </p:sp>
      </p:grpSp>
      <p:sp>
        <p:nvSpPr>
          <p:cNvPr id="9" name="Freeform 9"/>
          <p:cNvSpPr/>
          <p:nvPr/>
        </p:nvSpPr>
        <p:spPr>
          <a:xfrm>
            <a:off x="6880165" y="4326839"/>
            <a:ext cx="5338767" cy="5328047"/>
          </a:xfrm>
          <a:custGeom>
            <a:avLst/>
            <a:gdLst/>
            <a:ahLst/>
            <a:cxnLst/>
            <a:rect l="l" t="t" r="r" b="b"/>
            <a:pathLst>
              <a:path w="5338767" h="5328047">
                <a:moveTo>
                  <a:pt x="0" y="0"/>
                </a:moveTo>
                <a:lnTo>
                  <a:pt x="5338767" y="0"/>
                </a:lnTo>
                <a:lnTo>
                  <a:pt x="5338767" y="5328047"/>
                </a:lnTo>
                <a:lnTo>
                  <a:pt x="0" y="5328047"/>
                </a:lnTo>
                <a:lnTo>
                  <a:pt x="0" y="0"/>
                </a:lnTo>
                <a:close/>
              </a:path>
            </a:pathLst>
          </a:custGeom>
          <a:blipFill>
            <a:blip r:embed="rId3"/>
            <a:stretch>
              <a:fillRect/>
            </a:stretch>
          </a:blipFill>
        </p:spPr>
        <p:txBody>
          <a:bodyPr/>
          <a:lstStyle/>
          <a:p>
            <a:endParaRPr lang="en-CA"/>
          </a:p>
        </p:txBody>
      </p:sp>
      <p:grpSp>
        <p:nvGrpSpPr>
          <p:cNvPr id="10" name="Group 10"/>
          <p:cNvGrpSpPr/>
          <p:nvPr/>
        </p:nvGrpSpPr>
        <p:grpSpPr>
          <a:xfrm>
            <a:off x="6970708" y="4412022"/>
            <a:ext cx="5108331" cy="5108331"/>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CA"/>
            </a:p>
          </p:txBody>
        </p:sp>
        <p:sp>
          <p:nvSpPr>
            <p:cNvPr id="12" name="TextBox 12"/>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13" name="Group 13"/>
          <p:cNvGrpSpPr/>
          <p:nvPr/>
        </p:nvGrpSpPr>
        <p:grpSpPr>
          <a:xfrm>
            <a:off x="7374641" y="4815964"/>
            <a:ext cx="4300464" cy="4300446"/>
            <a:chOff x="0" y="0"/>
            <a:chExt cx="6350000" cy="6349975"/>
          </a:xfrm>
        </p:grpSpPr>
        <p:sp>
          <p:nvSpPr>
            <p:cNvPr id="14" name="Freeform 14"/>
            <p:cNvSpPr/>
            <p:nvPr/>
          </p:nvSpPr>
          <p:spPr>
            <a:xfrm>
              <a:off x="0" y="0"/>
              <a:ext cx="6350000" cy="6349975"/>
            </a:xfrm>
            <a:custGeom>
              <a:avLst/>
              <a:gdLst/>
              <a:ahLst/>
              <a:cxnLst/>
              <a:rect l="l" t="t" r="r" b="b"/>
              <a:pathLst>
                <a:path w="6350000" h="6349975">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5"/>
              <a:stretch>
                <a:fillRect l="-38691" r="-38691"/>
              </a:stretch>
            </a:blipFill>
          </p:spPr>
          <p:txBody>
            <a:bodyPr/>
            <a:lstStyle/>
            <a:p>
              <a:endParaRPr lang="en-CA"/>
            </a:p>
          </p:txBody>
        </p:sp>
      </p:grpSp>
      <p:grpSp>
        <p:nvGrpSpPr>
          <p:cNvPr id="15" name="Group 15"/>
          <p:cNvGrpSpPr/>
          <p:nvPr/>
        </p:nvGrpSpPr>
        <p:grpSpPr>
          <a:xfrm>
            <a:off x="1028700" y="4254002"/>
            <a:ext cx="1191424" cy="316039"/>
            <a:chOff x="0" y="0"/>
            <a:chExt cx="1588564" cy="421385"/>
          </a:xfrm>
        </p:grpSpPr>
        <p:sp>
          <p:nvSpPr>
            <p:cNvPr id="16" name="Freeform 16"/>
            <p:cNvSpPr/>
            <p:nvPr/>
          </p:nvSpPr>
          <p:spPr>
            <a:xfrm>
              <a:off x="0" y="0"/>
              <a:ext cx="421385" cy="421385"/>
            </a:xfrm>
            <a:custGeom>
              <a:avLst/>
              <a:gdLst/>
              <a:ahLst/>
              <a:cxnLst/>
              <a:rect l="l" t="t" r="r" b="b"/>
              <a:pathLst>
                <a:path w="421385" h="421385">
                  <a:moveTo>
                    <a:pt x="0" y="0"/>
                  </a:moveTo>
                  <a:lnTo>
                    <a:pt x="421385" y="0"/>
                  </a:lnTo>
                  <a:lnTo>
                    <a:pt x="421385" y="421385"/>
                  </a:lnTo>
                  <a:lnTo>
                    <a:pt x="0" y="42138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CA"/>
            </a:p>
          </p:txBody>
        </p:sp>
        <p:sp>
          <p:nvSpPr>
            <p:cNvPr id="17" name="Freeform 17"/>
            <p:cNvSpPr/>
            <p:nvPr/>
          </p:nvSpPr>
          <p:spPr>
            <a:xfrm>
              <a:off x="580694" y="0"/>
              <a:ext cx="421385" cy="421385"/>
            </a:xfrm>
            <a:custGeom>
              <a:avLst/>
              <a:gdLst/>
              <a:ahLst/>
              <a:cxnLst/>
              <a:rect l="l" t="t" r="r" b="b"/>
              <a:pathLst>
                <a:path w="421385" h="421385">
                  <a:moveTo>
                    <a:pt x="0" y="0"/>
                  </a:moveTo>
                  <a:lnTo>
                    <a:pt x="421385" y="0"/>
                  </a:lnTo>
                  <a:lnTo>
                    <a:pt x="421385" y="421385"/>
                  </a:lnTo>
                  <a:lnTo>
                    <a:pt x="0" y="42138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CA"/>
            </a:p>
          </p:txBody>
        </p:sp>
        <p:sp>
          <p:nvSpPr>
            <p:cNvPr id="18" name="Freeform 18"/>
            <p:cNvSpPr/>
            <p:nvPr/>
          </p:nvSpPr>
          <p:spPr>
            <a:xfrm>
              <a:off x="1167179" y="0"/>
              <a:ext cx="421385" cy="421385"/>
            </a:xfrm>
            <a:custGeom>
              <a:avLst/>
              <a:gdLst/>
              <a:ahLst/>
              <a:cxnLst/>
              <a:rect l="l" t="t" r="r" b="b"/>
              <a:pathLst>
                <a:path w="421385" h="421385">
                  <a:moveTo>
                    <a:pt x="0" y="0"/>
                  </a:moveTo>
                  <a:lnTo>
                    <a:pt x="421385" y="0"/>
                  </a:lnTo>
                  <a:lnTo>
                    <a:pt x="421385" y="421385"/>
                  </a:lnTo>
                  <a:lnTo>
                    <a:pt x="0" y="421385"/>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CA"/>
            </a:p>
          </p:txBody>
        </p:sp>
      </p:grpSp>
      <p:grpSp>
        <p:nvGrpSpPr>
          <p:cNvPr id="19" name="Group 19"/>
          <p:cNvGrpSpPr/>
          <p:nvPr/>
        </p:nvGrpSpPr>
        <p:grpSpPr>
          <a:xfrm>
            <a:off x="17259300" y="8984615"/>
            <a:ext cx="1573962" cy="1573962"/>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3B54"/>
            </a:solidFill>
          </p:spPr>
          <p:txBody>
            <a:bodyPr/>
            <a:lstStyle/>
            <a:p>
              <a:endParaRPr lang="en-CA"/>
            </a:p>
          </p:txBody>
        </p:sp>
        <p:sp>
          <p:nvSpPr>
            <p:cNvPr id="21" name="TextBox 21"/>
            <p:cNvSpPr txBox="1"/>
            <p:nvPr/>
          </p:nvSpPr>
          <p:spPr>
            <a:xfrm>
              <a:off x="76200" y="66675"/>
              <a:ext cx="660400" cy="669925"/>
            </a:xfrm>
            <a:prstGeom prst="rect">
              <a:avLst/>
            </a:prstGeom>
          </p:spPr>
          <p:txBody>
            <a:bodyPr lIns="50800" tIns="50800" rIns="50800" bIns="50800" rtlCol="0" anchor="ctr"/>
            <a:lstStyle/>
            <a:p>
              <a:pPr algn="ctr">
                <a:lnSpc>
                  <a:spcPts val="3042"/>
                </a:lnSpc>
              </a:pPr>
              <a:endParaRPr/>
            </a:p>
          </p:txBody>
        </p:sp>
      </p:grpSp>
      <p:grpSp>
        <p:nvGrpSpPr>
          <p:cNvPr id="22" name="Group 22"/>
          <p:cNvGrpSpPr/>
          <p:nvPr/>
        </p:nvGrpSpPr>
        <p:grpSpPr>
          <a:xfrm>
            <a:off x="16303701" y="8984615"/>
            <a:ext cx="786981" cy="786981"/>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664"/>
            </a:solidFill>
          </p:spPr>
          <p:txBody>
            <a:bodyPr/>
            <a:lstStyle/>
            <a:p>
              <a:endParaRPr lang="en-CA"/>
            </a:p>
          </p:txBody>
        </p:sp>
        <p:sp>
          <p:nvSpPr>
            <p:cNvPr id="24" name="TextBox 24"/>
            <p:cNvSpPr txBox="1"/>
            <p:nvPr/>
          </p:nvSpPr>
          <p:spPr>
            <a:xfrm>
              <a:off x="76200" y="66675"/>
              <a:ext cx="660400" cy="669925"/>
            </a:xfrm>
            <a:prstGeom prst="rect">
              <a:avLst/>
            </a:prstGeom>
          </p:spPr>
          <p:txBody>
            <a:bodyPr lIns="50800" tIns="50800" rIns="50800" bIns="50800" rtlCol="0" anchor="ctr"/>
            <a:lstStyle/>
            <a:p>
              <a:pPr algn="ctr">
                <a:lnSpc>
                  <a:spcPts val="3042"/>
                </a:lnSpc>
              </a:pPr>
              <a:endParaRPr/>
            </a:p>
          </p:txBody>
        </p:sp>
      </p:grpSp>
      <p:sp>
        <p:nvSpPr>
          <p:cNvPr id="25" name="Freeform 25"/>
          <p:cNvSpPr/>
          <p:nvPr/>
        </p:nvSpPr>
        <p:spPr>
          <a:xfrm>
            <a:off x="8351272" y="1529765"/>
            <a:ext cx="851858" cy="842275"/>
          </a:xfrm>
          <a:custGeom>
            <a:avLst/>
            <a:gdLst/>
            <a:ahLst/>
            <a:cxnLst/>
            <a:rect l="l" t="t" r="r" b="b"/>
            <a:pathLst>
              <a:path w="851858" h="842275">
                <a:moveTo>
                  <a:pt x="0" y="0"/>
                </a:moveTo>
                <a:lnTo>
                  <a:pt x="851859" y="0"/>
                </a:lnTo>
                <a:lnTo>
                  <a:pt x="851859" y="842275"/>
                </a:lnTo>
                <a:lnTo>
                  <a:pt x="0" y="842275"/>
                </a:lnTo>
                <a:lnTo>
                  <a:pt x="0" y="0"/>
                </a:lnTo>
                <a:close/>
              </a:path>
            </a:pathLst>
          </a:custGeom>
          <a:blipFill>
            <a:blip r:embed="rId12">
              <a:alphaModFix amt="7999"/>
              <a:extLst>
                <a:ext uri="{96DAC541-7B7A-43D3-8B79-37D633B846F1}">
                  <asvg:svgBlip xmlns:asvg="http://schemas.microsoft.com/office/drawing/2016/SVG/main" r:embed="rId13"/>
                </a:ext>
              </a:extLst>
            </a:blip>
            <a:stretch>
              <a:fillRect/>
            </a:stretch>
          </a:blipFill>
        </p:spPr>
        <p:txBody>
          <a:bodyPr/>
          <a:lstStyle/>
          <a:p>
            <a:endParaRPr lang="en-CA"/>
          </a:p>
        </p:txBody>
      </p:sp>
      <p:sp>
        <p:nvSpPr>
          <p:cNvPr id="26" name="Freeform 26"/>
          <p:cNvSpPr/>
          <p:nvPr/>
        </p:nvSpPr>
        <p:spPr>
          <a:xfrm>
            <a:off x="9006365" y="2235419"/>
            <a:ext cx="639111" cy="631921"/>
          </a:xfrm>
          <a:custGeom>
            <a:avLst/>
            <a:gdLst/>
            <a:ahLst/>
            <a:cxnLst/>
            <a:rect l="l" t="t" r="r" b="b"/>
            <a:pathLst>
              <a:path w="639111" h="631921">
                <a:moveTo>
                  <a:pt x="0" y="0"/>
                </a:moveTo>
                <a:lnTo>
                  <a:pt x="639111" y="0"/>
                </a:lnTo>
                <a:lnTo>
                  <a:pt x="639111" y="631921"/>
                </a:lnTo>
                <a:lnTo>
                  <a:pt x="0" y="631921"/>
                </a:lnTo>
                <a:lnTo>
                  <a:pt x="0" y="0"/>
                </a:lnTo>
                <a:close/>
              </a:path>
            </a:pathLst>
          </a:custGeom>
          <a:blipFill>
            <a:blip r:embed="rId12">
              <a:alphaModFix amt="7999"/>
              <a:extLst>
                <a:ext uri="{96DAC541-7B7A-43D3-8B79-37D633B846F1}">
                  <asvg:svgBlip xmlns:asvg="http://schemas.microsoft.com/office/drawing/2016/SVG/main" r:embed="rId13"/>
                </a:ext>
              </a:extLst>
            </a:blip>
            <a:stretch>
              <a:fillRect/>
            </a:stretch>
          </a:blipFill>
        </p:spPr>
        <p:txBody>
          <a:bodyPr/>
          <a:lstStyle/>
          <a:p>
            <a:endParaRPr lang="en-CA"/>
          </a:p>
        </p:txBody>
      </p:sp>
      <p:sp>
        <p:nvSpPr>
          <p:cNvPr id="27" name="Freeform 27"/>
          <p:cNvSpPr/>
          <p:nvPr/>
        </p:nvSpPr>
        <p:spPr>
          <a:xfrm>
            <a:off x="12891273" y="8252614"/>
            <a:ext cx="442667" cy="437687"/>
          </a:xfrm>
          <a:custGeom>
            <a:avLst/>
            <a:gdLst/>
            <a:ahLst/>
            <a:cxnLst/>
            <a:rect l="l" t="t" r="r" b="b"/>
            <a:pathLst>
              <a:path w="442667" h="437687">
                <a:moveTo>
                  <a:pt x="0" y="0"/>
                </a:moveTo>
                <a:lnTo>
                  <a:pt x="442667" y="0"/>
                </a:lnTo>
                <a:lnTo>
                  <a:pt x="442667" y="437688"/>
                </a:lnTo>
                <a:lnTo>
                  <a:pt x="0" y="437688"/>
                </a:lnTo>
                <a:lnTo>
                  <a:pt x="0" y="0"/>
                </a:lnTo>
                <a:close/>
              </a:path>
            </a:pathLst>
          </a:custGeom>
          <a:blipFill>
            <a:blip r:embed="rId12">
              <a:alphaModFix amt="7999"/>
              <a:extLst>
                <a:ext uri="{96DAC541-7B7A-43D3-8B79-37D633B846F1}">
                  <asvg:svgBlip xmlns:asvg="http://schemas.microsoft.com/office/drawing/2016/SVG/main" r:embed="rId13"/>
                </a:ext>
              </a:extLst>
            </a:blip>
            <a:stretch>
              <a:fillRect/>
            </a:stretch>
          </a:blipFill>
        </p:spPr>
        <p:txBody>
          <a:bodyPr/>
          <a:lstStyle/>
          <a:p>
            <a:endParaRPr lang="en-CA"/>
          </a:p>
        </p:txBody>
      </p:sp>
      <p:sp>
        <p:nvSpPr>
          <p:cNvPr id="28" name="Freeform 28"/>
          <p:cNvSpPr/>
          <p:nvPr/>
        </p:nvSpPr>
        <p:spPr>
          <a:xfrm>
            <a:off x="12504682" y="8656238"/>
            <a:ext cx="332113" cy="328377"/>
          </a:xfrm>
          <a:custGeom>
            <a:avLst/>
            <a:gdLst/>
            <a:ahLst/>
            <a:cxnLst/>
            <a:rect l="l" t="t" r="r" b="b"/>
            <a:pathLst>
              <a:path w="332113" h="328377">
                <a:moveTo>
                  <a:pt x="0" y="0"/>
                </a:moveTo>
                <a:lnTo>
                  <a:pt x="332113" y="0"/>
                </a:lnTo>
                <a:lnTo>
                  <a:pt x="332113" y="328377"/>
                </a:lnTo>
                <a:lnTo>
                  <a:pt x="0" y="328377"/>
                </a:lnTo>
                <a:lnTo>
                  <a:pt x="0" y="0"/>
                </a:lnTo>
                <a:close/>
              </a:path>
            </a:pathLst>
          </a:custGeom>
          <a:blipFill>
            <a:blip r:embed="rId12">
              <a:alphaModFix amt="7999"/>
              <a:extLst>
                <a:ext uri="{96DAC541-7B7A-43D3-8B79-37D633B846F1}">
                  <asvg:svgBlip xmlns:asvg="http://schemas.microsoft.com/office/drawing/2016/SVG/main" r:embed="rId13"/>
                </a:ext>
              </a:extLst>
            </a:blip>
            <a:stretch>
              <a:fillRect/>
            </a:stretch>
          </a:blipFill>
        </p:spPr>
        <p:txBody>
          <a:bodyPr/>
          <a:lstStyle/>
          <a:p>
            <a:endParaRPr lang="en-CA"/>
          </a:p>
        </p:txBody>
      </p:sp>
      <p:sp>
        <p:nvSpPr>
          <p:cNvPr id="29" name="TextBox 29"/>
          <p:cNvSpPr txBox="1"/>
          <p:nvPr/>
        </p:nvSpPr>
        <p:spPr>
          <a:xfrm>
            <a:off x="1028700" y="1086117"/>
            <a:ext cx="7322572" cy="2730500"/>
          </a:xfrm>
          <a:prstGeom prst="rect">
            <a:avLst/>
          </a:prstGeom>
        </p:spPr>
        <p:txBody>
          <a:bodyPr lIns="0" tIns="0" rIns="0" bIns="0" rtlCol="0" anchor="t">
            <a:spAutoFit/>
          </a:bodyPr>
          <a:lstStyle/>
          <a:p>
            <a:pPr algn="l">
              <a:lnSpc>
                <a:spcPts val="7000"/>
              </a:lnSpc>
              <a:spcBef>
                <a:spcPct val="0"/>
              </a:spcBef>
            </a:pPr>
            <a:r>
              <a:rPr lang="en-US" sz="5000" spc="-50">
                <a:solidFill>
                  <a:srgbClr val="004664"/>
                </a:solidFill>
                <a:latin typeface="Bugaki"/>
                <a:ea typeface="Bugaki"/>
                <a:cs typeface="Bugaki"/>
                <a:sym typeface="Bugaki"/>
              </a:rPr>
              <a:t>BRAIN TUMOR DETECTION USING DEEP LEARNING</a:t>
            </a:r>
          </a:p>
        </p:txBody>
      </p:sp>
      <p:sp>
        <p:nvSpPr>
          <p:cNvPr id="30" name="TextBox 30"/>
          <p:cNvSpPr txBox="1"/>
          <p:nvPr/>
        </p:nvSpPr>
        <p:spPr>
          <a:xfrm>
            <a:off x="1028700" y="5245731"/>
            <a:ext cx="5497191" cy="692497"/>
          </a:xfrm>
          <a:prstGeom prst="rect">
            <a:avLst/>
          </a:prstGeom>
        </p:spPr>
        <p:txBody>
          <a:bodyPr lIns="0" tIns="0" rIns="0" bIns="0" rtlCol="0" anchor="t">
            <a:spAutoFit/>
          </a:bodyPr>
          <a:lstStyle/>
          <a:p>
            <a:pPr algn="l">
              <a:lnSpc>
                <a:spcPts val="2691"/>
              </a:lnSpc>
            </a:pPr>
            <a:r>
              <a:rPr lang="en-US" sz="2400" spc="-46" dirty="0">
                <a:solidFill>
                  <a:srgbClr val="000000"/>
                </a:solidFill>
                <a:latin typeface="Poppins"/>
                <a:ea typeface="Poppins"/>
                <a:cs typeface="Poppins"/>
                <a:sym typeface="Poppins"/>
              </a:rPr>
              <a:t>COMP263-001 Deep Learning</a:t>
            </a:r>
          </a:p>
          <a:p>
            <a:pPr algn="l">
              <a:lnSpc>
                <a:spcPts val="2691"/>
              </a:lnSpc>
            </a:pPr>
            <a:r>
              <a:rPr lang="en-US" sz="2400" spc="-46" dirty="0">
                <a:solidFill>
                  <a:srgbClr val="000000"/>
                </a:solidFill>
                <a:latin typeface="Poppins"/>
                <a:ea typeface="Poppins"/>
                <a:cs typeface="Poppins"/>
                <a:sym typeface="Poppins"/>
              </a:rPr>
              <a:t>Winter 2025</a:t>
            </a:r>
          </a:p>
        </p:txBody>
      </p:sp>
      <p:sp>
        <p:nvSpPr>
          <p:cNvPr id="31" name="TextBox 31"/>
          <p:cNvSpPr txBox="1"/>
          <p:nvPr/>
        </p:nvSpPr>
        <p:spPr>
          <a:xfrm>
            <a:off x="1028700" y="6893994"/>
            <a:ext cx="5976866" cy="2954655"/>
          </a:xfrm>
          <a:prstGeom prst="rect">
            <a:avLst/>
          </a:prstGeom>
        </p:spPr>
        <p:txBody>
          <a:bodyPr wrap="square" lIns="0" tIns="0" rIns="0" bIns="0" rtlCol="0" anchor="t">
            <a:spAutoFit/>
          </a:bodyPr>
          <a:lstStyle/>
          <a:p>
            <a:pPr algn="l"/>
            <a:r>
              <a:rPr lang="en-US" sz="2400" spc="-38" dirty="0">
                <a:solidFill>
                  <a:srgbClr val="000000"/>
                </a:solidFill>
                <a:latin typeface="Poppins"/>
                <a:ea typeface="Poppins"/>
                <a:cs typeface="Poppins"/>
                <a:sym typeface="Poppins"/>
              </a:rPr>
              <a:t>Group 2</a:t>
            </a:r>
          </a:p>
          <a:p>
            <a:pPr algn="l"/>
            <a:r>
              <a:rPr lang="en-US" sz="2400" spc="-38" dirty="0">
                <a:solidFill>
                  <a:srgbClr val="000000"/>
                </a:solidFill>
                <a:latin typeface="Poppins"/>
                <a:ea typeface="Poppins"/>
                <a:cs typeface="Poppins"/>
                <a:sym typeface="Poppins"/>
              </a:rPr>
              <a:t>Arcan </a:t>
            </a:r>
            <a:r>
              <a:rPr lang="en-US" sz="2400" spc="-38" dirty="0" err="1">
                <a:solidFill>
                  <a:srgbClr val="000000"/>
                </a:solidFill>
                <a:latin typeface="Poppins"/>
                <a:ea typeface="Poppins"/>
                <a:cs typeface="Poppins"/>
                <a:sym typeface="Poppins"/>
              </a:rPr>
              <a:t>Caglayan</a:t>
            </a:r>
            <a:endParaRPr lang="en-US" sz="2400" spc="-38" dirty="0">
              <a:solidFill>
                <a:srgbClr val="000000"/>
              </a:solidFill>
              <a:latin typeface="Poppins"/>
              <a:ea typeface="Poppins"/>
              <a:cs typeface="Poppins"/>
              <a:sym typeface="Poppins"/>
            </a:endParaRPr>
          </a:p>
          <a:p>
            <a:pPr algn="l"/>
            <a:r>
              <a:rPr lang="en-US" sz="2400" spc="-38" dirty="0">
                <a:solidFill>
                  <a:srgbClr val="000000"/>
                </a:solidFill>
                <a:latin typeface="Poppins"/>
                <a:ea typeface="Poppins"/>
                <a:cs typeface="Poppins"/>
                <a:sym typeface="Poppins"/>
              </a:rPr>
              <a:t>Jessica Marie Hernandez</a:t>
            </a:r>
          </a:p>
          <a:p>
            <a:pPr algn="l"/>
            <a:r>
              <a:rPr lang="en-US" sz="2400" spc="-38" dirty="0">
                <a:solidFill>
                  <a:srgbClr val="000000"/>
                </a:solidFill>
                <a:latin typeface="Poppins"/>
                <a:ea typeface="Poppins"/>
                <a:cs typeface="Poppins"/>
                <a:sym typeface="Poppins"/>
              </a:rPr>
              <a:t>Jane | Yi-Chen Hsu</a:t>
            </a:r>
          </a:p>
          <a:p>
            <a:pPr algn="l"/>
            <a:r>
              <a:rPr lang="en-US" sz="2400" spc="-38" dirty="0">
                <a:solidFill>
                  <a:srgbClr val="000000"/>
                </a:solidFill>
                <a:latin typeface="Poppins"/>
                <a:ea typeface="Poppins"/>
                <a:cs typeface="Poppins"/>
                <a:sym typeface="Poppins"/>
              </a:rPr>
              <a:t>Sean | Sandeep Neupane</a:t>
            </a:r>
          </a:p>
          <a:p>
            <a:pPr algn="l"/>
            <a:r>
              <a:rPr lang="en-US" sz="2400" spc="-38" dirty="0">
                <a:solidFill>
                  <a:srgbClr val="000000"/>
                </a:solidFill>
                <a:latin typeface="Poppins"/>
                <a:ea typeface="Poppins"/>
                <a:cs typeface="Poppins"/>
                <a:sym typeface="Poppins"/>
              </a:rPr>
              <a:t>Vincent | Tsang Kwong Ngan</a:t>
            </a:r>
          </a:p>
          <a:p>
            <a:pPr algn="l"/>
            <a:r>
              <a:rPr lang="en-US" sz="2400" spc="-38" dirty="0">
                <a:solidFill>
                  <a:srgbClr val="000000"/>
                </a:solidFill>
                <a:latin typeface="Poppins"/>
                <a:ea typeface="Poppins"/>
                <a:cs typeface="Poppins"/>
                <a:sym typeface="Poppins"/>
              </a:rPr>
              <a:t>Diego Armando Sarmiento </a:t>
            </a:r>
            <a:r>
              <a:rPr lang="en-US" sz="2400" spc="-38" dirty="0" err="1">
                <a:solidFill>
                  <a:srgbClr val="000000"/>
                </a:solidFill>
                <a:latin typeface="Poppins"/>
                <a:ea typeface="Poppins"/>
                <a:cs typeface="Poppins"/>
                <a:sym typeface="Poppins"/>
              </a:rPr>
              <a:t>Ahumada</a:t>
            </a:r>
            <a:endParaRPr lang="en-US" sz="2400" spc="-38" dirty="0">
              <a:solidFill>
                <a:srgbClr val="000000"/>
              </a:solidFill>
              <a:latin typeface="Poppins"/>
              <a:ea typeface="Poppins"/>
              <a:cs typeface="Poppins"/>
              <a:sym typeface="Poppins"/>
            </a:endParaRPr>
          </a:p>
          <a:p>
            <a:pPr algn="l"/>
            <a:endParaRPr lang="en-US" sz="2400" spc="-38" dirty="0">
              <a:solidFill>
                <a:srgbClr val="000000"/>
              </a:solidFill>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CA"/>
          </a:p>
        </p:txBody>
      </p:sp>
      <p:sp>
        <p:nvSpPr>
          <p:cNvPr id="3" name="TextBox 3"/>
          <p:cNvSpPr txBox="1"/>
          <p:nvPr/>
        </p:nvSpPr>
        <p:spPr>
          <a:xfrm>
            <a:off x="1800225" y="1545442"/>
            <a:ext cx="3925010" cy="958850"/>
          </a:xfrm>
          <a:prstGeom prst="rect">
            <a:avLst/>
          </a:prstGeom>
        </p:spPr>
        <p:txBody>
          <a:bodyPr lIns="0" tIns="0" rIns="0" bIns="0" rtlCol="0" anchor="t">
            <a:spAutoFit/>
          </a:bodyPr>
          <a:lstStyle/>
          <a:p>
            <a:pPr algn="l">
              <a:lnSpc>
                <a:spcPts val="7000"/>
              </a:lnSpc>
              <a:spcBef>
                <a:spcPct val="0"/>
              </a:spcBef>
            </a:pPr>
            <a:r>
              <a:rPr lang="en-US" sz="5000" spc="-100">
                <a:solidFill>
                  <a:srgbClr val="013B54"/>
                </a:solidFill>
                <a:latin typeface="Bugaki"/>
                <a:ea typeface="Bugaki"/>
                <a:cs typeface="Bugaki"/>
                <a:sym typeface="Bugaki"/>
              </a:rPr>
              <a:t>Content</a:t>
            </a:r>
          </a:p>
        </p:txBody>
      </p:sp>
      <p:sp>
        <p:nvSpPr>
          <p:cNvPr id="4" name="AutoShape 4"/>
          <p:cNvSpPr/>
          <p:nvPr/>
        </p:nvSpPr>
        <p:spPr>
          <a:xfrm>
            <a:off x="1800225" y="3506019"/>
            <a:ext cx="1254722" cy="0"/>
          </a:xfrm>
          <a:prstGeom prst="line">
            <a:avLst/>
          </a:prstGeom>
          <a:ln w="47625" cap="flat">
            <a:solidFill>
              <a:srgbClr val="004664"/>
            </a:solidFill>
            <a:prstDash val="solid"/>
            <a:headEnd type="none" w="sm" len="sm"/>
            <a:tailEnd type="none" w="sm" len="sm"/>
          </a:ln>
        </p:spPr>
        <p:txBody>
          <a:bodyPr/>
          <a:lstStyle/>
          <a:p>
            <a:endParaRPr lang="en-CA"/>
          </a:p>
        </p:txBody>
      </p:sp>
      <p:grpSp>
        <p:nvGrpSpPr>
          <p:cNvPr id="5" name="Group 5"/>
          <p:cNvGrpSpPr/>
          <p:nvPr/>
        </p:nvGrpSpPr>
        <p:grpSpPr>
          <a:xfrm>
            <a:off x="17259300" y="8984615"/>
            <a:ext cx="1573962" cy="1573962"/>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3B54"/>
            </a:solidFill>
          </p:spPr>
          <p:txBody>
            <a:bodyPr/>
            <a:lstStyle/>
            <a:p>
              <a:endParaRPr lang="en-CA"/>
            </a:p>
          </p:txBody>
        </p:sp>
        <p:sp>
          <p:nvSpPr>
            <p:cNvPr id="7" name="TextBox 7"/>
            <p:cNvSpPr txBox="1"/>
            <p:nvPr/>
          </p:nvSpPr>
          <p:spPr>
            <a:xfrm>
              <a:off x="76200" y="66675"/>
              <a:ext cx="660400" cy="669925"/>
            </a:xfrm>
            <a:prstGeom prst="rect">
              <a:avLst/>
            </a:prstGeom>
          </p:spPr>
          <p:txBody>
            <a:bodyPr lIns="50800" tIns="50800" rIns="50800" bIns="50800" rtlCol="0" anchor="ctr"/>
            <a:lstStyle/>
            <a:p>
              <a:pPr algn="ctr">
                <a:lnSpc>
                  <a:spcPts val="3042"/>
                </a:lnSpc>
              </a:pPr>
              <a:endParaRPr/>
            </a:p>
          </p:txBody>
        </p:sp>
      </p:grpSp>
      <p:grpSp>
        <p:nvGrpSpPr>
          <p:cNvPr id="8" name="Group 8"/>
          <p:cNvGrpSpPr/>
          <p:nvPr/>
        </p:nvGrpSpPr>
        <p:grpSpPr>
          <a:xfrm>
            <a:off x="16303701" y="8984615"/>
            <a:ext cx="786981" cy="786981"/>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664"/>
            </a:solidFill>
          </p:spPr>
          <p:txBody>
            <a:bodyPr/>
            <a:lstStyle/>
            <a:p>
              <a:endParaRPr lang="en-CA"/>
            </a:p>
          </p:txBody>
        </p:sp>
        <p:sp>
          <p:nvSpPr>
            <p:cNvPr id="10" name="TextBox 10"/>
            <p:cNvSpPr txBox="1"/>
            <p:nvPr/>
          </p:nvSpPr>
          <p:spPr>
            <a:xfrm>
              <a:off x="76200" y="66675"/>
              <a:ext cx="660400" cy="669925"/>
            </a:xfrm>
            <a:prstGeom prst="rect">
              <a:avLst/>
            </a:prstGeom>
          </p:spPr>
          <p:txBody>
            <a:bodyPr lIns="50800" tIns="50800" rIns="50800" bIns="50800" rtlCol="0" anchor="ctr"/>
            <a:lstStyle/>
            <a:p>
              <a:pPr algn="ctr">
                <a:lnSpc>
                  <a:spcPts val="3042"/>
                </a:lnSpc>
              </a:pPr>
              <a:endParaRPr/>
            </a:p>
          </p:txBody>
        </p:sp>
      </p:grpSp>
      <p:sp>
        <p:nvSpPr>
          <p:cNvPr id="11" name="AutoShape 11"/>
          <p:cNvSpPr/>
          <p:nvPr/>
        </p:nvSpPr>
        <p:spPr>
          <a:xfrm>
            <a:off x="0" y="9723971"/>
            <a:ext cx="9144000" cy="0"/>
          </a:xfrm>
          <a:prstGeom prst="line">
            <a:avLst/>
          </a:prstGeom>
          <a:ln w="47625" cap="flat">
            <a:solidFill>
              <a:srgbClr val="004664"/>
            </a:solidFill>
            <a:prstDash val="solid"/>
            <a:headEnd type="none" w="sm" len="sm"/>
            <a:tailEnd type="oval" w="lg" len="lg"/>
          </a:ln>
        </p:spPr>
        <p:txBody>
          <a:bodyPr/>
          <a:lstStyle/>
          <a:p>
            <a:endParaRPr lang="en-CA"/>
          </a:p>
        </p:txBody>
      </p:sp>
      <p:sp>
        <p:nvSpPr>
          <p:cNvPr id="12" name="AutoShape 12"/>
          <p:cNvSpPr/>
          <p:nvPr/>
        </p:nvSpPr>
        <p:spPr>
          <a:xfrm>
            <a:off x="15925021" y="646179"/>
            <a:ext cx="2362979" cy="0"/>
          </a:xfrm>
          <a:prstGeom prst="line">
            <a:avLst/>
          </a:prstGeom>
          <a:ln w="47625" cap="flat">
            <a:solidFill>
              <a:srgbClr val="004664"/>
            </a:solidFill>
            <a:prstDash val="solid"/>
            <a:headEnd type="oval" w="lg" len="lg"/>
            <a:tailEnd type="none" w="sm" len="sm"/>
          </a:ln>
        </p:spPr>
        <p:txBody>
          <a:bodyPr/>
          <a:lstStyle/>
          <a:p>
            <a:endParaRPr lang="en-CA"/>
          </a:p>
        </p:txBody>
      </p:sp>
      <p:sp>
        <p:nvSpPr>
          <p:cNvPr id="13" name="TextBox 13"/>
          <p:cNvSpPr txBox="1"/>
          <p:nvPr/>
        </p:nvSpPr>
        <p:spPr>
          <a:xfrm>
            <a:off x="1800225" y="2304267"/>
            <a:ext cx="3925010" cy="958850"/>
          </a:xfrm>
          <a:prstGeom prst="rect">
            <a:avLst/>
          </a:prstGeom>
        </p:spPr>
        <p:txBody>
          <a:bodyPr lIns="0" tIns="0" rIns="0" bIns="0" rtlCol="0" anchor="t">
            <a:spAutoFit/>
          </a:bodyPr>
          <a:lstStyle/>
          <a:p>
            <a:pPr algn="l">
              <a:lnSpc>
                <a:spcPts val="7000"/>
              </a:lnSpc>
              <a:spcBef>
                <a:spcPct val="0"/>
              </a:spcBef>
            </a:pPr>
            <a:r>
              <a:rPr lang="en-US" sz="5000" spc="-100">
                <a:solidFill>
                  <a:srgbClr val="013B54"/>
                </a:solidFill>
                <a:latin typeface="Bugaki"/>
                <a:ea typeface="Bugaki"/>
                <a:cs typeface="Bugaki"/>
                <a:sym typeface="Bugaki"/>
              </a:rPr>
              <a:t>List</a:t>
            </a:r>
          </a:p>
        </p:txBody>
      </p:sp>
      <p:sp>
        <p:nvSpPr>
          <p:cNvPr id="14" name="TextBox 14"/>
          <p:cNvSpPr txBox="1"/>
          <p:nvPr/>
        </p:nvSpPr>
        <p:spPr>
          <a:xfrm>
            <a:off x="1800225" y="4043700"/>
            <a:ext cx="829702" cy="449580"/>
          </a:xfrm>
          <a:prstGeom prst="rect">
            <a:avLst/>
          </a:prstGeom>
        </p:spPr>
        <p:txBody>
          <a:bodyPr lIns="0" tIns="0" rIns="0" bIns="0" rtlCol="0" anchor="t">
            <a:spAutoFit/>
          </a:bodyPr>
          <a:lstStyle/>
          <a:p>
            <a:pPr algn="l">
              <a:lnSpc>
                <a:spcPts val="3509"/>
              </a:lnSpc>
            </a:pPr>
            <a:r>
              <a:rPr lang="en-US" sz="3000" b="1" spc="-60">
                <a:solidFill>
                  <a:srgbClr val="004664"/>
                </a:solidFill>
                <a:latin typeface="Open Sauce Bold"/>
                <a:ea typeface="Open Sauce Bold"/>
                <a:cs typeface="Open Sauce Bold"/>
                <a:sym typeface="Open Sauce Bold"/>
              </a:rPr>
              <a:t>01</a:t>
            </a:r>
          </a:p>
        </p:txBody>
      </p:sp>
      <p:sp>
        <p:nvSpPr>
          <p:cNvPr id="15" name="TextBox 15"/>
          <p:cNvSpPr txBox="1"/>
          <p:nvPr/>
        </p:nvSpPr>
        <p:spPr>
          <a:xfrm>
            <a:off x="2381387" y="4043700"/>
            <a:ext cx="329211" cy="449580"/>
          </a:xfrm>
          <a:prstGeom prst="rect">
            <a:avLst/>
          </a:prstGeom>
        </p:spPr>
        <p:txBody>
          <a:bodyPr lIns="0" tIns="0" rIns="0" bIns="0" rtlCol="0" anchor="t">
            <a:spAutoFit/>
          </a:bodyPr>
          <a:lstStyle/>
          <a:p>
            <a:pPr algn="l">
              <a:lnSpc>
                <a:spcPts val="3509"/>
              </a:lnSpc>
            </a:pPr>
            <a:r>
              <a:rPr lang="en-US" sz="3000" b="1" spc="-60">
                <a:solidFill>
                  <a:srgbClr val="004664"/>
                </a:solidFill>
                <a:latin typeface="Open Sauce Bold"/>
                <a:ea typeface="Open Sauce Bold"/>
                <a:cs typeface="Open Sauce Bold"/>
                <a:sym typeface="Open Sauce Bold"/>
              </a:rPr>
              <a:t>.</a:t>
            </a:r>
          </a:p>
        </p:txBody>
      </p:sp>
      <p:sp>
        <p:nvSpPr>
          <p:cNvPr id="16" name="TextBox 16"/>
          <p:cNvSpPr txBox="1"/>
          <p:nvPr/>
        </p:nvSpPr>
        <p:spPr>
          <a:xfrm>
            <a:off x="2710598" y="4043700"/>
            <a:ext cx="4000516" cy="449580"/>
          </a:xfrm>
          <a:prstGeom prst="rect">
            <a:avLst/>
          </a:prstGeom>
        </p:spPr>
        <p:txBody>
          <a:bodyPr lIns="0" tIns="0" rIns="0" bIns="0" rtlCol="0" anchor="t">
            <a:spAutoFit/>
          </a:bodyPr>
          <a:lstStyle/>
          <a:p>
            <a:pPr algn="l">
              <a:lnSpc>
                <a:spcPts val="3509"/>
              </a:lnSpc>
            </a:pPr>
            <a:r>
              <a:rPr lang="en-US" sz="3000" spc="-60">
                <a:solidFill>
                  <a:srgbClr val="000000"/>
                </a:solidFill>
                <a:latin typeface="Open Sauce"/>
                <a:ea typeface="Open Sauce"/>
                <a:cs typeface="Open Sauce"/>
                <a:sym typeface="Open Sauce"/>
              </a:rPr>
              <a:t>Problem</a:t>
            </a:r>
          </a:p>
        </p:txBody>
      </p:sp>
      <p:sp>
        <p:nvSpPr>
          <p:cNvPr id="17" name="AutoShape 17"/>
          <p:cNvSpPr/>
          <p:nvPr/>
        </p:nvSpPr>
        <p:spPr>
          <a:xfrm>
            <a:off x="2710598" y="4536142"/>
            <a:ext cx="5202141" cy="0"/>
          </a:xfrm>
          <a:prstGeom prst="line">
            <a:avLst/>
          </a:prstGeom>
          <a:ln w="28575" cap="flat">
            <a:solidFill>
              <a:srgbClr val="004664"/>
            </a:solidFill>
            <a:prstDash val="solid"/>
            <a:headEnd type="none" w="sm" len="sm"/>
            <a:tailEnd type="none" w="sm" len="sm"/>
          </a:ln>
        </p:spPr>
        <p:txBody>
          <a:bodyPr/>
          <a:lstStyle/>
          <a:p>
            <a:endParaRPr lang="en-CA"/>
          </a:p>
        </p:txBody>
      </p:sp>
      <p:sp>
        <p:nvSpPr>
          <p:cNvPr id="18" name="TextBox 18"/>
          <p:cNvSpPr txBox="1"/>
          <p:nvPr/>
        </p:nvSpPr>
        <p:spPr>
          <a:xfrm>
            <a:off x="1800225" y="4665345"/>
            <a:ext cx="829702" cy="449580"/>
          </a:xfrm>
          <a:prstGeom prst="rect">
            <a:avLst/>
          </a:prstGeom>
        </p:spPr>
        <p:txBody>
          <a:bodyPr lIns="0" tIns="0" rIns="0" bIns="0" rtlCol="0" anchor="t">
            <a:spAutoFit/>
          </a:bodyPr>
          <a:lstStyle/>
          <a:p>
            <a:pPr algn="l">
              <a:lnSpc>
                <a:spcPts val="3509"/>
              </a:lnSpc>
            </a:pPr>
            <a:r>
              <a:rPr lang="en-US" sz="3000" b="1" spc="-60">
                <a:solidFill>
                  <a:srgbClr val="004664"/>
                </a:solidFill>
                <a:latin typeface="Open Sauce Bold"/>
                <a:ea typeface="Open Sauce Bold"/>
                <a:cs typeface="Open Sauce Bold"/>
                <a:sym typeface="Open Sauce Bold"/>
              </a:rPr>
              <a:t>02</a:t>
            </a:r>
          </a:p>
        </p:txBody>
      </p:sp>
      <p:sp>
        <p:nvSpPr>
          <p:cNvPr id="19" name="TextBox 19"/>
          <p:cNvSpPr txBox="1"/>
          <p:nvPr/>
        </p:nvSpPr>
        <p:spPr>
          <a:xfrm>
            <a:off x="2381387" y="4665345"/>
            <a:ext cx="329211" cy="449580"/>
          </a:xfrm>
          <a:prstGeom prst="rect">
            <a:avLst/>
          </a:prstGeom>
        </p:spPr>
        <p:txBody>
          <a:bodyPr lIns="0" tIns="0" rIns="0" bIns="0" rtlCol="0" anchor="t">
            <a:spAutoFit/>
          </a:bodyPr>
          <a:lstStyle/>
          <a:p>
            <a:pPr algn="l">
              <a:lnSpc>
                <a:spcPts val="3509"/>
              </a:lnSpc>
            </a:pPr>
            <a:r>
              <a:rPr lang="en-US" sz="3000" b="1" spc="-60">
                <a:solidFill>
                  <a:srgbClr val="004664"/>
                </a:solidFill>
                <a:latin typeface="Open Sauce Bold"/>
                <a:ea typeface="Open Sauce Bold"/>
                <a:cs typeface="Open Sauce Bold"/>
                <a:sym typeface="Open Sauce Bold"/>
              </a:rPr>
              <a:t>.</a:t>
            </a:r>
          </a:p>
        </p:txBody>
      </p:sp>
      <p:sp>
        <p:nvSpPr>
          <p:cNvPr id="20" name="TextBox 20"/>
          <p:cNvSpPr txBox="1"/>
          <p:nvPr/>
        </p:nvSpPr>
        <p:spPr>
          <a:xfrm>
            <a:off x="2710598" y="4665345"/>
            <a:ext cx="4000516" cy="449580"/>
          </a:xfrm>
          <a:prstGeom prst="rect">
            <a:avLst/>
          </a:prstGeom>
        </p:spPr>
        <p:txBody>
          <a:bodyPr lIns="0" tIns="0" rIns="0" bIns="0" rtlCol="0" anchor="t">
            <a:spAutoFit/>
          </a:bodyPr>
          <a:lstStyle/>
          <a:p>
            <a:pPr algn="l">
              <a:lnSpc>
                <a:spcPts val="3509"/>
              </a:lnSpc>
            </a:pPr>
            <a:r>
              <a:rPr lang="en-US" sz="3000" spc="-60">
                <a:solidFill>
                  <a:srgbClr val="000000"/>
                </a:solidFill>
                <a:latin typeface="Open Sauce"/>
                <a:ea typeface="Open Sauce"/>
                <a:cs typeface="Open Sauce"/>
                <a:sym typeface="Open Sauce"/>
              </a:rPr>
              <a:t>Scope</a:t>
            </a:r>
          </a:p>
        </p:txBody>
      </p:sp>
      <p:sp>
        <p:nvSpPr>
          <p:cNvPr id="21" name="AutoShape 21"/>
          <p:cNvSpPr/>
          <p:nvPr/>
        </p:nvSpPr>
        <p:spPr>
          <a:xfrm>
            <a:off x="2710598" y="5157788"/>
            <a:ext cx="5202141" cy="0"/>
          </a:xfrm>
          <a:prstGeom prst="line">
            <a:avLst/>
          </a:prstGeom>
          <a:ln w="28575" cap="flat">
            <a:solidFill>
              <a:srgbClr val="004664"/>
            </a:solidFill>
            <a:prstDash val="solid"/>
            <a:headEnd type="none" w="sm" len="sm"/>
            <a:tailEnd type="none" w="sm" len="sm"/>
          </a:ln>
        </p:spPr>
        <p:txBody>
          <a:bodyPr/>
          <a:lstStyle/>
          <a:p>
            <a:endParaRPr lang="en-CA"/>
          </a:p>
        </p:txBody>
      </p:sp>
      <p:sp>
        <p:nvSpPr>
          <p:cNvPr id="22" name="TextBox 22"/>
          <p:cNvSpPr txBox="1"/>
          <p:nvPr/>
        </p:nvSpPr>
        <p:spPr>
          <a:xfrm>
            <a:off x="1800225" y="5286990"/>
            <a:ext cx="829702" cy="449580"/>
          </a:xfrm>
          <a:prstGeom prst="rect">
            <a:avLst/>
          </a:prstGeom>
        </p:spPr>
        <p:txBody>
          <a:bodyPr lIns="0" tIns="0" rIns="0" bIns="0" rtlCol="0" anchor="t">
            <a:spAutoFit/>
          </a:bodyPr>
          <a:lstStyle/>
          <a:p>
            <a:pPr algn="l">
              <a:lnSpc>
                <a:spcPts val="3509"/>
              </a:lnSpc>
            </a:pPr>
            <a:r>
              <a:rPr lang="en-US" sz="3000" b="1" spc="-60">
                <a:solidFill>
                  <a:srgbClr val="004664"/>
                </a:solidFill>
                <a:latin typeface="Open Sauce Bold"/>
                <a:ea typeface="Open Sauce Bold"/>
                <a:cs typeface="Open Sauce Bold"/>
                <a:sym typeface="Open Sauce Bold"/>
              </a:rPr>
              <a:t>03</a:t>
            </a:r>
          </a:p>
        </p:txBody>
      </p:sp>
      <p:sp>
        <p:nvSpPr>
          <p:cNvPr id="23" name="TextBox 23"/>
          <p:cNvSpPr txBox="1"/>
          <p:nvPr/>
        </p:nvSpPr>
        <p:spPr>
          <a:xfrm>
            <a:off x="2381387" y="5286990"/>
            <a:ext cx="329211" cy="449580"/>
          </a:xfrm>
          <a:prstGeom prst="rect">
            <a:avLst/>
          </a:prstGeom>
        </p:spPr>
        <p:txBody>
          <a:bodyPr lIns="0" tIns="0" rIns="0" bIns="0" rtlCol="0" anchor="t">
            <a:spAutoFit/>
          </a:bodyPr>
          <a:lstStyle/>
          <a:p>
            <a:pPr algn="l">
              <a:lnSpc>
                <a:spcPts val="3509"/>
              </a:lnSpc>
            </a:pPr>
            <a:r>
              <a:rPr lang="en-US" sz="3000" b="1" spc="-60">
                <a:solidFill>
                  <a:srgbClr val="004664"/>
                </a:solidFill>
                <a:latin typeface="Open Sauce Bold"/>
                <a:ea typeface="Open Sauce Bold"/>
                <a:cs typeface="Open Sauce Bold"/>
                <a:sym typeface="Open Sauce Bold"/>
              </a:rPr>
              <a:t>.</a:t>
            </a:r>
          </a:p>
        </p:txBody>
      </p:sp>
      <p:sp>
        <p:nvSpPr>
          <p:cNvPr id="24" name="TextBox 24"/>
          <p:cNvSpPr txBox="1"/>
          <p:nvPr/>
        </p:nvSpPr>
        <p:spPr>
          <a:xfrm>
            <a:off x="2710598" y="5286990"/>
            <a:ext cx="1861402" cy="449580"/>
          </a:xfrm>
          <a:prstGeom prst="rect">
            <a:avLst/>
          </a:prstGeom>
        </p:spPr>
        <p:txBody>
          <a:bodyPr lIns="0" tIns="0" rIns="0" bIns="0" rtlCol="0" anchor="t">
            <a:spAutoFit/>
          </a:bodyPr>
          <a:lstStyle/>
          <a:p>
            <a:pPr algn="l">
              <a:lnSpc>
                <a:spcPts val="3509"/>
              </a:lnSpc>
            </a:pPr>
            <a:r>
              <a:rPr lang="en-US" sz="3000" spc="-60">
                <a:solidFill>
                  <a:srgbClr val="000000"/>
                </a:solidFill>
                <a:latin typeface="Open Sauce"/>
                <a:ea typeface="Open Sauce"/>
                <a:cs typeface="Open Sauce"/>
                <a:sym typeface="Open Sauce"/>
              </a:rPr>
              <a:t>Dataset</a:t>
            </a:r>
          </a:p>
        </p:txBody>
      </p:sp>
      <p:sp>
        <p:nvSpPr>
          <p:cNvPr id="25" name="AutoShape 25"/>
          <p:cNvSpPr/>
          <p:nvPr/>
        </p:nvSpPr>
        <p:spPr>
          <a:xfrm flipV="1">
            <a:off x="2710598" y="5779433"/>
            <a:ext cx="5202141" cy="0"/>
          </a:xfrm>
          <a:prstGeom prst="line">
            <a:avLst/>
          </a:prstGeom>
          <a:ln w="28575" cap="flat">
            <a:solidFill>
              <a:srgbClr val="004664"/>
            </a:solidFill>
            <a:prstDash val="solid"/>
            <a:headEnd type="none" w="sm" len="sm"/>
            <a:tailEnd type="none" w="sm" len="sm"/>
          </a:ln>
        </p:spPr>
        <p:txBody>
          <a:bodyPr/>
          <a:lstStyle/>
          <a:p>
            <a:endParaRPr lang="en-CA"/>
          </a:p>
        </p:txBody>
      </p:sp>
      <p:sp>
        <p:nvSpPr>
          <p:cNvPr id="26" name="TextBox 26"/>
          <p:cNvSpPr txBox="1"/>
          <p:nvPr/>
        </p:nvSpPr>
        <p:spPr>
          <a:xfrm>
            <a:off x="1800225" y="5936595"/>
            <a:ext cx="829702" cy="449580"/>
          </a:xfrm>
          <a:prstGeom prst="rect">
            <a:avLst/>
          </a:prstGeom>
        </p:spPr>
        <p:txBody>
          <a:bodyPr lIns="0" tIns="0" rIns="0" bIns="0" rtlCol="0" anchor="t">
            <a:spAutoFit/>
          </a:bodyPr>
          <a:lstStyle/>
          <a:p>
            <a:pPr algn="l">
              <a:lnSpc>
                <a:spcPts val="3509"/>
              </a:lnSpc>
            </a:pPr>
            <a:r>
              <a:rPr lang="en-US" sz="3000" b="1" spc="-60">
                <a:solidFill>
                  <a:srgbClr val="004664"/>
                </a:solidFill>
                <a:latin typeface="Open Sauce Bold"/>
                <a:ea typeface="Open Sauce Bold"/>
                <a:cs typeface="Open Sauce Bold"/>
                <a:sym typeface="Open Sauce Bold"/>
              </a:rPr>
              <a:t>04</a:t>
            </a:r>
          </a:p>
        </p:txBody>
      </p:sp>
      <p:sp>
        <p:nvSpPr>
          <p:cNvPr id="27" name="TextBox 27"/>
          <p:cNvSpPr txBox="1"/>
          <p:nvPr/>
        </p:nvSpPr>
        <p:spPr>
          <a:xfrm>
            <a:off x="2381387" y="5936595"/>
            <a:ext cx="329211" cy="449580"/>
          </a:xfrm>
          <a:prstGeom prst="rect">
            <a:avLst/>
          </a:prstGeom>
        </p:spPr>
        <p:txBody>
          <a:bodyPr lIns="0" tIns="0" rIns="0" bIns="0" rtlCol="0" anchor="t">
            <a:spAutoFit/>
          </a:bodyPr>
          <a:lstStyle/>
          <a:p>
            <a:pPr algn="l">
              <a:lnSpc>
                <a:spcPts val="3509"/>
              </a:lnSpc>
            </a:pPr>
            <a:r>
              <a:rPr lang="en-US" sz="3000" b="1" spc="-60">
                <a:solidFill>
                  <a:srgbClr val="004664"/>
                </a:solidFill>
                <a:latin typeface="Open Sauce Bold"/>
                <a:ea typeface="Open Sauce Bold"/>
                <a:cs typeface="Open Sauce Bold"/>
                <a:sym typeface="Open Sauce Bold"/>
              </a:rPr>
              <a:t>.</a:t>
            </a:r>
          </a:p>
        </p:txBody>
      </p:sp>
      <p:sp>
        <p:nvSpPr>
          <p:cNvPr id="28" name="TextBox 28"/>
          <p:cNvSpPr txBox="1"/>
          <p:nvPr/>
        </p:nvSpPr>
        <p:spPr>
          <a:xfrm>
            <a:off x="2710598" y="5936595"/>
            <a:ext cx="4000516" cy="449580"/>
          </a:xfrm>
          <a:prstGeom prst="rect">
            <a:avLst/>
          </a:prstGeom>
        </p:spPr>
        <p:txBody>
          <a:bodyPr lIns="0" tIns="0" rIns="0" bIns="0" rtlCol="0" anchor="t">
            <a:spAutoFit/>
          </a:bodyPr>
          <a:lstStyle/>
          <a:p>
            <a:pPr algn="l">
              <a:lnSpc>
                <a:spcPts val="3509"/>
              </a:lnSpc>
            </a:pPr>
            <a:r>
              <a:rPr lang="en-US" sz="3000" spc="-60">
                <a:solidFill>
                  <a:srgbClr val="000000"/>
                </a:solidFill>
                <a:latin typeface="Open Sauce"/>
                <a:ea typeface="Open Sauce"/>
                <a:cs typeface="Open Sauce"/>
                <a:sym typeface="Open Sauce"/>
              </a:rPr>
              <a:t>Preprocessing</a:t>
            </a:r>
          </a:p>
        </p:txBody>
      </p:sp>
      <p:sp>
        <p:nvSpPr>
          <p:cNvPr id="29" name="AutoShape 29"/>
          <p:cNvSpPr/>
          <p:nvPr/>
        </p:nvSpPr>
        <p:spPr>
          <a:xfrm>
            <a:off x="2710598" y="6429038"/>
            <a:ext cx="5202141" cy="0"/>
          </a:xfrm>
          <a:prstGeom prst="line">
            <a:avLst/>
          </a:prstGeom>
          <a:ln w="28575" cap="flat">
            <a:solidFill>
              <a:srgbClr val="004664"/>
            </a:solidFill>
            <a:prstDash val="solid"/>
            <a:headEnd type="none" w="sm" len="sm"/>
            <a:tailEnd type="none" w="sm" len="sm"/>
          </a:ln>
        </p:spPr>
        <p:txBody>
          <a:bodyPr/>
          <a:lstStyle/>
          <a:p>
            <a:endParaRPr lang="en-CA"/>
          </a:p>
        </p:txBody>
      </p:sp>
      <p:sp>
        <p:nvSpPr>
          <p:cNvPr id="30" name="TextBox 30"/>
          <p:cNvSpPr txBox="1"/>
          <p:nvPr/>
        </p:nvSpPr>
        <p:spPr>
          <a:xfrm>
            <a:off x="1800225" y="6558240"/>
            <a:ext cx="829702" cy="449580"/>
          </a:xfrm>
          <a:prstGeom prst="rect">
            <a:avLst/>
          </a:prstGeom>
        </p:spPr>
        <p:txBody>
          <a:bodyPr lIns="0" tIns="0" rIns="0" bIns="0" rtlCol="0" anchor="t">
            <a:spAutoFit/>
          </a:bodyPr>
          <a:lstStyle/>
          <a:p>
            <a:pPr algn="l">
              <a:lnSpc>
                <a:spcPts val="3509"/>
              </a:lnSpc>
            </a:pPr>
            <a:r>
              <a:rPr lang="en-US" sz="3000" b="1" spc="-60">
                <a:solidFill>
                  <a:srgbClr val="004664"/>
                </a:solidFill>
                <a:latin typeface="Open Sauce Bold"/>
                <a:ea typeface="Open Sauce Bold"/>
                <a:cs typeface="Open Sauce Bold"/>
                <a:sym typeface="Open Sauce Bold"/>
              </a:rPr>
              <a:t>05</a:t>
            </a:r>
          </a:p>
        </p:txBody>
      </p:sp>
      <p:sp>
        <p:nvSpPr>
          <p:cNvPr id="31" name="TextBox 31"/>
          <p:cNvSpPr txBox="1"/>
          <p:nvPr/>
        </p:nvSpPr>
        <p:spPr>
          <a:xfrm>
            <a:off x="2381387" y="6558240"/>
            <a:ext cx="329211" cy="449580"/>
          </a:xfrm>
          <a:prstGeom prst="rect">
            <a:avLst/>
          </a:prstGeom>
        </p:spPr>
        <p:txBody>
          <a:bodyPr lIns="0" tIns="0" rIns="0" bIns="0" rtlCol="0" anchor="t">
            <a:spAutoFit/>
          </a:bodyPr>
          <a:lstStyle/>
          <a:p>
            <a:pPr algn="l">
              <a:lnSpc>
                <a:spcPts val="3509"/>
              </a:lnSpc>
            </a:pPr>
            <a:r>
              <a:rPr lang="en-US" sz="3000" b="1" spc="-60">
                <a:solidFill>
                  <a:srgbClr val="004664"/>
                </a:solidFill>
                <a:latin typeface="Open Sauce Bold"/>
                <a:ea typeface="Open Sauce Bold"/>
                <a:cs typeface="Open Sauce Bold"/>
                <a:sym typeface="Open Sauce Bold"/>
              </a:rPr>
              <a:t>.</a:t>
            </a:r>
          </a:p>
        </p:txBody>
      </p:sp>
      <p:sp>
        <p:nvSpPr>
          <p:cNvPr id="32" name="TextBox 32"/>
          <p:cNvSpPr txBox="1"/>
          <p:nvPr/>
        </p:nvSpPr>
        <p:spPr>
          <a:xfrm>
            <a:off x="2710598" y="6558240"/>
            <a:ext cx="4000516" cy="449580"/>
          </a:xfrm>
          <a:prstGeom prst="rect">
            <a:avLst/>
          </a:prstGeom>
        </p:spPr>
        <p:txBody>
          <a:bodyPr lIns="0" tIns="0" rIns="0" bIns="0" rtlCol="0" anchor="t">
            <a:spAutoFit/>
          </a:bodyPr>
          <a:lstStyle/>
          <a:p>
            <a:pPr algn="l">
              <a:lnSpc>
                <a:spcPts val="3509"/>
              </a:lnSpc>
            </a:pPr>
            <a:r>
              <a:rPr lang="en-US" sz="3000" spc="-60">
                <a:solidFill>
                  <a:srgbClr val="000000"/>
                </a:solidFill>
                <a:latin typeface="Open Sauce"/>
                <a:ea typeface="Open Sauce"/>
                <a:cs typeface="Open Sauce"/>
                <a:sym typeface="Open Sauce"/>
              </a:rPr>
              <a:t>Supervised Learning</a:t>
            </a:r>
          </a:p>
        </p:txBody>
      </p:sp>
      <p:sp>
        <p:nvSpPr>
          <p:cNvPr id="33" name="AutoShape 33"/>
          <p:cNvSpPr/>
          <p:nvPr/>
        </p:nvSpPr>
        <p:spPr>
          <a:xfrm>
            <a:off x="2710598" y="7050683"/>
            <a:ext cx="5202141" cy="0"/>
          </a:xfrm>
          <a:prstGeom prst="line">
            <a:avLst/>
          </a:prstGeom>
          <a:ln w="28575" cap="flat">
            <a:solidFill>
              <a:srgbClr val="004664"/>
            </a:solidFill>
            <a:prstDash val="solid"/>
            <a:headEnd type="none" w="sm" len="sm"/>
            <a:tailEnd type="none" w="sm" len="sm"/>
          </a:ln>
        </p:spPr>
        <p:txBody>
          <a:bodyPr/>
          <a:lstStyle/>
          <a:p>
            <a:endParaRPr lang="en-CA"/>
          </a:p>
        </p:txBody>
      </p:sp>
      <p:sp>
        <p:nvSpPr>
          <p:cNvPr id="34" name="TextBox 34"/>
          <p:cNvSpPr txBox="1"/>
          <p:nvPr/>
        </p:nvSpPr>
        <p:spPr>
          <a:xfrm>
            <a:off x="1800225" y="7207845"/>
            <a:ext cx="829702" cy="449580"/>
          </a:xfrm>
          <a:prstGeom prst="rect">
            <a:avLst/>
          </a:prstGeom>
        </p:spPr>
        <p:txBody>
          <a:bodyPr lIns="0" tIns="0" rIns="0" bIns="0" rtlCol="0" anchor="t">
            <a:spAutoFit/>
          </a:bodyPr>
          <a:lstStyle/>
          <a:p>
            <a:pPr algn="l">
              <a:lnSpc>
                <a:spcPts val="3509"/>
              </a:lnSpc>
            </a:pPr>
            <a:r>
              <a:rPr lang="en-US" sz="3000" b="1" spc="-60">
                <a:solidFill>
                  <a:srgbClr val="004664"/>
                </a:solidFill>
                <a:latin typeface="Open Sauce Bold"/>
                <a:ea typeface="Open Sauce Bold"/>
                <a:cs typeface="Open Sauce Bold"/>
                <a:sym typeface="Open Sauce Bold"/>
              </a:rPr>
              <a:t>06</a:t>
            </a:r>
          </a:p>
        </p:txBody>
      </p:sp>
      <p:sp>
        <p:nvSpPr>
          <p:cNvPr id="35" name="TextBox 35"/>
          <p:cNvSpPr txBox="1"/>
          <p:nvPr/>
        </p:nvSpPr>
        <p:spPr>
          <a:xfrm>
            <a:off x="2381387" y="7207845"/>
            <a:ext cx="329211" cy="449580"/>
          </a:xfrm>
          <a:prstGeom prst="rect">
            <a:avLst/>
          </a:prstGeom>
        </p:spPr>
        <p:txBody>
          <a:bodyPr lIns="0" tIns="0" rIns="0" bIns="0" rtlCol="0" anchor="t">
            <a:spAutoFit/>
          </a:bodyPr>
          <a:lstStyle/>
          <a:p>
            <a:pPr algn="l">
              <a:lnSpc>
                <a:spcPts val="3509"/>
              </a:lnSpc>
            </a:pPr>
            <a:r>
              <a:rPr lang="en-US" sz="3000" b="1" spc="-60">
                <a:solidFill>
                  <a:srgbClr val="004664"/>
                </a:solidFill>
                <a:latin typeface="Open Sauce Bold"/>
                <a:ea typeface="Open Sauce Bold"/>
                <a:cs typeface="Open Sauce Bold"/>
                <a:sym typeface="Open Sauce Bold"/>
              </a:rPr>
              <a:t>.</a:t>
            </a:r>
          </a:p>
        </p:txBody>
      </p:sp>
      <p:sp>
        <p:nvSpPr>
          <p:cNvPr id="36" name="TextBox 36"/>
          <p:cNvSpPr txBox="1"/>
          <p:nvPr/>
        </p:nvSpPr>
        <p:spPr>
          <a:xfrm>
            <a:off x="2710598" y="7207845"/>
            <a:ext cx="6220200" cy="449580"/>
          </a:xfrm>
          <a:prstGeom prst="rect">
            <a:avLst/>
          </a:prstGeom>
        </p:spPr>
        <p:txBody>
          <a:bodyPr lIns="0" tIns="0" rIns="0" bIns="0" rtlCol="0" anchor="t">
            <a:spAutoFit/>
          </a:bodyPr>
          <a:lstStyle/>
          <a:p>
            <a:pPr algn="l">
              <a:lnSpc>
                <a:spcPts val="3509"/>
              </a:lnSpc>
            </a:pPr>
            <a:r>
              <a:rPr lang="en-US" sz="3000" spc="-60">
                <a:solidFill>
                  <a:srgbClr val="000000"/>
                </a:solidFill>
                <a:latin typeface="Open Sauce"/>
                <a:ea typeface="Open Sauce"/>
                <a:cs typeface="Open Sauce"/>
                <a:sym typeface="Open Sauce"/>
              </a:rPr>
              <a:t>Unsupervised Learning</a:t>
            </a:r>
          </a:p>
        </p:txBody>
      </p:sp>
      <p:sp>
        <p:nvSpPr>
          <p:cNvPr id="37" name="AutoShape 37"/>
          <p:cNvSpPr/>
          <p:nvPr/>
        </p:nvSpPr>
        <p:spPr>
          <a:xfrm>
            <a:off x="2710598" y="7700288"/>
            <a:ext cx="5202141" cy="0"/>
          </a:xfrm>
          <a:prstGeom prst="line">
            <a:avLst/>
          </a:prstGeom>
          <a:ln w="28575" cap="flat">
            <a:solidFill>
              <a:srgbClr val="004664"/>
            </a:solidFill>
            <a:prstDash val="solid"/>
            <a:headEnd type="none" w="sm" len="sm"/>
            <a:tailEnd type="none" w="sm" len="sm"/>
          </a:ln>
        </p:spPr>
        <p:txBody>
          <a:bodyPr/>
          <a:lstStyle/>
          <a:p>
            <a:endParaRPr lang="en-CA"/>
          </a:p>
        </p:txBody>
      </p:sp>
      <p:sp>
        <p:nvSpPr>
          <p:cNvPr id="38" name="TextBox 38"/>
          <p:cNvSpPr txBox="1"/>
          <p:nvPr/>
        </p:nvSpPr>
        <p:spPr>
          <a:xfrm>
            <a:off x="1800225" y="7828875"/>
            <a:ext cx="829702" cy="449580"/>
          </a:xfrm>
          <a:prstGeom prst="rect">
            <a:avLst/>
          </a:prstGeom>
        </p:spPr>
        <p:txBody>
          <a:bodyPr lIns="0" tIns="0" rIns="0" bIns="0" rtlCol="0" anchor="t">
            <a:spAutoFit/>
          </a:bodyPr>
          <a:lstStyle/>
          <a:p>
            <a:pPr algn="l">
              <a:lnSpc>
                <a:spcPts val="3509"/>
              </a:lnSpc>
            </a:pPr>
            <a:r>
              <a:rPr lang="en-US" sz="3000" b="1" spc="-60">
                <a:solidFill>
                  <a:srgbClr val="004664"/>
                </a:solidFill>
                <a:latin typeface="Open Sauce Bold"/>
                <a:ea typeface="Open Sauce Bold"/>
                <a:cs typeface="Open Sauce Bold"/>
                <a:sym typeface="Open Sauce Bold"/>
              </a:rPr>
              <a:t>07</a:t>
            </a:r>
          </a:p>
        </p:txBody>
      </p:sp>
      <p:sp>
        <p:nvSpPr>
          <p:cNvPr id="39" name="TextBox 39"/>
          <p:cNvSpPr txBox="1"/>
          <p:nvPr/>
        </p:nvSpPr>
        <p:spPr>
          <a:xfrm>
            <a:off x="2381387" y="7828875"/>
            <a:ext cx="329211" cy="449580"/>
          </a:xfrm>
          <a:prstGeom prst="rect">
            <a:avLst/>
          </a:prstGeom>
        </p:spPr>
        <p:txBody>
          <a:bodyPr lIns="0" tIns="0" rIns="0" bIns="0" rtlCol="0" anchor="t">
            <a:spAutoFit/>
          </a:bodyPr>
          <a:lstStyle/>
          <a:p>
            <a:pPr algn="l">
              <a:lnSpc>
                <a:spcPts val="3509"/>
              </a:lnSpc>
            </a:pPr>
            <a:r>
              <a:rPr lang="en-US" sz="3000" b="1" spc="-60">
                <a:solidFill>
                  <a:srgbClr val="004664"/>
                </a:solidFill>
                <a:latin typeface="Open Sauce Bold"/>
                <a:ea typeface="Open Sauce Bold"/>
                <a:cs typeface="Open Sauce Bold"/>
                <a:sym typeface="Open Sauce Bold"/>
              </a:rPr>
              <a:t>.</a:t>
            </a:r>
          </a:p>
        </p:txBody>
      </p:sp>
      <p:sp>
        <p:nvSpPr>
          <p:cNvPr id="40" name="TextBox 40"/>
          <p:cNvSpPr txBox="1"/>
          <p:nvPr/>
        </p:nvSpPr>
        <p:spPr>
          <a:xfrm>
            <a:off x="2710598" y="7828875"/>
            <a:ext cx="6447793" cy="449580"/>
          </a:xfrm>
          <a:prstGeom prst="rect">
            <a:avLst/>
          </a:prstGeom>
        </p:spPr>
        <p:txBody>
          <a:bodyPr lIns="0" tIns="0" rIns="0" bIns="0" rtlCol="0" anchor="t">
            <a:spAutoFit/>
          </a:bodyPr>
          <a:lstStyle/>
          <a:p>
            <a:pPr algn="l">
              <a:lnSpc>
                <a:spcPts val="3509"/>
              </a:lnSpc>
            </a:pPr>
            <a:r>
              <a:rPr lang="en-US" sz="3000" spc="-60">
                <a:solidFill>
                  <a:srgbClr val="000000"/>
                </a:solidFill>
                <a:latin typeface="Open Sauce"/>
                <a:ea typeface="Open Sauce"/>
                <a:cs typeface="Open Sauce"/>
                <a:sym typeface="Open Sauce"/>
              </a:rPr>
              <a:t>State-of-the-Art Models</a:t>
            </a:r>
          </a:p>
        </p:txBody>
      </p:sp>
      <p:sp>
        <p:nvSpPr>
          <p:cNvPr id="41" name="AutoShape 41"/>
          <p:cNvSpPr/>
          <p:nvPr/>
        </p:nvSpPr>
        <p:spPr>
          <a:xfrm>
            <a:off x="2710598" y="8321318"/>
            <a:ext cx="5202141" cy="0"/>
          </a:xfrm>
          <a:prstGeom prst="line">
            <a:avLst/>
          </a:prstGeom>
          <a:ln w="28575" cap="flat">
            <a:solidFill>
              <a:srgbClr val="004664"/>
            </a:solidFill>
            <a:prstDash val="solid"/>
            <a:headEnd type="none" w="sm" len="sm"/>
            <a:tailEnd type="none" w="sm" len="sm"/>
          </a:ln>
        </p:spPr>
        <p:txBody>
          <a:bodyPr/>
          <a:lstStyle/>
          <a:p>
            <a:endParaRPr lang="en-CA"/>
          </a:p>
        </p:txBody>
      </p:sp>
      <p:sp>
        <p:nvSpPr>
          <p:cNvPr id="42" name="TextBox 42"/>
          <p:cNvSpPr txBox="1"/>
          <p:nvPr/>
        </p:nvSpPr>
        <p:spPr>
          <a:xfrm>
            <a:off x="8945536" y="5286990"/>
            <a:ext cx="829702" cy="449580"/>
          </a:xfrm>
          <a:prstGeom prst="rect">
            <a:avLst/>
          </a:prstGeom>
        </p:spPr>
        <p:txBody>
          <a:bodyPr lIns="0" tIns="0" rIns="0" bIns="0" rtlCol="0" anchor="t">
            <a:spAutoFit/>
          </a:bodyPr>
          <a:lstStyle/>
          <a:p>
            <a:pPr algn="l">
              <a:lnSpc>
                <a:spcPts val="3509"/>
              </a:lnSpc>
            </a:pPr>
            <a:r>
              <a:rPr lang="en-US" sz="3000" b="1" spc="-60">
                <a:solidFill>
                  <a:srgbClr val="004664"/>
                </a:solidFill>
                <a:latin typeface="Open Sauce Bold"/>
                <a:ea typeface="Open Sauce Bold"/>
                <a:cs typeface="Open Sauce Bold"/>
                <a:sym typeface="Open Sauce Bold"/>
              </a:rPr>
              <a:t>10</a:t>
            </a:r>
          </a:p>
        </p:txBody>
      </p:sp>
      <p:sp>
        <p:nvSpPr>
          <p:cNvPr id="43" name="TextBox 43"/>
          <p:cNvSpPr txBox="1"/>
          <p:nvPr/>
        </p:nvSpPr>
        <p:spPr>
          <a:xfrm>
            <a:off x="9526698" y="5286990"/>
            <a:ext cx="329211" cy="449580"/>
          </a:xfrm>
          <a:prstGeom prst="rect">
            <a:avLst/>
          </a:prstGeom>
        </p:spPr>
        <p:txBody>
          <a:bodyPr lIns="0" tIns="0" rIns="0" bIns="0" rtlCol="0" anchor="t">
            <a:spAutoFit/>
          </a:bodyPr>
          <a:lstStyle/>
          <a:p>
            <a:pPr algn="l">
              <a:lnSpc>
                <a:spcPts val="3509"/>
              </a:lnSpc>
            </a:pPr>
            <a:r>
              <a:rPr lang="en-US" sz="3000" b="1" spc="-60">
                <a:solidFill>
                  <a:srgbClr val="004664"/>
                </a:solidFill>
                <a:latin typeface="Open Sauce Bold"/>
                <a:ea typeface="Open Sauce Bold"/>
                <a:cs typeface="Open Sauce Bold"/>
                <a:sym typeface="Open Sauce Bold"/>
              </a:rPr>
              <a:t>.</a:t>
            </a:r>
          </a:p>
        </p:txBody>
      </p:sp>
      <p:sp>
        <p:nvSpPr>
          <p:cNvPr id="44" name="TextBox 44"/>
          <p:cNvSpPr txBox="1"/>
          <p:nvPr/>
        </p:nvSpPr>
        <p:spPr>
          <a:xfrm>
            <a:off x="9855909" y="5286990"/>
            <a:ext cx="4000516" cy="449580"/>
          </a:xfrm>
          <a:prstGeom prst="rect">
            <a:avLst/>
          </a:prstGeom>
        </p:spPr>
        <p:txBody>
          <a:bodyPr lIns="0" tIns="0" rIns="0" bIns="0" rtlCol="0" anchor="t">
            <a:spAutoFit/>
          </a:bodyPr>
          <a:lstStyle/>
          <a:p>
            <a:pPr algn="l">
              <a:lnSpc>
                <a:spcPts val="3509"/>
              </a:lnSpc>
            </a:pPr>
            <a:r>
              <a:rPr lang="en-US" sz="3000" spc="-60" dirty="0">
                <a:solidFill>
                  <a:srgbClr val="000000"/>
                </a:solidFill>
                <a:latin typeface="Open Sauce"/>
                <a:ea typeface="Open Sauce"/>
                <a:cs typeface="Open Sauce"/>
                <a:sym typeface="Open Sauce"/>
              </a:rPr>
              <a:t>Key Findings</a:t>
            </a:r>
          </a:p>
        </p:txBody>
      </p:sp>
      <p:sp>
        <p:nvSpPr>
          <p:cNvPr id="45" name="AutoShape 45"/>
          <p:cNvSpPr/>
          <p:nvPr/>
        </p:nvSpPr>
        <p:spPr>
          <a:xfrm flipV="1">
            <a:off x="9855909" y="5779433"/>
            <a:ext cx="5202141" cy="0"/>
          </a:xfrm>
          <a:prstGeom prst="line">
            <a:avLst/>
          </a:prstGeom>
          <a:ln w="28575" cap="flat">
            <a:solidFill>
              <a:srgbClr val="004664"/>
            </a:solidFill>
            <a:prstDash val="solid"/>
            <a:headEnd type="none" w="sm" len="sm"/>
            <a:tailEnd type="none" w="sm" len="sm"/>
          </a:ln>
        </p:spPr>
        <p:txBody>
          <a:bodyPr/>
          <a:lstStyle/>
          <a:p>
            <a:endParaRPr lang="en-CA"/>
          </a:p>
        </p:txBody>
      </p:sp>
      <p:sp>
        <p:nvSpPr>
          <p:cNvPr id="46" name="TextBox 46"/>
          <p:cNvSpPr txBox="1"/>
          <p:nvPr/>
        </p:nvSpPr>
        <p:spPr>
          <a:xfrm>
            <a:off x="8945536" y="5936595"/>
            <a:ext cx="829702" cy="449580"/>
          </a:xfrm>
          <a:prstGeom prst="rect">
            <a:avLst/>
          </a:prstGeom>
        </p:spPr>
        <p:txBody>
          <a:bodyPr lIns="0" tIns="0" rIns="0" bIns="0" rtlCol="0" anchor="t">
            <a:spAutoFit/>
          </a:bodyPr>
          <a:lstStyle/>
          <a:p>
            <a:pPr algn="l">
              <a:lnSpc>
                <a:spcPts val="3509"/>
              </a:lnSpc>
            </a:pPr>
            <a:r>
              <a:rPr lang="en-US" sz="3000" b="1" spc="-60">
                <a:solidFill>
                  <a:srgbClr val="004664"/>
                </a:solidFill>
                <a:latin typeface="Open Sauce Bold"/>
                <a:ea typeface="Open Sauce Bold"/>
                <a:cs typeface="Open Sauce Bold"/>
                <a:sym typeface="Open Sauce Bold"/>
              </a:rPr>
              <a:t>11</a:t>
            </a:r>
          </a:p>
        </p:txBody>
      </p:sp>
      <p:sp>
        <p:nvSpPr>
          <p:cNvPr id="47" name="TextBox 47"/>
          <p:cNvSpPr txBox="1"/>
          <p:nvPr/>
        </p:nvSpPr>
        <p:spPr>
          <a:xfrm>
            <a:off x="9526698" y="5936595"/>
            <a:ext cx="329211" cy="449580"/>
          </a:xfrm>
          <a:prstGeom prst="rect">
            <a:avLst/>
          </a:prstGeom>
        </p:spPr>
        <p:txBody>
          <a:bodyPr lIns="0" tIns="0" rIns="0" bIns="0" rtlCol="0" anchor="t">
            <a:spAutoFit/>
          </a:bodyPr>
          <a:lstStyle/>
          <a:p>
            <a:pPr algn="l">
              <a:lnSpc>
                <a:spcPts val="3509"/>
              </a:lnSpc>
            </a:pPr>
            <a:r>
              <a:rPr lang="en-US" sz="3000" b="1" spc="-60">
                <a:solidFill>
                  <a:srgbClr val="004664"/>
                </a:solidFill>
                <a:latin typeface="Open Sauce Bold"/>
                <a:ea typeface="Open Sauce Bold"/>
                <a:cs typeface="Open Sauce Bold"/>
                <a:sym typeface="Open Sauce Bold"/>
              </a:rPr>
              <a:t>.</a:t>
            </a:r>
          </a:p>
        </p:txBody>
      </p:sp>
      <p:sp>
        <p:nvSpPr>
          <p:cNvPr id="48" name="AutoShape 48"/>
          <p:cNvSpPr/>
          <p:nvPr/>
        </p:nvSpPr>
        <p:spPr>
          <a:xfrm>
            <a:off x="9855909" y="6429038"/>
            <a:ext cx="5202141" cy="0"/>
          </a:xfrm>
          <a:prstGeom prst="line">
            <a:avLst/>
          </a:prstGeom>
          <a:ln w="28575" cap="flat">
            <a:solidFill>
              <a:srgbClr val="004664"/>
            </a:solidFill>
            <a:prstDash val="solid"/>
            <a:headEnd type="none" w="sm" len="sm"/>
            <a:tailEnd type="none" w="sm" len="sm"/>
          </a:ln>
        </p:spPr>
        <p:txBody>
          <a:bodyPr/>
          <a:lstStyle/>
          <a:p>
            <a:endParaRPr lang="en-CA"/>
          </a:p>
        </p:txBody>
      </p:sp>
      <p:sp>
        <p:nvSpPr>
          <p:cNvPr id="49" name="TextBox 49"/>
          <p:cNvSpPr txBox="1"/>
          <p:nvPr/>
        </p:nvSpPr>
        <p:spPr>
          <a:xfrm>
            <a:off x="8945536" y="6558240"/>
            <a:ext cx="829702" cy="449580"/>
          </a:xfrm>
          <a:prstGeom prst="rect">
            <a:avLst/>
          </a:prstGeom>
        </p:spPr>
        <p:txBody>
          <a:bodyPr lIns="0" tIns="0" rIns="0" bIns="0" rtlCol="0" anchor="t">
            <a:spAutoFit/>
          </a:bodyPr>
          <a:lstStyle/>
          <a:p>
            <a:pPr algn="l">
              <a:lnSpc>
                <a:spcPts val="3509"/>
              </a:lnSpc>
            </a:pPr>
            <a:r>
              <a:rPr lang="en-US" sz="3000" b="1" spc="-60">
                <a:solidFill>
                  <a:srgbClr val="004664"/>
                </a:solidFill>
                <a:latin typeface="Open Sauce Bold"/>
                <a:ea typeface="Open Sauce Bold"/>
                <a:cs typeface="Open Sauce Bold"/>
                <a:sym typeface="Open Sauce Bold"/>
              </a:rPr>
              <a:t>12</a:t>
            </a:r>
          </a:p>
        </p:txBody>
      </p:sp>
      <p:sp>
        <p:nvSpPr>
          <p:cNvPr id="50" name="TextBox 50"/>
          <p:cNvSpPr txBox="1"/>
          <p:nvPr/>
        </p:nvSpPr>
        <p:spPr>
          <a:xfrm>
            <a:off x="9526698" y="6558240"/>
            <a:ext cx="329211" cy="449580"/>
          </a:xfrm>
          <a:prstGeom prst="rect">
            <a:avLst/>
          </a:prstGeom>
        </p:spPr>
        <p:txBody>
          <a:bodyPr lIns="0" tIns="0" rIns="0" bIns="0" rtlCol="0" anchor="t">
            <a:spAutoFit/>
          </a:bodyPr>
          <a:lstStyle/>
          <a:p>
            <a:pPr algn="l">
              <a:lnSpc>
                <a:spcPts val="3509"/>
              </a:lnSpc>
            </a:pPr>
            <a:r>
              <a:rPr lang="en-US" sz="3000" b="1" spc="-60">
                <a:solidFill>
                  <a:srgbClr val="004664"/>
                </a:solidFill>
                <a:latin typeface="Open Sauce Bold"/>
                <a:ea typeface="Open Sauce Bold"/>
                <a:cs typeface="Open Sauce Bold"/>
                <a:sym typeface="Open Sauce Bold"/>
              </a:rPr>
              <a:t>.</a:t>
            </a:r>
          </a:p>
        </p:txBody>
      </p:sp>
      <p:sp>
        <p:nvSpPr>
          <p:cNvPr id="51" name="AutoShape 51"/>
          <p:cNvSpPr/>
          <p:nvPr/>
        </p:nvSpPr>
        <p:spPr>
          <a:xfrm>
            <a:off x="9855909" y="7050683"/>
            <a:ext cx="5202141" cy="0"/>
          </a:xfrm>
          <a:prstGeom prst="line">
            <a:avLst/>
          </a:prstGeom>
          <a:ln w="28575" cap="flat">
            <a:solidFill>
              <a:srgbClr val="004664"/>
            </a:solidFill>
            <a:prstDash val="solid"/>
            <a:headEnd type="none" w="sm" len="sm"/>
            <a:tailEnd type="none" w="sm" len="sm"/>
          </a:ln>
        </p:spPr>
        <p:txBody>
          <a:bodyPr/>
          <a:lstStyle/>
          <a:p>
            <a:endParaRPr lang="en-CA"/>
          </a:p>
        </p:txBody>
      </p:sp>
      <p:sp>
        <p:nvSpPr>
          <p:cNvPr id="52" name="Freeform 52"/>
          <p:cNvSpPr/>
          <p:nvPr/>
        </p:nvSpPr>
        <p:spPr>
          <a:xfrm>
            <a:off x="994403" y="854812"/>
            <a:ext cx="434299" cy="434299"/>
          </a:xfrm>
          <a:custGeom>
            <a:avLst/>
            <a:gdLst/>
            <a:ahLst/>
            <a:cxnLst/>
            <a:rect l="l" t="t" r="r" b="b"/>
            <a:pathLst>
              <a:path w="434299" h="434299">
                <a:moveTo>
                  <a:pt x="0" y="0"/>
                </a:moveTo>
                <a:lnTo>
                  <a:pt x="434299" y="0"/>
                </a:lnTo>
                <a:lnTo>
                  <a:pt x="434299" y="434299"/>
                </a:lnTo>
                <a:lnTo>
                  <a:pt x="0" y="43429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CA"/>
          </a:p>
        </p:txBody>
      </p:sp>
      <p:sp>
        <p:nvSpPr>
          <p:cNvPr id="53" name="Freeform 53"/>
          <p:cNvSpPr/>
          <p:nvPr/>
        </p:nvSpPr>
        <p:spPr>
          <a:xfrm>
            <a:off x="290308" y="241881"/>
            <a:ext cx="704095" cy="704095"/>
          </a:xfrm>
          <a:custGeom>
            <a:avLst/>
            <a:gdLst/>
            <a:ahLst/>
            <a:cxnLst/>
            <a:rect l="l" t="t" r="r" b="b"/>
            <a:pathLst>
              <a:path w="704095" h="704095">
                <a:moveTo>
                  <a:pt x="0" y="0"/>
                </a:moveTo>
                <a:lnTo>
                  <a:pt x="704095" y="0"/>
                </a:lnTo>
                <a:lnTo>
                  <a:pt x="704095" y="704095"/>
                </a:lnTo>
                <a:lnTo>
                  <a:pt x="0" y="70409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CA"/>
          </a:p>
        </p:txBody>
      </p:sp>
      <p:sp>
        <p:nvSpPr>
          <p:cNvPr id="54" name="TextBox 54"/>
          <p:cNvSpPr txBox="1"/>
          <p:nvPr/>
        </p:nvSpPr>
        <p:spPr>
          <a:xfrm>
            <a:off x="9855909" y="5898495"/>
            <a:ext cx="6069112" cy="449580"/>
          </a:xfrm>
          <a:prstGeom prst="rect">
            <a:avLst/>
          </a:prstGeom>
        </p:spPr>
        <p:txBody>
          <a:bodyPr lIns="0" tIns="0" rIns="0" bIns="0" rtlCol="0" anchor="t">
            <a:spAutoFit/>
          </a:bodyPr>
          <a:lstStyle/>
          <a:p>
            <a:pPr algn="l">
              <a:lnSpc>
                <a:spcPts val="3509"/>
              </a:lnSpc>
            </a:pPr>
            <a:r>
              <a:rPr lang="en-US" sz="3000" spc="-60" dirty="0">
                <a:solidFill>
                  <a:srgbClr val="000000"/>
                </a:solidFill>
                <a:latin typeface="Open Sauce"/>
                <a:ea typeface="Open Sauce"/>
                <a:cs typeface="Open Sauce"/>
                <a:sym typeface="Open Sauce"/>
              </a:rPr>
              <a:t>Success and Limitations</a:t>
            </a:r>
          </a:p>
        </p:txBody>
      </p:sp>
      <p:sp>
        <p:nvSpPr>
          <p:cNvPr id="55" name="TextBox 55"/>
          <p:cNvSpPr txBox="1"/>
          <p:nvPr/>
        </p:nvSpPr>
        <p:spPr>
          <a:xfrm>
            <a:off x="9855909" y="6548100"/>
            <a:ext cx="6069112" cy="449580"/>
          </a:xfrm>
          <a:prstGeom prst="rect">
            <a:avLst/>
          </a:prstGeom>
        </p:spPr>
        <p:txBody>
          <a:bodyPr lIns="0" tIns="0" rIns="0" bIns="0" rtlCol="0" anchor="t">
            <a:spAutoFit/>
          </a:bodyPr>
          <a:lstStyle/>
          <a:p>
            <a:pPr algn="l">
              <a:lnSpc>
                <a:spcPts val="3509"/>
              </a:lnSpc>
            </a:pPr>
            <a:r>
              <a:rPr lang="en-US" sz="3000" spc="-60" dirty="0">
                <a:solidFill>
                  <a:srgbClr val="000000"/>
                </a:solidFill>
                <a:latin typeface="Open Sauce"/>
                <a:ea typeface="Open Sauce"/>
                <a:cs typeface="Open Sauce"/>
                <a:sym typeface="Open Sauce"/>
              </a:rPr>
              <a:t>Suggestions for Future Work</a:t>
            </a:r>
          </a:p>
        </p:txBody>
      </p:sp>
      <p:sp>
        <p:nvSpPr>
          <p:cNvPr id="56" name="TextBox 56"/>
          <p:cNvSpPr txBox="1"/>
          <p:nvPr/>
        </p:nvSpPr>
        <p:spPr>
          <a:xfrm>
            <a:off x="9855909" y="7150695"/>
            <a:ext cx="6069112" cy="449580"/>
          </a:xfrm>
          <a:prstGeom prst="rect">
            <a:avLst/>
          </a:prstGeom>
        </p:spPr>
        <p:txBody>
          <a:bodyPr lIns="0" tIns="0" rIns="0" bIns="0" rtlCol="0" anchor="t">
            <a:spAutoFit/>
          </a:bodyPr>
          <a:lstStyle/>
          <a:p>
            <a:pPr algn="l">
              <a:lnSpc>
                <a:spcPts val="3509"/>
              </a:lnSpc>
            </a:pPr>
            <a:r>
              <a:rPr lang="en-US" sz="3000" spc="-60" dirty="0">
                <a:solidFill>
                  <a:srgbClr val="000000"/>
                </a:solidFill>
                <a:latin typeface="Open Sauce"/>
                <a:ea typeface="Open Sauce"/>
                <a:cs typeface="Open Sauce"/>
                <a:sym typeface="Open Sauce"/>
              </a:rPr>
              <a:t>Work Distribution</a:t>
            </a:r>
          </a:p>
        </p:txBody>
      </p:sp>
      <p:sp>
        <p:nvSpPr>
          <p:cNvPr id="57" name="TextBox 57"/>
          <p:cNvSpPr txBox="1"/>
          <p:nvPr/>
        </p:nvSpPr>
        <p:spPr>
          <a:xfrm>
            <a:off x="8945536" y="4043700"/>
            <a:ext cx="829702" cy="449580"/>
          </a:xfrm>
          <a:prstGeom prst="rect">
            <a:avLst/>
          </a:prstGeom>
        </p:spPr>
        <p:txBody>
          <a:bodyPr lIns="0" tIns="0" rIns="0" bIns="0" rtlCol="0" anchor="t">
            <a:spAutoFit/>
          </a:bodyPr>
          <a:lstStyle/>
          <a:p>
            <a:pPr algn="l">
              <a:lnSpc>
                <a:spcPts val="3509"/>
              </a:lnSpc>
            </a:pPr>
            <a:r>
              <a:rPr lang="en-US" sz="3000" b="1" spc="-60">
                <a:solidFill>
                  <a:srgbClr val="004664"/>
                </a:solidFill>
                <a:latin typeface="Open Sauce Bold"/>
                <a:ea typeface="Open Sauce Bold"/>
                <a:cs typeface="Open Sauce Bold"/>
                <a:sym typeface="Open Sauce Bold"/>
              </a:rPr>
              <a:t>08</a:t>
            </a:r>
          </a:p>
        </p:txBody>
      </p:sp>
      <p:sp>
        <p:nvSpPr>
          <p:cNvPr id="58" name="TextBox 58"/>
          <p:cNvSpPr txBox="1"/>
          <p:nvPr/>
        </p:nvSpPr>
        <p:spPr>
          <a:xfrm>
            <a:off x="9526698" y="4043700"/>
            <a:ext cx="329211" cy="449580"/>
          </a:xfrm>
          <a:prstGeom prst="rect">
            <a:avLst/>
          </a:prstGeom>
        </p:spPr>
        <p:txBody>
          <a:bodyPr lIns="0" tIns="0" rIns="0" bIns="0" rtlCol="0" anchor="t">
            <a:spAutoFit/>
          </a:bodyPr>
          <a:lstStyle/>
          <a:p>
            <a:pPr algn="l">
              <a:lnSpc>
                <a:spcPts val="3509"/>
              </a:lnSpc>
            </a:pPr>
            <a:r>
              <a:rPr lang="en-US" sz="3000" b="1" spc="-60">
                <a:solidFill>
                  <a:srgbClr val="004664"/>
                </a:solidFill>
                <a:latin typeface="Open Sauce Bold"/>
                <a:ea typeface="Open Sauce Bold"/>
                <a:cs typeface="Open Sauce Bold"/>
                <a:sym typeface="Open Sauce Bold"/>
              </a:rPr>
              <a:t>.</a:t>
            </a:r>
          </a:p>
        </p:txBody>
      </p:sp>
      <p:sp>
        <p:nvSpPr>
          <p:cNvPr id="59" name="TextBox 59"/>
          <p:cNvSpPr txBox="1"/>
          <p:nvPr/>
        </p:nvSpPr>
        <p:spPr>
          <a:xfrm>
            <a:off x="9855909" y="4043700"/>
            <a:ext cx="6447793" cy="449580"/>
          </a:xfrm>
          <a:prstGeom prst="rect">
            <a:avLst/>
          </a:prstGeom>
        </p:spPr>
        <p:txBody>
          <a:bodyPr lIns="0" tIns="0" rIns="0" bIns="0" rtlCol="0" anchor="t">
            <a:spAutoFit/>
          </a:bodyPr>
          <a:lstStyle/>
          <a:p>
            <a:pPr algn="l">
              <a:lnSpc>
                <a:spcPts val="3509"/>
              </a:lnSpc>
            </a:pPr>
            <a:r>
              <a:rPr lang="en-US" sz="3000" spc="-60">
                <a:solidFill>
                  <a:srgbClr val="000000"/>
                </a:solidFill>
                <a:latin typeface="Open Sauce"/>
                <a:ea typeface="Open Sauce"/>
                <a:cs typeface="Open Sauce"/>
                <a:sym typeface="Open Sauce"/>
              </a:rPr>
              <a:t>Comparison</a:t>
            </a:r>
          </a:p>
        </p:txBody>
      </p:sp>
      <p:sp>
        <p:nvSpPr>
          <p:cNvPr id="60" name="AutoShape 60"/>
          <p:cNvSpPr/>
          <p:nvPr/>
        </p:nvSpPr>
        <p:spPr>
          <a:xfrm>
            <a:off x="9855909" y="4536142"/>
            <a:ext cx="5202141" cy="0"/>
          </a:xfrm>
          <a:prstGeom prst="line">
            <a:avLst/>
          </a:prstGeom>
          <a:ln w="28575" cap="flat">
            <a:solidFill>
              <a:srgbClr val="004664"/>
            </a:solidFill>
            <a:prstDash val="solid"/>
            <a:headEnd type="none" w="sm" len="sm"/>
            <a:tailEnd type="none" w="sm" len="sm"/>
          </a:ln>
        </p:spPr>
        <p:txBody>
          <a:bodyPr/>
          <a:lstStyle/>
          <a:p>
            <a:endParaRPr lang="en-CA"/>
          </a:p>
        </p:txBody>
      </p:sp>
      <p:sp>
        <p:nvSpPr>
          <p:cNvPr id="61" name="TextBox 61"/>
          <p:cNvSpPr txBox="1"/>
          <p:nvPr/>
        </p:nvSpPr>
        <p:spPr>
          <a:xfrm>
            <a:off x="8945536" y="4651058"/>
            <a:ext cx="829702" cy="449580"/>
          </a:xfrm>
          <a:prstGeom prst="rect">
            <a:avLst/>
          </a:prstGeom>
        </p:spPr>
        <p:txBody>
          <a:bodyPr lIns="0" tIns="0" rIns="0" bIns="0" rtlCol="0" anchor="t">
            <a:spAutoFit/>
          </a:bodyPr>
          <a:lstStyle/>
          <a:p>
            <a:pPr algn="l">
              <a:lnSpc>
                <a:spcPts val="3509"/>
              </a:lnSpc>
            </a:pPr>
            <a:r>
              <a:rPr lang="en-US" sz="3000" b="1" spc="-60">
                <a:solidFill>
                  <a:srgbClr val="004664"/>
                </a:solidFill>
                <a:latin typeface="Open Sauce Bold"/>
                <a:ea typeface="Open Sauce Bold"/>
                <a:cs typeface="Open Sauce Bold"/>
                <a:sym typeface="Open Sauce Bold"/>
              </a:rPr>
              <a:t>09</a:t>
            </a:r>
          </a:p>
        </p:txBody>
      </p:sp>
      <p:sp>
        <p:nvSpPr>
          <p:cNvPr id="62" name="TextBox 62"/>
          <p:cNvSpPr txBox="1"/>
          <p:nvPr/>
        </p:nvSpPr>
        <p:spPr>
          <a:xfrm>
            <a:off x="9526698" y="4651058"/>
            <a:ext cx="329211" cy="449580"/>
          </a:xfrm>
          <a:prstGeom prst="rect">
            <a:avLst/>
          </a:prstGeom>
        </p:spPr>
        <p:txBody>
          <a:bodyPr lIns="0" tIns="0" rIns="0" bIns="0" rtlCol="0" anchor="t">
            <a:spAutoFit/>
          </a:bodyPr>
          <a:lstStyle/>
          <a:p>
            <a:pPr algn="l">
              <a:lnSpc>
                <a:spcPts val="3509"/>
              </a:lnSpc>
            </a:pPr>
            <a:r>
              <a:rPr lang="en-US" sz="3000" b="1" spc="-60">
                <a:solidFill>
                  <a:srgbClr val="004664"/>
                </a:solidFill>
                <a:latin typeface="Open Sauce Bold"/>
                <a:ea typeface="Open Sauce Bold"/>
                <a:cs typeface="Open Sauce Bold"/>
                <a:sym typeface="Open Sauce Bold"/>
              </a:rPr>
              <a:t>.</a:t>
            </a:r>
          </a:p>
        </p:txBody>
      </p:sp>
      <p:sp>
        <p:nvSpPr>
          <p:cNvPr id="63" name="TextBox 63"/>
          <p:cNvSpPr txBox="1"/>
          <p:nvPr/>
        </p:nvSpPr>
        <p:spPr>
          <a:xfrm>
            <a:off x="9855909" y="4651058"/>
            <a:ext cx="6447793" cy="449580"/>
          </a:xfrm>
          <a:prstGeom prst="rect">
            <a:avLst/>
          </a:prstGeom>
        </p:spPr>
        <p:txBody>
          <a:bodyPr lIns="0" tIns="0" rIns="0" bIns="0" rtlCol="0" anchor="t">
            <a:spAutoFit/>
          </a:bodyPr>
          <a:lstStyle/>
          <a:p>
            <a:pPr algn="l">
              <a:lnSpc>
                <a:spcPts val="3509"/>
              </a:lnSpc>
            </a:pPr>
            <a:r>
              <a:rPr lang="en-US" sz="3000" spc="-60">
                <a:solidFill>
                  <a:srgbClr val="000000"/>
                </a:solidFill>
                <a:latin typeface="Open Sauce"/>
                <a:ea typeface="Open Sauce"/>
                <a:cs typeface="Open Sauce"/>
                <a:sym typeface="Open Sauce"/>
              </a:rPr>
              <a:t>Challenges</a:t>
            </a:r>
          </a:p>
        </p:txBody>
      </p:sp>
      <p:sp>
        <p:nvSpPr>
          <p:cNvPr id="64" name="AutoShape 64"/>
          <p:cNvSpPr/>
          <p:nvPr/>
        </p:nvSpPr>
        <p:spPr>
          <a:xfrm>
            <a:off x="9855909" y="5143500"/>
            <a:ext cx="5202141" cy="0"/>
          </a:xfrm>
          <a:prstGeom prst="line">
            <a:avLst/>
          </a:prstGeom>
          <a:ln w="28575" cap="flat">
            <a:solidFill>
              <a:srgbClr val="004664"/>
            </a:solidFill>
            <a:prstDash val="solid"/>
            <a:headEnd type="none" w="sm" len="sm"/>
            <a:tailEnd type="none" w="sm" len="sm"/>
          </a:ln>
        </p:spPr>
        <p:txBody>
          <a:bodyPr/>
          <a:lstStyle/>
          <a:p>
            <a:endParaRPr lang="en-CA"/>
          </a:p>
        </p:txBody>
      </p:sp>
      <p:sp>
        <p:nvSpPr>
          <p:cNvPr id="65" name="TextBox 65"/>
          <p:cNvSpPr txBox="1"/>
          <p:nvPr/>
        </p:nvSpPr>
        <p:spPr>
          <a:xfrm>
            <a:off x="8945536" y="7150695"/>
            <a:ext cx="829702" cy="449580"/>
          </a:xfrm>
          <a:prstGeom prst="rect">
            <a:avLst/>
          </a:prstGeom>
        </p:spPr>
        <p:txBody>
          <a:bodyPr lIns="0" tIns="0" rIns="0" bIns="0" rtlCol="0" anchor="t">
            <a:spAutoFit/>
          </a:bodyPr>
          <a:lstStyle/>
          <a:p>
            <a:pPr algn="l">
              <a:lnSpc>
                <a:spcPts val="3509"/>
              </a:lnSpc>
            </a:pPr>
            <a:r>
              <a:rPr lang="en-US" sz="3000" b="1" spc="-60">
                <a:solidFill>
                  <a:srgbClr val="004664"/>
                </a:solidFill>
                <a:latin typeface="Open Sauce Bold"/>
                <a:ea typeface="Open Sauce Bold"/>
                <a:cs typeface="Open Sauce Bold"/>
                <a:sym typeface="Open Sauce Bold"/>
              </a:rPr>
              <a:t>13</a:t>
            </a:r>
          </a:p>
        </p:txBody>
      </p:sp>
      <p:sp>
        <p:nvSpPr>
          <p:cNvPr id="66" name="TextBox 66"/>
          <p:cNvSpPr txBox="1"/>
          <p:nvPr/>
        </p:nvSpPr>
        <p:spPr>
          <a:xfrm>
            <a:off x="9526698" y="7150695"/>
            <a:ext cx="329211" cy="449580"/>
          </a:xfrm>
          <a:prstGeom prst="rect">
            <a:avLst/>
          </a:prstGeom>
        </p:spPr>
        <p:txBody>
          <a:bodyPr lIns="0" tIns="0" rIns="0" bIns="0" rtlCol="0" anchor="t">
            <a:spAutoFit/>
          </a:bodyPr>
          <a:lstStyle/>
          <a:p>
            <a:pPr algn="l">
              <a:lnSpc>
                <a:spcPts val="3509"/>
              </a:lnSpc>
            </a:pPr>
            <a:r>
              <a:rPr lang="en-US" sz="3000" b="1" spc="-60">
                <a:solidFill>
                  <a:srgbClr val="004664"/>
                </a:solidFill>
                <a:latin typeface="Open Sauce Bold"/>
                <a:ea typeface="Open Sauce Bold"/>
                <a:cs typeface="Open Sauce Bold"/>
                <a:sym typeface="Open Sauce Bold"/>
              </a:rPr>
              <a:t>.</a:t>
            </a:r>
          </a:p>
        </p:txBody>
      </p:sp>
      <p:sp>
        <p:nvSpPr>
          <p:cNvPr id="67" name="AutoShape 67"/>
          <p:cNvSpPr/>
          <p:nvPr/>
        </p:nvSpPr>
        <p:spPr>
          <a:xfrm>
            <a:off x="9855909" y="7643138"/>
            <a:ext cx="5202141" cy="0"/>
          </a:xfrm>
          <a:prstGeom prst="line">
            <a:avLst/>
          </a:prstGeom>
          <a:ln w="28575" cap="flat">
            <a:solidFill>
              <a:srgbClr val="004664"/>
            </a:solidFill>
            <a:prstDash val="solid"/>
            <a:headEnd type="none" w="sm" len="sm"/>
            <a:tailEnd type="none" w="sm" len="sm"/>
          </a:ln>
        </p:spPr>
        <p:txBody>
          <a:bodyPr/>
          <a:lstStyle/>
          <a:p>
            <a:endParaRPr lang="en-CA"/>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CA"/>
          </a:p>
        </p:txBody>
      </p:sp>
      <p:grpSp>
        <p:nvGrpSpPr>
          <p:cNvPr id="3" name="Group 3"/>
          <p:cNvGrpSpPr/>
          <p:nvPr/>
        </p:nvGrpSpPr>
        <p:grpSpPr>
          <a:xfrm>
            <a:off x="17259300" y="8984615"/>
            <a:ext cx="1573962" cy="1573962"/>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3B54"/>
            </a:solidFill>
          </p:spPr>
          <p:txBody>
            <a:bodyPr/>
            <a:lstStyle/>
            <a:p>
              <a:endParaRPr lang="en-CA"/>
            </a:p>
          </p:txBody>
        </p:sp>
        <p:sp>
          <p:nvSpPr>
            <p:cNvPr id="5" name="TextBox 5"/>
            <p:cNvSpPr txBox="1"/>
            <p:nvPr/>
          </p:nvSpPr>
          <p:spPr>
            <a:xfrm>
              <a:off x="76200" y="66675"/>
              <a:ext cx="660400" cy="669925"/>
            </a:xfrm>
            <a:prstGeom prst="rect">
              <a:avLst/>
            </a:prstGeom>
          </p:spPr>
          <p:txBody>
            <a:bodyPr lIns="50800" tIns="50800" rIns="50800" bIns="50800" rtlCol="0" anchor="ctr"/>
            <a:lstStyle/>
            <a:p>
              <a:pPr algn="ctr">
                <a:lnSpc>
                  <a:spcPts val="3042"/>
                </a:lnSpc>
              </a:pPr>
              <a:endParaRPr/>
            </a:p>
          </p:txBody>
        </p:sp>
      </p:grpSp>
      <p:grpSp>
        <p:nvGrpSpPr>
          <p:cNvPr id="6" name="Group 6"/>
          <p:cNvGrpSpPr/>
          <p:nvPr/>
        </p:nvGrpSpPr>
        <p:grpSpPr>
          <a:xfrm>
            <a:off x="16303701" y="8984615"/>
            <a:ext cx="786981" cy="786981"/>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664"/>
            </a:solidFill>
          </p:spPr>
          <p:txBody>
            <a:bodyPr/>
            <a:lstStyle/>
            <a:p>
              <a:endParaRPr lang="en-CA"/>
            </a:p>
          </p:txBody>
        </p:sp>
        <p:sp>
          <p:nvSpPr>
            <p:cNvPr id="8" name="TextBox 8"/>
            <p:cNvSpPr txBox="1"/>
            <p:nvPr/>
          </p:nvSpPr>
          <p:spPr>
            <a:xfrm>
              <a:off x="76200" y="66675"/>
              <a:ext cx="660400" cy="669925"/>
            </a:xfrm>
            <a:prstGeom prst="rect">
              <a:avLst/>
            </a:prstGeom>
          </p:spPr>
          <p:txBody>
            <a:bodyPr lIns="50800" tIns="50800" rIns="50800" bIns="50800" rtlCol="0" anchor="ctr"/>
            <a:lstStyle/>
            <a:p>
              <a:pPr algn="ctr">
                <a:lnSpc>
                  <a:spcPts val="3042"/>
                </a:lnSpc>
              </a:pPr>
              <a:endParaRPr/>
            </a:p>
          </p:txBody>
        </p:sp>
      </p:grpSp>
      <p:sp>
        <p:nvSpPr>
          <p:cNvPr id="9" name="AutoShape 9"/>
          <p:cNvSpPr/>
          <p:nvPr/>
        </p:nvSpPr>
        <p:spPr>
          <a:xfrm>
            <a:off x="0" y="9723971"/>
            <a:ext cx="9144000" cy="0"/>
          </a:xfrm>
          <a:prstGeom prst="line">
            <a:avLst/>
          </a:prstGeom>
          <a:ln w="47625" cap="flat">
            <a:solidFill>
              <a:srgbClr val="004664"/>
            </a:solidFill>
            <a:prstDash val="solid"/>
            <a:headEnd type="none" w="sm" len="sm"/>
            <a:tailEnd type="oval" w="lg" len="lg"/>
          </a:ln>
        </p:spPr>
        <p:txBody>
          <a:bodyPr/>
          <a:lstStyle/>
          <a:p>
            <a:endParaRPr lang="en-CA"/>
          </a:p>
        </p:txBody>
      </p:sp>
      <p:sp>
        <p:nvSpPr>
          <p:cNvPr id="10" name="AutoShape 10"/>
          <p:cNvSpPr/>
          <p:nvPr/>
        </p:nvSpPr>
        <p:spPr>
          <a:xfrm>
            <a:off x="15925021" y="646179"/>
            <a:ext cx="2362979" cy="0"/>
          </a:xfrm>
          <a:prstGeom prst="line">
            <a:avLst/>
          </a:prstGeom>
          <a:ln w="47625" cap="flat">
            <a:solidFill>
              <a:srgbClr val="004664"/>
            </a:solidFill>
            <a:prstDash val="solid"/>
            <a:headEnd type="oval" w="lg" len="lg"/>
            <a:tailEnd type="none" w="sm" len="sm"/>
          </a:ln>
        </p:spPr>
        <p:txBody>
          <a:bodyPr/>
          <a:lstStyle/>
          <a:p>
            <a:endParaRPr lang="en-CA"/>
          </a:p>
        </p:txBody>
      </p:sp>
      <p:sp>
        <p:nvSpPr>
          <p:cNvPr id="11" name="TextBox 11"/>
          <p:cNvSpPr txBox="1"/>
          <p:nvPr/>
        </p:nvSpPr>
        <p:spPr>
          <a:xfrm>
            <a:off x="2171334" y="1232157"/>
            <a:ext cx="3925010" cy="958850"/>
          </a:xfrm>
          <a:prstGeom prst="rect">
            <a:avLst/>
          </a:prstGeom>
        </p:spPr>
        <p:txBody>
          <a:bodyPr lIns="0" tIns="0" rIns="0" bIns="0" rtlCol="0" anchor="t">
            <a:spAutoFit/>
          </a:bodyPr>
          <a:lstStyle/>
          <a:p>
            <a:pPr algn="l">
              <a:lnSpc>
                <a:spcPts val="7000"/>
              </a:lnSpc>
              <a:spcBef>
                <a:spcPct val="0"/>
              </a:spcBef>
            </a:pPr>
            <a:r>
              <a:rPr lang="en-US" sz="5000" spc="-100" dirty="0">
                <a:solidFill>
                  <a:srgbClr val="013B54"/>
                </a:solidFill>
                <a:latin typeface="Bugaki"/>
                <a:ea typeface="Bugaki"/>
                <a:cs typeface="Bugaki"/>
                <a:sym typeface="Bugaki"/>
              </a:rPr>
              <a:t>Problem</a:t>
            </a:r>
          </a:p>
        </p:txBody>
      </p:sp>
      <p:grpSp>
        <p:nvGrpSpPr>
          <p:cNvPr id="12" name="Group 12"/>
          <p:cNvGrpSpPr/>
          <p:nvPr/>
        </p:nvGrpSpPr>
        <p:grpSpPr>
          <a:xfrm>
            <a:off x="1028700" y="1322841"/>
            <a:ext cx="977507" cy="977507"/>
            <a:chOff x="0" y="0"/>
            <a:chExt cx="1303342" cy="1303342"/>
          </a:xfrm>
        </p:grpSpPr>
        <p:sp>
          <p:nvSpPr>
            <p:cNvPr id="13" name="Freeform 13"/>
            <p:cNvSpPr/>
            <p:nvPr/>
          </p:nvSpPr>
          <p:spPr>
            <a:xfrm>
              <a:off x="0" y="0"/>
              <a:ext cx="1303342" cy="1303342"/>
            </a:xfrm>
            <a:custGeom>
              <a:avLst/>
              <a:gdLst/>
              <a:ahLst/>
              <a:cxnLst/>
              <a:rect l="l" t="t" r="r" b="b"/>
              <a:pathLst>
                <a:path w="1303342" h="1303342">
                  <a:moveTo>
                    <a:pt x="0" y="0"/>
                  </a:moveTo>
                  <a:lnTo>
                    <a:pt x="1303342" y="0"/>
                  </a:lnTo>
                  <a:lnTo>
                    <a:pt x="1303342" y="1303342"/>
                  </a:lnTo>
                  <a:lnTo>
                    <a:pt x="0" y="130334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CA"/>
            </a:p>
          </p:txBody>
        </p:sp>
        <p:sp>
          <p:nvSpPr>
            <p:cNvPr id="14" name="TextBox 14"/>
            <p:cNvSpPr txBox="1"/>
            <p:nvPr/>
          </p:nvSpPr>
          <p:spPr>
            <a:xfrm>
              <a:off x="0" y="135180"/>
              <a:ext cx="1303342" cy="890108"/>
            </a:xfrm>
            <a:prstGeom prst="rect">
              <a:avLst/>
            </a:prstGeom>
          </p:spPr>
          <p:txBody>
            <a:bodyPr lIns="0" tIns="0" rIns="0" bIns="0" rtlCol="0" anchor="t">
              <a:spAutoFit/>
            </a:bodyPr>
            <a:lstStyle/>
            <a:p>
              <a:pPr algn="ctr">
                <a:lnSpc>
                  <a:spcPts val="5148"/>
                </a:lnSpc>
                <a:spcBef>
                  <a:spcPct val="0"/>
                </a:spcBef>
              </a:pPr>
              <a:r>
                <a:rPr lang="en-US" sz="3677" spc="-73">
                  <a:solidFill>
                    <a:srgbClr val="FFFFFF"/>
                  </a:solidFill>
                  <a:latin typeface="Bugaki"/>
                  <a:ea typeface="Bugaki"/>
                  <a:cs typeface="Bugaki"/>
                  <a:sym typeface="Bugaki"/>
                </a:rPr>
                <a:t>01</a:t>
              </a:r>
            </a:p>
          </p:txBody>
        </p:sp>
      </p:grpSp>
      <p:sp>
        <p:nvSpPr>
          <p:cNvPr id="15" name="TextBox 15"/>
          <p:cNvSpPr txBox="1"/>
          <p:nvPr/>
        </p:nvSpPr>
        <p:spPr>
          <a:xfrm>
            <a:off x="1188558" y="3106100"/>
            <a:ext cx="9365508" cy="1346522"/>
          </a:xfrm>
          <a:prstGeom prst="rect">
            <a:avLst/>
          </a:prstGeom>
        </p:spPr>
        <p:txBody>
          <a:bodyPr wrap="square" lIns="0" tIns="0" rIns="0" bIns="0" rtlCol="0" anchor="t">
            <a:spAutoFit/>
          </a:bodyPr>
          <a:lstStyle/>
          <a:p>
            <a:pPr>
              <a:lnSpc>
                <a:spcPts val="3509"/>
              </a:lnSpc>
            </a:pPr>
            <a:r>
              <a:rPr lang="en-US" sz="3600" b="1" u="sng" spc="-60" dirty="0">
                <a:solidFill>
                  <a:srgbClr val="000000"/>
                </a:solidFill>
                <a:latin typeface="Open Sauce"/>
                <a:ea typeface="Open Sauce"/>
                <a:cs typeface="Open Sauce"/>
                <a:sym typeface="Open Sauce"/>
              </a:rPr>
              <a:t>Challenges in Brain Tumor Diagnosis</a:t>
            </a:r>
          </a:p>
          <a:p>
            <a:pPr>
              <a:lnSpc>
                <a:spcPts val="3509"/>
              </a:lnSpc>
            </a:pPr>
            <a:endParaRPr lang="en-US" sz="3600" b="1" u="sng" spc="-60" dirty="0">
              <a:solidFill>
                <a:srgbClr val="000000"/>
              </a:solidFill>
              <a:latin typeface="Open Sauce"/>
              <a:ea typeface="Open Sauce"/>
              <a:cs typeface="Open Sauce"/>
              <a:sym typeface="Open Sauce"/>
            </a:endParaRPr>
          </a:p>
          <a:p>
            <a:pPr>
              <a:lnSpc>
                <a:spcPts val="3509"/>
              </a:lnSpc>
            </a:pPr>
            <a:endParaRPr lang="en-US" sz="3600" b="1" u="sng" spc="-60" dirty="0">
              <a:solidFill>
                <a:srgbClr val="000000"/>
              </a:solidFill>
              <a:latin typeface="Open Sauce"/>
              <a:ea typeface="Open Sauce"/>
              <a:cs typeface="Open Sauce"/>
              <a:sym typeface="Open Sauce"/>
            </a:endParaRPr>
          </a:p>
        </p:txBody>
      </p:sp>
      <p:sp>
        <p:nvSpPr>
          <p:cNvPr id="18" name="TextBox 17">
            <a:extLst>
              <a:ext uri="{FF2B5EF4-FFF2-40B4-BE49-F238E27FC236}">
                <a16:creationId xmlns:a16="http://schemas.microsoft.com/office/drawing/2014/main" id="{C9B9AFFA-7A53-5F1C-AE20-C541546589C4}"/>
              </a:ext>
            </a:extLst>
          </p:cNvPr>
          <p:cNvSpPr txBox="1"/>
          <p:nvPr/>
        </p:nvSpPr>
        <p:spPr>
          <a:xfrm>
            <a:off x="1418397" y="3664208"/>
            <a:ext cx="9606407" cy="4832092"/>
          </a:xfrm>
          <a:prstGeom prst="rect">
            <a:avLst/>
          </a:prstGeom>
          <a:noFill/>
        </p:spPr>
        <p:txBody>
          <a:bodyPr wrap="square" rtlCol="0">
            <a:spAutoFit/>
          </a:bodyPr>
          <a:lstStyle/>
          <a:p>
            <a:pPr marL="285750" indent="-285750">
              <a:buFont typeface="Arial" panose="020B0604020202020204" pitchFamily="34" charset="0"/>
              <a:buChar char="•"/>
            </a:pPr>
            <a:r>
              <a:rPr lang="en-US" sz="2800" dirty="0">
                <a:latin typeface="Open Sauce" panose="020B0604020202020204" charset="0"/>
              </a:rPr>
              <a:t>Brain tumors are life-threatening and require early, accurate diagnosis.</a:t>
            </a:r>
          </a:p>
          <a:p>
            <a:pPr marL="285750" indent="-285750">
              <a:buFont typeface="Arial" panose="020B0604020202020204" pitchFamily="34" charset="0"/>
              <a:buChar char="•"/>
            </a:pPr>
            <a:r>
              <a:rPr lang="en-US" sz="2800" dirty="0">
                <a:latin typeface="Open Sauce" panose="020B0604020202020204" charset="0"/>
              </a:rPr>
              <a:t>Current diagnostic practice relies heavily on manual MRI scan analysis by radiologists.</a:t>
            </a:r>
          </a:p>
          <a:p>
            <a:pPr marL="285750" indent="-285750">
              <a:buFont typeface="Arial" panose="020B0604020202020204" pitchFamily="34" charset="0"/>
              <a:buChar char="•"/>
            </a:pPr>
            <a:r>
              <a:rPr lang="en-US" sz="2800" dirty="0">
                <a:latin typeface="Open Sauce" panose="020B0604020202020204" charset="0"/>
              </a:rPr>
              <a:t>This process is:</a:t>
            </a:r>
          </a:p>
          <a:p>
            <a:pPr marL="742950" lvl="1" indent="-285750">
              <a:buFont typeface="Arial" panose="020B0604020202020204" pitchFamily="34" charset="0"/>
              <a:buChar char="•"/>
            </a:pPr>
            <a:r>
              <a:rPr lang="en-US" sz="2800" dirty="0">
                <a:latin typeface="Open Sauce" panose="020B0604020202020204" charset="0"/>
              </a:rPr>
              <a:t>Time-consuming</a:t>
            </a:r>
          </a:p>
          <a:p>
            <a:pPr marL="742950" lvl="1" indent="-285750">
              <a:buFont typeface="Arial" panose="020B0604020202020204" pitchFamily="34" charset="0"/>
              <a:buChar char="•"/>
            </a:pPr>
            <a:r>
              <a:rPr lang="en-US" sz="2800" dirty="0">
                <a:latin typeface="Open Sauce" panose="020B0604020202020204" charset="0"/>
              </a:rPr>
              <a:t>Prone to human error</a:t>
            </a:r>
          </a:p>
          <a:p>
            <a:pPr marL="285750" indent="-285750">
              <a:buFont typeface="Arial" panose="020B0604020202020204" pitchFamily="34" charset="0"/>
              <a:buChar char="•"/>
            </a:pPr>
            <a:r>
              <a:rPr lang="en-US" sz="2800" dirty="0">
                <a:latin typeface="Open Sauce" panose="020B0604020202020204" charset="0"/>
              </a:rPr>
              <a:t>There is a growing need for automated, accurate solutions to assist in clinical decision-making.</a:t>
            </a:r>
          </a:p>
          <a:p>
            <a:pPr marL="285750" indent="-285750">
              <a:buFont typeface="Arial" panose="020B0604020202020204" pitchFamily="34" charset="0"/>
              <a:buChar char="•"/>
            </a:pPr>
            <a:r>
              <a:rPr lang="en-US" sz="2800" dirty="0">
                <a:latin typeface="Open Sauce" panose="020B0604020202020204" charset="0"/>
              </a:rPr>
              <a:t>Deep learning offers a promising path for improving detection accuracy and efficiency.</a:t>
            </a:r>
            <a:endParaRPr lang="en-CA" sz="2800" dirty="0">
              <a:latin typeface="Open Sauce" panose="020B0604020202020204" charset="0"/>
            </a:endParaRPr>
          </a:p>
        </p:txBody>
      </p:sp>
      <p:pic>
        <p:nvPicPr>
          <p:cNvPr id="1030" name="Picture 6" descr="Medical illustration of a pink brain with a yellow mass inside it, indicating a tumor.">
            <a:extLst>
              <a:ext uri="{FF2B5EF4-FFF2-40B4-BE49-F238E27FC236}">
                <a16:creationId xmlns:a16="http://schemas.microsoft.com/office/drawing/2014/main" id="{5A845526-D204-F369-F5B1-F4251221575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717389" y="2001912"/>
            <a:ext cx="5676534" cy="657058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CA"/>
          </a:p>
        </p:txBody>
      </p:sp>
      <p:grpSp>
        <p:nvGrpSpPr>
          <p:cNvPr id="3" name="Group 3"/>
          <p:cNvGrpSpPr/>
          <p:nvPr/>
        </p:nvGrpSpPr>
        <p:grpSpPr>
          <a:xfrm>
            <a:off x="17259300" y="8984615"/>
            <a:ext cx="1573962" cy="1573962"/>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3B54"/>
            </a:solidFill>
          </p:spPr>
          <p:txBody>
            <a:bodyPr/>
            <a:lstStyle/>
            <a:p>
              <a:endParaRPr lang="en-CA"/>
            </a:p>
          </p:txBody>
        </p:sp>
        <p:sp>
          <p:nvSpPr>
            <p:cNvPr id="5" name="TextBox 5"/>
            <p:cNvSpPr txBox="1"/>
            <p:nvPr/>
          </p:nvSpPr>
          <p:spPr>
            <a:xfrm>
              <a:off x="76200" y="66675"/>
              <a:ext cx="660400" cy="669925"/>
            </a:xfrm>
            <a:prstGeom prst="rect">
              <a:avLst/>
            </a:prstGeom>
          </p:spPr>
          <p:txBody>
            <a:bodyPr lIns="50800" tIns="50800" rIns="50800" bIns="50800" rtlCol="0" anchor="ctr"/>
            <a:lstStyle/>
            <a:p>
              <a:pPr algn="ctr">
                <a:lnSpc>
                  <a:spcPts val="3042"/>
                </a:lnSpc>
              </a:pPr>
              <a:endParaRPr/>
            </a:p>
          </p:txBody>
        </p:sp>
      </p:grpSp>
      <p:grpSp>
        <p:nvGrpSpPr>
          <p:cNvPr id="6" name="Group 6"/>
          <p:cNvGrpSpPr/>
          <p:nvPr/>
        </p:nvGrpSpPr>
        <p:grpSpPr>
          <a:xfrm>
            <a:off x="16303701" y="8984615"/>
            <a:ext cx="786981" cy="786981"/>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664"/>
            </a:solidFill>
          </p:spPr>
          <p:txBody>
            <a:bodyPr/>
            <a:lstStyle/>
            <a:p>
              <a:endParaRPr lang="en-CA"/>
            </a:p>
          </p:txBody>
        </p:sp>
        <p:sp>
          <p:nvSpPr>
            <p:cNvPr id="8" name="TextBox 8"/>
            <p:cNvSpPr txBox="1"/>
            <p:nvPr/>
          </p:nvSpPr>
          <p:spPr>
            <a:xfrm>
              <a:off x="76200" y="66675"/>
              <a:ext cx="660400" cy="669925"/>
            </a:xfrm>
            <a:prstGeom prst="rect">
              <a:avLst/>
            </a:prstGeom>
          </p:spPr>
          <p:txBody>
            <a:bodyPr lIns="50800" tIns="50800" rIns="50800" bIns="50800" rtlCol="0" anchor="ctr"/>
            <a:lstStyle/>
            <a:p>
              <a:pPr algn="ctr">
                <a:lnSpc>
                  <a:spcPts val="3042"/>
                </a:lnSpc>
              </a:pPr>
              <a:endParaRPr/>
            </a:p>
          </p:txBody>
        </p:sp>
      </p:grpSp>
      <p:sp>
        <p:nvSpPr>
          <p:cNvPr id="9" name="AutoShape 9"/>
          <p:cNvSpPr/>
          <p:nvPr/>
        </p:nvSpPr>
        <p:spPr>
          <a:xfrm>
            <a:off x="0" y="9723971"/>
            <a:ext cx="9144000" cy="0"/>
          </a:xfrm>
          <a:prstGeom prst="line">
            <a:avLst/>
          </a:prstGeom>
          <a:ln w="47625" cap="flat">
            <a:solidFill>
              <a:srgbClr val="004664"/>
            </a:solidFill>
            <a:prstDash val="solid"/>
            <a:headEnd type="none" w="sm" len="sm"/>
            <a:tailEnd type="oval" w="lg" len="lg"/>
          </a:ln>
        </p:spPr>
        <p:txBody>
          <a:bodyPr/>
          <a:lstStyle/>
          <a:p>
            <a:endParaRPr lang="en-CA"/>
          </a:p>
        </p:txBody>
      </p:sp>
      <p:sp>
        <p:nvSpPr>
          <p:cNvPr id="10" name="AutoShape 10"/>
          <p:cNvSpPr/>
          <p:nvPr/>
        </p:nvSpPr>
        <p:spPr>
          <a:xfrm>
            <a:off x="15925021" y="646179"/>
            <a:ext cx="2362979" cy="0"/>
          </a:xfrm>
          <a:prstGeom prst="line">
            <a:avLst/>
          </a:prstGeom>
          <a:ln w="47625" cap="flat">
            <a:solidFill>
              <a:srgbClr val="004664"/>
            </a:solidFill>
            <a:prstDash val="solid"/>
            <a:headEnd type="oval" w="lg" len="lg"/>
            <a:tailEnd type="none" w="sm" len="sm"/>
          </a:ln>
        </p:spPr>
        <p:txBody>
          <a:bodyPr/>
          <a:lstStyle/>
          <a:p>
            <a:endParaRPr lang="en-CA"/>
          </a:p>
        </p:txBody>
      </p:sp>
      <p:sp>
        <p:nvSpPr>
          <p:cNvPr id="11" name="TextBox 11"/>
          <p:cNvSpPr txBox="1"/>
          <p:nvPr/>
        </p:nvSpPr>
        <p:spPr>
          <a:xfrm>
            <a:off x="1637590" y="603250"/>
            <a:ext cx="3925010" cy="958850"/>
          </a:xfrm>
          <a:prstGeom prst="rect">
            <a:avLst/>
          </a:prstGeom>
        </p:spPr>
        <p:txBody>
          <a:bodyPr lIns="0" tIns="0" rIns="0" bIns="0" rtlCol="0" anchor="t">
            <a:spAutoFit/>
          </a:bodyPr>
          <a:lstStyle/>
          <a:p>
            <a:pPr algn="l">
              <a:lnSpc>
                <a:spcPts val="7000"/>
              </a:lnSpc>
              <a:spcBef>
                <a:spcPct val="0"/>
              </a:spcBef>
            </a:pPr>
            <a:r>
              <a:rPr lang="en-US" sz="5000" spc="-100" dirty="0">
                <a:solidFill>
                  <a:srgbClr val="013B54"/>
                </a:solidFill>
                <a:latin typeface="Bugaki"/>
                <a:ea typeface="Bugaki"/>
                <a:cs typeface="Bugaki"/>
                <a:sym typeface="Bugaki"/>
              </a:rPr>
              <a:t>Scope</a:t>
            </a:r>
          </a:p>
        </p:txBody>
      </p:sp>
      <p:grpSp>
        <p:nvGrpSpPr>
          <p:cNvPr id="12" name="Group 12"/>
          <p:cNvGrpSpPr/>
          <p:nvPr/>
        </p:nvGrpSpPr>
        <p:grpSpPr>
          <a:xfrm>
            <a:off x="474635" y="584593"/>
            <a:ext cx="977507" cy="977507"/>
            <a:chOff x="0" y="0"/>
            <a:chExt cx="1303342" cy="1303342"/>
          </a:xfrm>
        </p:grpSpPr>
        <p:sp>
          <p:nvSpPr>
            <p:cNvPr id="13" name="Freeform 13"/>
            <p:cNvSpPr/>
            <p:nvPr/>
          </p:nvSpPr>
          <p:spPr>
            <a:xfrm>
              <a:off x="0" y="0"/>
              <a:ext cx="1303342" cy="1303342"/>
            </a:xfrm>
            <a:custGeom>
              <a:avLst/>
              <a:gdLst/>
              <a:ahLst/>
              <a:cxnLst/>
              <a:rect l="l" t="t" r="r" b="b"/>
              <a:pathLst>
                <a:path w="1303342" h="1303342">
                  <a:moveTo>
                    <a:pt x="0" y="0"/>
                  </a:moveTo>
                  <a:lnTo>
                    <a:pt x="1303342" y="0"/>
                  </a:lnTo>
                  <a:lnTo>
                    <a:pt x="1303342" y="1303342"/>
                  </a:lnTo>
                  <a:lnTo>
                    <a:pt x="0" y="130334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CA"/>
            </a:p>
          </p:txBody>
        </p:sp>
        <p:sp>
          <p:nvSpPr>
            <p:cNvPr id="14" name="TextBox 14"/>
            <p:cNvSpPr txBox="1"/>
            <p:nvPr/>
          </p:nvSpPr>
          <p:spPr>
            <a:xfrm>
              <a:off x="0" y="135180"/>
              <a:ext cx="1303342" cy="890108"/>
            </a:xfrm>
            <a:prstGeom prst="rect">
              <a:avLst/>
            </a:prstGeom>
          </p:spPr>
          <p:txBody>
            <a:bodyPr lIns="0" tIns="0" rIns="0" bIns="0" rtlCol="0" anchor="t">
              <a:spAutoFit/>
            </a:bodyPr>
            <a:lstStyle/>
            <a:p>
              <a:pPr algn="ctr">
                <a:lnSpc>
                  <a:spcPts val="5148"/>
                </a:lnSpc>
                <a:spcBef>
                  <a:spcPct val="0"/>
                </a:spcBef>
              </a:pPr>
              <a:r>
                <a:rPr lang="en-US" sz="3677" spc="-73" dirty="0">
                  <a:solidFill>
                    <a:srgbClr val="FFFFFF"/>
                  </a:solidFill>
                  <a:latin typeface="Bugaki"/>
                  <a:ea typeface="Bugaki"/>
                  <a:cs typeface="Bugaki"/>
                  <a:sym typeface="Bugaki"/>
                </a:rPr>
                <a:t>02</a:t>
              </a:r>
            </a:p>
          </p:txBody>
        </p:sp>
      </p:grpSp>
      <p:pic>
        <p:nvPicPr>
          <p:cNvPr id="18" name="Picture 17">
            <a:extLst>
              <a:ext uri="{FF2B5EF4-FFF2-40B4-BE49-F238E27FC236}">
                <a16:creationId xmlns:a16="http://schemas.microsoft.com/office/drawing/2014/main" id="{6C20C6C9-850A-BCC8-66B6-688B5D9095E0}"/>
              </a:ext>
            </a:extLst>
          </p:cNvPr>
          <p:cNvPicPr>
            <a:picLocks noChangeAspect="1"/>
          </p:cNvPicPr>
          <p:nvPr/>
        </p:nvPicPr>
        <p:blipFill>
          <a:blip r:embed="rId5"/>
          <a:stretch>
            <a:fillRect/>
          </a:stretch>
        </p:blipFill>
        <p:spPr>
          <a:xfrm>
            <a:off x="972468" y="1947994"/>
            <a:ext cx="2420269" cy="2420269"/>
          </a:xfrm>
          <a:prstGeom prst="rect">
            <a:avLst/>
          </a:prstGeom>
        </p:spPr>
      </p:pic>
      <p:pic>
        <p:nvPicPr>
          <p:cNvPr id="20" name="Picture 19">
            <a:extLst>
              <a:ext uri="{FF2B5EF4-FFF2-40B4-BE49-F238E27FC236}">
                <a16:creationId xmlns:a16="http://schemas.microsoft.com/office/drawing/2014/main" id="{39B01D67-E2EF-D718-70C3-E7D63244C527}"/>
              </a:ext>
            </a:extLst>
          </p:cNvPr>
          <p:cNvPicPr>
            <a:picLocks noChangeAspect="1"/>
          </p:cNvPicPr>
          <p:nvPr/>
        </p:nvPicPr>
        <p:blipFill>
          <a:blip r:embed="rId6"/>
          <a:stretch>
            <a:fillRect/>
          </a:stretch>
        </p:blipFill>
        <p:spPr>
          <a:xfrm>
            <a:off x="997489" y="6002928"/>
            <a:ext cx="2209800" cy="2209800"/>
          </a:xfrm>
          <a:prstGeom prst="rect">
            <a:avLst/>
          </a:prstGeom>
        </p:spPr>
      </p:pic>
      <p:pic>
        <p:nvPicPr>
          <p:cNvPr id="24" name="Picture 23">
            <a:extLst>
              <a:ext uri="{FF2B5EF4-FFF2-40B4-BE49-F238E27FC236}">
                <a16:creationId xmlns:a16="http://schemas.microsoft.com/office/drawing/2014/main" id="{F93B2A25-6124-8C36-93FC-AF6F73031A32}"/>
              </a:ext>
            </a:extLst>
          </p:cNvPr>
          <p:cNvPicPr>
            <a:picLocks noChangeAspect="1"/>
          </p:cNvPicPr>
          <p:nvPr/>
        </p:nvPicPr>
        <p:blipFill>
          <a:blip r:embed="rId7"/>
          <a:stretch>
            <a:fillRect/>
          </a:stretch>
        </p:blipFill>
        <p:spPr>
          <a:xfrm>
            <a:off x="9067800" y="1790700"/>
            <a:ext cx="2492990" cy="2492990"/>
          </a:xfrm>
          <a:prstGeom prst="rect">
            <a:avLst/>
          </a:prstGeom>
        </p:spPr>
      </p:pic>
      <p:pic>
        <p:nvPicPr>
          <p:cNvPr id="26" name="Picture 25">
            <a:extLst>
              <a:ext uri="{FF2B5EF4-FFF2-40B4-BE49-F238E27FC236}">
                <a16:creationId xmlns:a16="http://schemas.microsoft.com/office/drawing/2014/main" id="{A6F7A69D-DCBF-2EDA-BFCD-3C5CA8BEC38E}"/>
              </a:ext>
            </a:extLst>
          </p:cNvPr>
          <p:cNvPicPr>
            <a:picLocks noChangeAspect="1"/>
          </p:cNvPicPr>
          <p:nvPr/>
        </p:nvPicPr>
        <p:blipFill>
          <a:blip r:embed="rId8"/>
          <a:stretch>
            <a:fillRect/>
          </a:stretch>
        </p:blipFill>
        <p:spPr>
          <a:xfrm>
            <a:off x="9067800" y="5968839"/>
            <a:ext cx="2209800" cy="2209800"/>
          </a:xfrm>
          <a:prstGeom prst="rect">
            <a:avLst/>
          </a:prstGeom>
        </p:spPr>
      </p:pic>
      <p:sp>
        <p:nvSpPr>
          <p:cNvPr id="27" name="TextBox 26">
            <a:extLst>
              <a:ext uri="{FF2B5EF4-FFF2-40B4-BE49-F238E27FC236}">
                <a16:creationId xmlns:a16="http://schemas.microsoft.com/office/drawing/2014/main" id="{F8C19210-385A-BB86-8E6D-BFDF6C00E525}"/>
              </a:ext>
            </a:extLst>
          </p:cNvPr>
          <p:cNvSpPr txBox="1"/>
          <p:nvPr/>
        </p:nvSpPr>
        <p:spPr>
          <a:xfrm>
            <a:off x="3337805" y="1804737"/>
            <a:ext cx="5806195" cy="2893100"/>
          </a:xfrm>
          <a:prstGeom prst="rect">
            <a:avLst/>
          </a:prstGeom>
          <a:noFill/>
        </p:spPr>
        <p:txBody>
          <a:bodyPr wrap="square" rtlCol="0">
            <a:spAutoFit/>
          </a:bodyPr>
          <a:lstStyle/>
          <a:p>
            <a:r>
              <a:rPr lang="en-US" sz="2600" b="1" u="sng" dirty="0">
                <a:latin typeface="Arial" panose="020B0604020202020204" pitchFamily="34" charset="0"/>
                <a:cs typeface="Arial" panose="020B0604020202020204" pitchFamily="34" charset="0"/>
              </a:rPr>
              <a:t>Model Development</a:t>
            </a:r>
          </a:p>
          <a:p>
            <a:pPr marL="285750" indent="-285750">
              <a:buFont typeface="Arial" panose="020B0604020202020204" pitchFamily="34" charset="0"/>
              <a:buChar char="•"/>
            </a:pPr>
            <a:r>
              <a:rPr lang="en-US" sz="2600" dirty="0">
                <a:latin typeface="Arial" panose="020B0604020202020204" pitchFamily="34" charset="0"/>
                <a:cs typeface="Arial" panose="020B0604020202020204" pitchFamily="34" charset="0"/>
              </a:rPr>
              <a:t>Implement </a:t>
            </a:r>
            <a:r>
              <a:rPr lang="en-US" sz="2600" b="1" dirty="0">
                <a:latin typeface="Arial" panose="020B0604020202020204" pitchFamily="34" charset="0"/>
                <a:cs typeface="Arial" panose="020B0604020202020204" pitchFamily="34" charset="0"/>
              </a:rPr>
              <a:t>supervised</a:t>
            </a:r>
            <a:r>
              <a:rPr lang="en-US" sz="2600" dirty="0">
                <a:latin typeface="Arial" panose="020B0604020202020204" pitchFamily="34" charset="0"/>
                <a:cs typeface="Arial" panose="020B0604020202020204" pitchFamily="34" charset="0"/>
              </a:rPr>
              <a:t>, </a:t>
            </a:r>
            <a:r>
              <a:rPr lang="en-US" sz="2600" b="1" dirty="0">
                <a:latin typeface="Arial" panose="020B0604020202020204" pitchFamily="34" charset="0"/>
                <a:cs typeface="Arial" panose="020B0604020202020204" pitchFamily="34" charset="0"/>
              </a:rPr>
              <a:t>unsupervised</a:t>
            </a:r>
            <a:r>
              <a:rPr lang="en-US" sz="2600" dirty="0">
                <a:latin typeface="Arial" panose="020B0604020202020204" pitchFamily="34" charset="0"/>
                <a:cs typeface="Arial" panose="020B0604020202020204" pitchFamily="34" charset="0"/>
              </a:rPr>
              <a:t>,</a:t>
            </a:r>
            <a:br>
              <a:rPr lang="en-US" sz="2600" dirty="0">
                <a:latin typeface="Arial" panose="020B0604020202020204" pitchFamily="34" charset="0"/>
                <a:cs typeface="Arial" panose="020B0604020202020204" pitchFamily="34" charset="0"/>
              </a:rPr>
            </a:br>
            <a:r>
              <a:rPr lang="en-US" sz="2600" dirty="0">
                <a:latin typeface="Arial" panose="020B0604020202020204" pitchFamily="34" charset="0"/>
                <a:cs typeface="Arial" panose="020B0604020202020204" pitchFamily="34" charset="0"/>
              </a:rPr>
              <a:t>and </a:t>
            </a:r>
            <a:r>
              <a:rPr lang="en-US" sz="2600" b="1" dirty="0">
                <a:latin typeface="Arial" panose="020B0604020202020204" pitchFamily="34" charset="0"/>
                <a:cs typeface="Arial" panose="020B0604020202020204" pitchFamily="34" charset="0"/>
              </a:rPr>
              <a:t>state-of-the-art deep learning</a:t>
            </a:r>
            <a:br>
              <a:rPr lang="en-CA" sz="2600" b="1" dirty="0">
                <a:latin typeface="Arial" panose="020B0604020202020204" pitchFamily="34" charset="0"/>
                <a:cs typeface="Arial" panose="020B0604020202020204" pitchFamily="34" charset="0"/>
              </a:rPr>
            </a:br>
            <a:r>
              <a:rPr lang="en-CA" sz="2600" b="1" dirty="0">
                <a:latin typeface="Arial" panose="020B0604020202020204" pitchFamily="34" charset="0"/>
                <a:cs typeface="Arial" panose="020B0604020202020204" pitchFamily="34" charset="0"/>
              </a:rPr>
              <a:t>models</a:t>
            </a:r>
            <a:endParaRPr lang="en-CA" sz="26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CA" sz="2600" dirty="0">
                <a:latin typeface="Arial" panose="020B0604020202020204" pitchFamily="34" charset="0"/>
                <a:cs typeface="Arial" panose="020B0604020202020204" pitchFamily="34" charset="0"/>
              </a:rPr>
              <a:t>Focus on </a:t>
            </a:r>
            <a:r>
              <a:rPr lang="en-CA" sz="2600" b="1" dirty="0">
                <a:latin typeface="Arial" panose="020B0604020202020204" pitchFamily="34" charset="0"/>
                <a:cs typeface="Arial" panose="020B0604020202020204" pitchFamily="34" charset="0"/>
              </a:rPr>
              <a:t>image-based tumor classification using MRI scans</a:t>
            </a:r>
            <a:endParaRPr lang="en-US" sz="2600" dirty="0">
              <a:latin typeface="Arial" panose="020B0604020202020204" pitchFamily="34" charset="0"/>
              <a:cs typeface="Arial" panose="020B0604020202020204" pitchFamily="34" charset="0"/>
            </a:endParaRPr>
          </a:p>
        </p:txBody>
      </p:sp>
      <p:sp>
        <p:nvSpPr>
          <p:cNvPr id="28" name="TextBox 27">
            <a:extLst>
              <a:ext uri="{FF2B5EF4-FFF2-40B4-BE49-F238E27FC236}">
                <a16:creationId xmlns:a16="http://schemas.microsoft.com/office/drawing/2014/main" id="{917AB393-E05B-CE23-E8D2-B1A8074C2AAC}"/>
              </a:ext>
            </a:extLst>
          </p:cNvPr>
          <p:cNvSpPr txBox="1"/>
          <p:nvPr/>
        </p:nvSpPr>
        <p:spPr>
          <a:xfrm>
            <a:off x="3337805" y="5908000"/>
            <a:ext cx="5806195" cy="2893100"/>
          </a:xfrm>
          <a:prstGeom prst="rect">
            <a:avLst/>
          </a:prstGeom>
          <a:noFill/>
        </p:spPr>
        <p:txBody>
          <a:bodyPr wrap="square" rtlCol="0">
            <a:spAutoFit/>
          </a:bodyPr>
          <a:lstStyle/>
          <a:p>
            <a:r>
              <a:rPr lang="en-US" sz="2600" b="1" u="sng" dirty="0">
                <a:latin typeface="Arial" panose="020B0604020202020204" pitchFamily="34" charset="0"/>
                <a:cs typeface="Arial" panose="020B0604020202020204" pitchFamily="34" charset="0"/>
              </a:rPr>
              <a:t>Dataset Utilization</a:t>
            </a:r>
          </a:p>
          <a:p>
            <a:pPr marL="285750" indent="-285750">
              <a:buFont typeface="Arial" panose="020B0604020202020204" pitchFamily="34" charset="0"/>
              <a:buChar char="•"/>
            </a:pPr>
            <a:r>
              <a:rPr lang="en-US" sz="2600" dirty="0">
                <a:latin typeface="Arial" panose="020B0604020202020204" pitchFamily="34" charset="0"/>
                <a:cs typeface="Arial" panose="020B0604020202020204" pitchFamily="34" charset="0"/>
              </a:rPr>
              <a:t>Use the </a:t>
            </a:r>
            <a:r>
              <a:rPr lang="en-US" sz="2600" i="1" dirty="0">
                <a:latin typeface="Arial" panose="020B0604020202020204" pitchFamily="34" charset="0"/>
                <a:cs typeface="Arial" panose="020B0604020202020204" pitchFamily="34" charset="0"/>
              </a:rPr>
              <a:t>Brain MRI Images for Brain Tumor Detection </a:t>
            </a:r>
            <a:r>
              <a:rPr lang="en-US" sz="2600" dirty="0">
                <a:latin typeface="Arial" panose="020B0604020202020204" pitchFamily="34" charset="0"/>
                <a:cs typeface="Arial" panose="020B0604020202020204" pitchFamily="34" charset="0"/>
              </a:rPr>
              <a:t>dataset</a:t>
            </a:r>
          </a:p>
          <a:p>
            <a:pPr marL="285750" indent="-285750">
              <a:buFont typeface="Arial" panose="020B0604020202020204" pitchFamily="34" charset="0"/>
              <a:buChar char="•"/>
            </a:pPr>
            <a:r>
              <a:rPr lang="en-US" sz="2600" dirty="0">
                <a:latin typeface="Arial" panose="020B0604020202020204" pitchFamily="34" charset="0"/>
                <a:cs typeface="Arial" panose="020B0604020202020204" pitchFamily="34" charset="0"/>
              </a:rPr>
              <a:t>Includes T1-weighted, contrast-enhanced MRI scans</a:t>
            </a:r>
          </a:p>
          <a:p>
            <a:pPr marL="285750" indent="-285750">
              <a:buFont typeface="Arial" panose="020B0604020202020204" pitchFamily="34" charset="0"/>
              <a:buChar char="•"/>
            </a:pPr>
            <a:r>
              <a:rPr lang="en-US" sz="2600" dirty="0">
                <a:latin typeface="Arial" panose="020B0604020202020204" pitchFamily="34" charset="0"/>
                <a:cs typeface="Arial" panose="020B0604020202020204" pitchFamily="34" charset="0"/>
              </a:rPr>
              <a:t>Balanced: tumor vs non-tumor categories</a:t>
            </a:r>
          </a:p>
        </p:txBody>
      </p:sp>
      <p:sp>
        <p:nvSpPr>
          <p:cNvPr id="29" name="TextBox 28">
            <a:extLst>
              <a:ext uri="{FF2B5EF4-FFF2-40B4-BE49-F238E27FC236}">
                <a16:creationId xmlns:a16="http://schemas.microsoft.com/office/drawing/2014/main" id="{6DD286F7-13B5-887D-BEEC-85A1B377973C}"/>
              </a:ext>
            </a:extLst>
          </p:cNvPr>
          <p:cNvSpPr txBox="1"/>
          <p:nvPr/>
        </p:nvSpPr>
        <p:spPr>
          <a:xfrm>
            <a:off x="11789391" y="1804737"/>
            <a:ext cx="5806195" cy="2492990"/>
          </a:xfrm>
          <a:prstGeom prst="rect">
            <a:avLst/>
          </a:prstGeom>
          <a:noFill/>
        </p:spPr>
        <p:txBody>
          <a:bodyPr wrap="square" rtlCol="0">
            <a:spAutoFit/>
          </a:bodyPr>
          <a:lstStyle/>
          <a:p>
            <a:r>
              <a:rPr lang="en-US" sz="2600" b="1" u="sng" dirty="0">
                <a:latin typeface="Arial" panose="020B0604020202020204" pitchFamily="34" charset="0"/>
                <a:cs typeface="Arial" panose="020B0604020202020204" pitchFamily="34" charset="0"/>
              </a:rPr>
              <a:t>Tasks in Scope</a:t>
            </a:r>
          </a:p>
          <a:p>
            <a:pPr marL="285750" indent="-285750">
              <a:buFont typeface="Arial" panose="020B0604020202020204" pitchFamily="34" charset="0"/>
              <a:buChar char="•"/>
            </a:pPr>
            <a:r>
              <a:rPr lang="en-US" sz="2600" dirty="0">
                <a:latin typeface="Arial" panose="020B0604020202020204" pitchFamily="34" charset="0"/>
                <a:cs typeface="Arial" panose="020B0604020202020204" pitchFamily="34" charset="0"/>
              </a:rPr>
              <a:t>Data preprocessing and augmentation</a:t>
            </a:r>
          </a:p>
          <a:p>
            <a:pPr marL="285750" indent="-285750">
              <a:buFont typeface="Arial" panose="020B0604020202020204" pitchFamily="34" charset="0"/>
              <a:buChar char="•"/>
            </a:pPr>
            <a:r>
              <a:rPr lang="en-US" sz="2600" dirty="0">
                <a:latin typeface="Arial" panose="020B0604020202020204" pitchFamily="34" charset="0"/>
                <a:cs typeface="Arial" panose="020B0604020202020204" pitchFamily="34" charset="0"/>
              </a:rPr>
              <a:t>Model training and testing</a:t>
            </a:r>
          </a:p>
          <a:p>
            <a:pPr marL="285750" indent="-285750">
              <a:buFont typeface="Arial" panose="020B0604020202020204" pitchFamily="34" charset="0"/>
              <a:buChar char="•"/>
            </a:pPr>
            <a:r>
              <a:rPr lang="en-US" sz="2600" dirty="0">
                <a:latin typeface="Arial" panose="020B0604020202020204" pitchFamily="34" charset="0"/>
                <a:cs typeface="Arial" panose="020B0604020202020204" pitchFamily="34" charset="0"/>
              </a:rPr>
              <a:t>Evaluation of performance metrics: accuracy, recall, precision, f1 score</a:t>
            </a:r>
          </a:p>
        </p:txBody>
      </p:sp>
      <p:sp>
        <p:nvSpPr>
          <p:cNvPr id="30" name="TextBox 29">
            <a:extLst>
              <a:ext uri="{FF2B5EF4-FFF2-40B4-BE49-F238E27FC236}">
                <a16:creationId xmlns:a16="http://schemas.microsoft.com/office/drawing/2014/main" id="{8262FC84-2B04-7FE9-208A-DF61C2DB4761}"/>
              </a:ext>
            </a:extLst>
          </p:cNvPr>
          <p:cNvSpPr txBox="1"/>
          <p:nvPr/>
        </p:nvSpPr>
        <p:spPr>
          <a:xfrm>
            <a:off x="11789391" y="5856394"/>
            <a:ext cx="5806195" cy="1692771"/>
          </a:xfrm>
          <a:prstGeom prst="rect">
            <a:avLst/>
          </a:prstGeom>
          <a:noFill/>
        </p:spPr>
        <p:txBody>
          <a:bodyPr wrap="square" rtlCol="0">
            <a:spAutoFit/>
          </a:bodyPr>
          <a:lstStyle/>
          <a:p>
            <a:r>
              <a:rPr lang="en-US" sz="2600" b="1" u="sng" dirty="0">
                <a:latin typeface="Arial" panose="020B0604020202020204" pitchFamily="34" charset="0"/>
                <a:cs typeface="Arial" panose="020B0604020202020204" pitchFamily="34" charset="0"/>
              </a:rPr>
              <a:t>Out of Scope</a:t>
            </a:r>
          </a:p>
          <a:p>
            <a:pPr marL="285750" indent="-285750">
              <a:buFont typeface="Arial" panose="020B0604020202020204" pitchFamily="34" charset="0"/>
              <a:buChar char="•"/>
            </a:pPr>
            <a:r>
              <a:rPr lang="en-US" sz="2600" dirty="0">
                <a:latin typeface="Arial" panose="020B0604020202020204" pitchFamily="34" charset="0"/>
                <a:cs typeface="Arial" panose="020B0604020202020204" pitchFamily="34" charset="0"/>
              </a:rPr>
              <a:t>Clinical validation</a:t>
            </a:r>
          </a:p>
          <a:p>
            <a:pPr marL="285750" indent="-285750">
              <a:buFont typeface="Arial" panose="020B0604020202020204" pitchFamily="34" charset="0"/>
              <a:buChar char="•"/>
            </a:pPr>
            <a:r>
              <a:rPr lang="en-US" sz="2600" dirty="0">
                <a:latin typeface="Arial" panose="020B0604020202020204" pitchFamily="34" charset="0"/>
                <a:cs typeface="Arial" panose="020B0604020202020204" pitchFamily="34" charset="0"/>
              </a:rPr>
              <a:t>Hospital system integration</a:t>
            </a:r>
          </a:p>
          <a:p>
            <a:pPr marL="285750" indent="-285750">
              <a:buFont typeface="Arial" panose="020B0604020202020204" pitchFamily="34" charset="0"/>
              <a:buChar char="•"/>
            </a:pPr>
            <a:r>
              <a:rPr lang="en-US" sz="2600" dirty="0">
                <a:latin typeface="Arial" panose="020B0604020202020204" pitchFamily="34" charset="0"/>
                <a:cs typeface="Arial" panose="020B0604020202020204" pitchFamily="34" charset="0"/>
              </a:rPr>
              <a:t>Real-time deployment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CA"/>
          </a:p>
        </p:txBody>
      </p:sp>
      <p:grpSp>
        <p:nvGrpSpPr>
          <p:cNvPr id="3" name="Group 3"/>
          <p:cNvGrpSpPr/>
          <p:nvPr/>
        </p:nvGrpSpPr>
        <p:grpSpPr>
          <a:xfrm>
            <a:off x="17259300" y="8984615"/>
            <a:ext cx="1573962" cy="1573962"/>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3B54"/>
            </a:solidFill>
          </p:spPr>
          <p:txBody>
            <a:bodyPr/>
            <a:lstStyle/>
            <a:p>
              <a:endParaRPr lang="en-CA"/>
            </a:p>
          </p:txBody>
        </p:sp>
        <p:sp>
          <p:nvSpPr>
            <p:cNvPr id="5" name="TextBox 5"/>
            <p:cNvSpPr txBox="1"/>
            <p:nvPr/>
          </p:nvSpPr>
          <p:spPr>
            <a:xfrm>
              <a:off x="76200" y="66675"/>
              <a:ext cx="660400" cy="669925"/>
            </a:xfrm>
            <a:prstGeom prst="rect">
              <a:avLst/>
            </a:prstGeom>
          </p:spPr>
          <p:txBody>
            <a:bodyPr lIns="50800" tIns="50800" rIns="50800" bIns="50800" rtlCol="0" anchor="ctr"/>
            <a:lstStyle/>
            <a:p>
              <a:pPr algn="ctr">
                <a:lnSpc>
                  <a:spcPts val="3042"/>
                </a:lnSpc>
              </a:pPr>
              <a:endParaRPr/>
            </a:p>
          </p:txBody>
        </p:sp>
      </p:grpSp>
      <p:grpSp>
        <p:nvGrpSpPr>
          <p:cNvPr id="6" name="Group 6"/>
          <p:cNvGrpSpPr/>
          <p:nvPr/>
        </p:nvGrpSpPr>
        <p:grpSpPr>
          <a:xfrm>
            <a:off x="16303701" y="8984615"/>
            <a:ext cx="786981" cy="786981"/>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664"/>
            </a:solidFill>
          </p:spPr>
          <p:txBody>
            <a:bodyPr/>
            <a:lstStyle/>
            <a:p>
              <a:endParaRPr lang="en-CA"/>
            </a:p>
          </p:txBody>
        </p:sp>
        <p:sp>
          <p:nvSpPr>
            <p:cNvPr id="8" name="TextBox 8"/>
            <p:cNvSpPr txBox="1"/>
            <p:nvPr/>
          </p:nvSpPr>
          <p:spPr>
            <a:xfrm>
              <a:off x="76200" y="66675"/>
              <a:ext cx="660400" cy="669925"/>
            </a:xfrm>
            <a:prstGeom prst="rect">
              <a:avLst/>
            </a:prstGeom>
          </p:spPr>
          <p:txBody>
            <a:bodyPr lIns="50800" tIns="50800" rIns="50800" bIns="50800" rtlCol="0" anchor="ctr"/>
            <a:lstStyle/>
            <a:p>
              <a:pPr algn="ctr">
                <a:lnSpc>
                  <a:spcPts val="3042"/>
                </a:lnSpc>
              </a:pPr>
              <a:endParaRPr/>
            </a:p>
          </p:txBody>
        </p:sp>
      </p:grpSp>
      <p:sp>
        <p:nvSpPr>
          <p:cNvPr id="10" name="AutoShape 10"/>
          <p:cNvSpPr/>
          <p:nvPr/>
        </p:nvSpPr>
        <p:spPr>
          <a:xfrm>
            <a:off x="15925021" y="646179"/>
            <a:ext cx="2362979" cy="0"/>
          </a:xfrm>
          <a:prstGeom prst="line">
            <a:avLst/>
          </a:prstGeom>
          <a:ln w="47625" cap="flat">
            <a:solidFill>
              <a:srgbClr val="004664"/>
            </a:solidFill>
            <a:prstDash val="solid"/>
            <a:headEnd type="oval" w="lg" len="lg"/>
            <a:tailEnd type="none" w="sm" len="sm"/>
          </a:ln>
        </p:spPr>
        <p:txBody>
          <a:bodyPr/>
          <a:lstStyle/>
          <a:p>
            <a:endParaRPr lang="en-CA"/>
          </a:p>
        </p:txBody>
      </p:sp>
      <p:sp>
        <p:nvSpPr>
          <p:cNvPr id="11" name="TextBox 11"/>
          <p:cNvSpPr txBox="1"/>
          <p:nvPr/>
        </p:nvSpPr>
        <p:spPr>
          <a:xfrm>
            <a:off x="2171334" y="1232157"/>
            <a:ext cx="3925010" cy="958850"/>
          </a:xfrm>
          <a:prstGeom prst="rect">
            <a:avLst/>
          </a:prstGeom>
        </p:spPr>
        <p:txBody>
          <a:bodyPr lIns="0" tIns="0" rIns="0" bIns="0" rtlCol="0" anchor="t">
            <a:spAutoFit/>
          </a:bodyPr>
          <a:lstStyle/>
          <a:p>
            <a:pPr algn="l">
              <a:lnSpc>
                <a:spcPts val="7000"/>
              </a:lnSpc>
              <a:spcBef>
                <a:spcPct val="0"/>
              </a:spcBef>
            </a:pPr>
            <a:r>
              <a:rPr lang="en-US" sz="5000" spc="-100">
                <a:solidFill>
                  <a:srgbClr val="013B54"/>
                </a:solidFill>
                <a:latin typeface="Bugaki"/>
                <a:ea typeface="Bugaki"/>
                <a:cs typeface="Bugaki"/>
                <a:sym typeface="Bugaki"/>
              </a:rPr>
              <a:t>Dataset</a:t>
            </a:r>
          </a:p>
        </p:txBody>
      </p:sp>
      <p:grpSp>
        <p:nvGrpSpPr>
          <p:cNvPr id="12" name="Group 12"/>
          <p:cNvGrpSpPr/>
          <p:nvPr/>
        </p:nvGrpSpPr>
        <p:grpSpPr>
          <a:xfrm>
            <a:off x="1028700" y="1322841"/>
            <a:ext cx="977507" cy="977507"/>
            <a:chOff x="0" y="0"/>
            <a:chExt cx="1303342" cy="1303342"/>
          </a:xfrm>
        </p:grpSpPr>
        <p:sp>
          <p:nvSpPr>
            <p:cNvPr id="13" name="Freeform 13"/>
            <p:cNvSpPr/>
            <p:nvPr/>
          </p:nvSpPr>
          <p:spPr>
            <a:xfrm>
              <a:off x="0" y="0"/>
              <a:ext cx="1303342" cy="1303342"/>
            </a:xfrm>
            <a:custGeom>
              <a:avLst/>
              <a:gdLst/>
              <a:ahLst/>
              <a:cxnLst/>
              <a:rect l="l" t="t" r="r" b="b"/>
              <a:pathLst>
                <a:path w="1303342" h="1303342">
                  <a:moveTo>
                    <a:pt x="0" y="0"/>
                  </a:moveTo>
                  <a:lnTo>
                    <a:pt x="1303342" y="0"/>
                  </a:lnTo>
                  <a:lnTo>
                    <a:pt x="1303342" y="1303342"/>
                  </a:lnTo>
                  <a:lnTo>
                    <a:pt x="0" y="130334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CA"/>
            </a:p>
          </p:txBody>
        </p:sp>
        <p:sp>
          <p:nvSpPr>
            <p:cNvPr id="14" name="TextBox 14"/>
            <p:cNvSpPr txBox="1"/>
            <p:nvPr/>
          </p:nvSpPr>
          <p:spPr>
            <a:xfrm>
              <a:off x="0" y="135180"/>
              <a:ext cx="1303342" cy="890108"/>
            </a:xfrm>
            <a:prstGeom prst="rect">
              <a:avLst/>
            </a:prstGeom>
          </p:spPr>
          <p:txBody>
            <a:bodyPr lIns="0" tIns="0" rIns="0" bIns="0" rtlCol="0" anchor="t">
              <a:spAutoFit/>
            </a:bodyPr>
            <a:lstStyle/>
            <a:p>
              <a:pPr algn="ctr">
                <a:lnSpc>
                  <a:spcPts val="5148"/>
                </a:lnSpc>
                <a:spcBef>
                  <a:spcPct val="0"/>
                </a:spcBef>
              </a:pPr>
              <a:r>
                <a:rPr lang="en-US" sz="3677" spc="-73">
                  <a:solidFill>
                    <a:srgbClr val="FFFFFF"/>
                  </a:solidFill>
                  <a:latin typeface="Bugaki"/>
                  <a:ea typeface="Bugaki"/>
                  <a:cs typeface="Bugaki"/>
                  <a:sym typeface="Bugaki"/>
                </a:rPr>
                <a:t>03</a:t>
              </a:r>
            </a:p>
          </p:txBody>
        </p:sp>
      </p:grpSp>
      <p:pic>
        <p:nvPicPr>
          <p:cNvPr id="17" name="Picture 16">
            <a:extLst>
              <a:ext uri="{FF2B5EF4-FFF2-40B4-BE49-F238E27FC236}">
                <a16:creationId xmlns:a16="http://schemas.microsoft.com/office/drawing/2014/main" id="{A2D6DCF2-B73B-841E-75BA-511F965297EE}"/>
              </a:ext>
            </a:extLst>
          </p:cNvPr>
          <p:cNvPicPr>
            <a:picLocks noChangeAspect="1"/>
          </p:cNvPicPr>
          <p:nvPr/>
        </p:nvPicPr>
        <p:blipFill>
          <a:blip r:embed="rId5"/>
          <a:stretch>
            <a:fillRect/>
          </a:stretch>
        </p:blipFill>
        <p:spPr>
          <a:xfrm>
            <a:off x="982069" y="2401734"/>
            <a:ext cx="8064081" cy="4001520"/>
          </a:xfrm>
          <a:prstGeom prst="rect">
            <a:avLst/>
          </a:prstGeom>
        </p:spPr>
      </p:pic>
      <p:pic>
        <p:nvPicPr>
          <p:cNvPr id="19" name="Picture 18">
            <a:extLst>
              <a:ext uri="{FF2B5EF4-FFF2-40B4-BE49-F238E27FC236}">
                <a16:creationId xmlns:a16="http://schemas.microsoft.com/office/drawing/2014/main" id="{05F3B036-374A-D09C-E1E6-379B874AEA05}"/>
              </a:ext>
            </a:extLst>
          </p:cNvPr>
          <p:cNvPicPr>
            <a:picLocks noChangeAspect="1"/>
          </p:cNvPicPr>
          <p:nvPr/>
        </p:nvPicPr>
        <p:blipFill>
          <a:blip r:embed="rId6"/>
          <a:stretch>
            <a:fillRect/>
          </a:stretch>
        </p:blipFill>
        <p:spPr>
          <a:xfrm>
            <a:off x="9323136" y="80401"/>
            <a:ext cx="7860940" cy="3294973"/>
          </a:xfrm>
          <a:prstGeom prst="rect">
            <a:avLst/>
          </a:prstGeom>
        </p:spPr>
      </p:pic>
      <p:pic>
        <p:nvPicPr>
          <p:cNvPr id="21" name="Picture 20">
            <a:extLst>
              <a:ext uri="{FF2B5EF4-FFF2-40B4-BE49-F238E27FC236}">
                <a16:creationId xmlns:a16="http://schemas.microsoft.com/office/drawing/2014/main" id="{DEB32EE2-65A1-B176-9274-D9BA7C3814A7}"/>
              </a:ext>
            </a:extLst>
          </p:cNvPr>
          <p:cNvPicPr>
            <a:picLocks noChangeAspect="1"/>
          </p:cNvPicPr>
          <p:nvPr/>
        </p:nvPicPr>
        <p:blipFill>
          <a:blip r:embed="rId7"/>
          <a:stretch>
            <a:fillRect/>
          </a:stretch>
        </p:blipFill>
        <p:spPr>
          <a:xfrm>
            <a:off x="9253728" y="3416844"/>
            <a:ext cx="8064082" cy="3380121"/>
          </a:xfrm>
          <a:prstGeom prst="rect">
            <a:avLst/>
          </a:prstGeom>
        </p:spPr>
      </p:pic>
      <p:pic>
        <p:nvPicPr>
          <p:cNvPr id="23" name="Picture 22">
            <a:extLst>
              <a:ext uri="{FF2B5EF4-FFF2-40B4-BE49-F238E27FC236}">
                <a16:creationId xmlns:a16="http://schemas.microsoft.com/office/drawing/2014/main" id="{AFE0A289-EC17-040F-C948-1605374DD733}"/>
              </a:ext>
            </a:extLst>
          </p:cNvPr>
          <p:cNvPicPr>
            <a:picLocks noChangeAspect="1"/>
          </p:cNvPicPr>
          <p:nvPr/>
        </p:nvPicPr>
        <p:blipFill>
          <a:blip r:embed="rId8"/>
          <a:stretch>
            <a:fillRect/>
          </a:stretch>
        </p:blipFill>
        <p:spPr>
          <a:xfrm>
            <a:off x="9315224" y="6852256"/>
            <a:ext cx="8002586" cy="3354344"/>
          </a:xfrm>
          <a:prstGeom prst="rect">
            <a:avLst/>
          </a:prstGeom>
        </p:spPr>
      </p:pic>
      <p:pic>
        <p:nvPicPr>
          <p:cNvPr id="25" name="Picture 24">
            <a:extLst>
              <a:ext uri="{FF2B5EF4-FFF2-40B4-BE49-F238E27FC236}">
                <a16:creationId xmlns:a16="http://schemas.microsoft.com/office/drawing/2014/main" id="{38502AE1-4E35-2793-28CA-12B6C0324C56}"/>
              </a:ext>
            </a:extLst>
          </p:cNvPr>
          <p:cNvPicPr>
            <a:picLocks noChangeAspect="1"/>
          </p:cNvPicPr>
          <p:nvPr/>
        </p:nvPicPr>
        <p:blipFill>
          <a:blip r:embed="rId9"/>
          <a:stretch>
            <a:fillRect/>
          </a:stretch>
        </p:blipFill>
        <p:spPr>
          <a:xfrm>
            <a:off x="1028700" y="6504640"/>
            <a:ext cx="7771141" cy="2866750"/>
          </a:xfrm>
          <a:prstGeom prst="rect">
            <a:avLst/>
          </a:prstGeom>
        </p:spPr>
      </p:pic>
      <p:sp>
        <p:nvSpPr>
          <p:cNvPr id="9" name="AutoShape 9"/>
          <p:cNvSpPr/>
          <p:nvPr/>
        </p:nvSpPr>
        <p:spPr>
          <a:xfrm>
            <a:off x="0" y="9723971"/>
            <a:ext cx="9144000" cy="0"/>
          </a:xfrm>
          <a:prstGeom prst="line">
            <a:avLst/>
          </a:prstGeom>
          <a:ln w="47625" cap="flat">
            <a:solidFill>
              <a:srgbClr val="004664"/>
            </a:solidFill>
            <a:prstDash val="solid"/>
            <a:headEnd type="none" w="sm" len="sm"/>
            <a:tailEnd type="oval" w="lg" len="lg"/>
          </a:ln>
        </p:spPr>
        <p:txBody>
          <a:bodyPr/>
          <a:lstStyle/>
          <a:p>
            <a:endParaRPr lang="en-CA"/>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CA"/>
          </a:p>
        </p:txBody>
      </p:sp>
      <p:grpSp>
        <p:nvGrpSpPr>
          <p:cNvPr id="3" name="Group 3"/>
          <p:cNvGrpSpPr/>
          <p:nvPr/>
        </p:nvGrpSpPr>
        <p:grpSpPr>
          <a:xfrm>
            <a:off x="17259300" y="8984615"/>
            <a:ext cx="1573962" cy="1573962"/>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3B54"/>
            </a:solidFill>
          </p:spPr>
          <p:txBody>
            <a:bodyPr/>
            <a:lstStyle/>
            <a:p>
              <a:endParaRPr lang="en-CA"/>
            </a:p>
          </p:txBody>
        </p:sp>
        <p:sp>
          <p:nvSpPr>
            <p:cNvPr id="5" name="TextBox 5"/>
            <p:cNvSpPr txBox="1"/>
            <p:nvPr/>
          </p:nvSpPr>
          <p:spPr>
            <a:xfrm>
              <a:off x="76200" y="66675"/>
              <a:ext cx="660400" cy="669925"/>
            </a:xfrm>
            <a:prstGeom prst="rect">
              <a:avLst/>
            </a:prstGeom>
          </p:spPr>
          <p:txBody>
            <a:bodyPr lIns="50800" tIns="50800" rIns="50800" bIns="50800" rtlCol="0" anchor="ctr"/>
            <a:lstStyle/>
            <a:p>
              <a:pPr algn="ctr">
                <a:lnSpc>
                  <a:spcPts val="3042"/>
                </a:lnSpc>
              </a:pPr>
              <a:endParaRPr/>
            </a:p>
          </p:txBody>
        </p:sp>
      </p:grpSp>
      <p:grpSp>
        <p:nvGrpSpPr>
          <p:cNvPr id="6" name="Group 6"/>
          <p:cNvGrpSpPr/>
          <p:nvPr/>
        </p:nvGrpSpPr>
        <p:grpSpPr>
          <a:xfrm>
            <a:off x="16303701" y="8984615"/>
            <a:ext cx="786981" cy="786981"/>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664"/>
            </a:solidFill>
          </p:spPr>
          <p:txBody>
            <a:bodyPr/>
            <a:lstStyle/>
            <a:p>
              <a:endParaRPr lang="en-CA"/>
            </a:p>
          </p:txBody>
        </p:sp>
        <p:sp>
          <p:nvSpPr>
            <p:cNvPr id="8" name="TextBox 8"/>
            <p:cNvSpPr txBox="1"/>
            <p:nvPr/>
          </p:nvSpPr>
          <p:spPr>
            <a:xfrm>
              <a:off x="76200" y="66675"/>
              <a:ext cx="660400" cy="669925"/>
            </a:xfrm>
            <a:prstGeom prst="rect">
              <a:avLst/>
            </a:prstGeom>
          </p:spPr>
          <p:txBody>
            <a:bodyPr lIns="50800" tIns="50800" rIns="50800" bIns="50800" rtlCol="0" anchor="ctr"/>
            <a:lstStyle/>
            <a:p>
              <a:pPr algn="ctr">
                <a:lnSpc>
                  <a:spcPts val="3042"/>
                </a:lnSpc>
              </a:pPr>
              <a:endParaRPr/>
            </a:p>
          </p:txBody>
        </p:sp>
      </p:grpSp>
      <p:sp>
        <p:nvSpPr>
          <p:cNvPr id="9" name="AutoShape 9"/>
          <p:cNvSpPr/>
          <p:nvPr/>
        </p:nvSpPr>
        <p:spPr>
          <a:xfrm>
            <a:off x="0" y="9723971"/>
            <a:ext cx="9144000" cy="0"/>
          </a:xfrm>
          <a:prstGeom prst="line">
            <a:avLst/>
          </a:prstGeom>
          <a:ln w="47625" cap="flat">
            <a:solidFill>
              <a:srgbClr val="004664"/>
            </a:solidFill>
            <a:prstDash val="solid"/>
            <a:headEnd type="none" w="sm" len="sm"/>
            <a:tailEnd type="oval" w="lg" len="lg"/>
          </a:ln>
        </p:spPr>
        <p:txBody>
          <a:bodyPr/>
          <a:lstStyle/>
          <a:p>
            <a:endParaRPr lang="en-CA"/>
          </a:p>
        </p:txBody>
      </p:sp>
      <p:sp>
        <p:nvSpPr>
          <p:cNvPr id="10" name="AutoShape 10"/>
          <p:cNvSpPr/>
          <p:nvPr/>
        </p:nvSpPr>
        <p:spPr>
          <a:xfrm>
            <a:off x="15925021" y="646179"/>
            <a:ext cx="2362979" cy="0"/>
          </a:xfrm>
          <a:prstGeom prst="line">
            <a:avLst/>
          </a:prstGeom>
          <a:ln w="47625" cap="flat">
            <a:solidFill>
              <a:srgbClr val="004664"/>
            </a:solidFill>
            <a:prstDash val="solid"/>
            <a:headEnd type="oval" w="lg" len="lg"/>
            <a:tailEnd type="none" w="sm" len="sm"/>
          </a:ln>
        </p:spPr>
        <p:txBody>
          <a:bodyPr/>
          <a:lstStyle/>
          <a:p>
            <a:endParaRPr lang="en-CA"/>
          </a:p>
        </p:txBody>
      </p:sp>
      <p:sp>
        <p:nvSpPr>
          <p:cNvPr id="11" name="TextBox 11"/>
          <p:cNvSpPr txBox="1"/>
          <p:nvPr/>
        </p:nvSpPr>
        <p:spPr>
          <a:xfrm>
            <a:off x="1455472" y="748517"/>
            <a:ext cx="7650997" cy="958850"/>
          </a:xfrm>
          <a:prstGeom prst="rect">
            <a:avLst/>
          </a:prstGeom>
        </p:spPr>
        <p:txBody>
          <a:bodyPr lIns="0" tIns="0" rIns="0" bIns="0" rtlCol="0" anchor="t">
            <a:spAutoFit/>
          </a:bodyPr>
          <a:lstStyle/>
          <a:p>
            <a:pPr algn="l">
              <a:lnSpc>
                <a:spcPts val="7000"/>
              </a:lnSpc>
              <a:spcBef>
                <a:spcPct val="0"/>
              </a:spcBef>
            </a:pPr>
            <a:r>
              <a:rPr lang="en-US" sz="5000" spc="-100" dirty="0">
                <a:solidFill>
                  <a:srgbClr val="013B54"/>
                </a:solidFill>
                <a:latin typeface="Bugaki"/>
                <a:ea typeface="Bugaki"/>
                <a:cs typeface="Bugaki"/>
                <a:sym typeface="Bugaki"/>
              </a:rPr>
              <a:t>Preprocessing</a:t>
            </a:r>
          </a:p>
        </p:txBody>
      </p:sp>
      <p:grpSp>
        <p:nvGrpSpPr>
          <p:cNvPr id="12" name="Group 12"/>
          <p:cNvGrpSpPr/>
          <p:nvPr/>
        </p:nvGrpSpPr>
        <p:grpSpPr>
          <a:xfrm>
            <a:off x="312838" y="839201"/>
            <a:ext cx="977507" cy="977507"/>
            <a:chOff x="0" y="0"/>
            <a:chExt cx="1303342" cy="1303342"/>
          </a:xfrm>
        </p:grpSpPr>
        <p:sp>
          <p:nvSpPr>
            <p:cNvPr id="13" name="Freeform 13"/>
            <p:cNvSpPr/>
            <p:nvPr/>
          </p:nvSpPr>
          <p:spPr>
            <a:xfrm>
              <a:off x="0" y="0"/>
              <a:ext cx="1303342" cy="1303342"/>
            </a:xfrm>
            <a:custGeom>
              <a:avLst/>
              <a:gdLst/>
              <a:ahLst/>
              <a:cxnLst/>
              <a:rect l="l" t="t" r="r" b="b"/>
              <a:pathLst>
                <a:path w="1303342" h="1303342">
                  <a:moveTo>
                    <a:pt x="0" y="0"/>
                  </a:moveTo>
                  <a:lnTo>
                    <a:pt x="1303342" y="0"/>
                  </a:lnTo>
                  <a:lnTo>
                    <a:pt x="1303342" y="1303342"/>
                  </a:lnTo>
                  <a:lnTo>
                    <a:pt x="0" y="130334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CA"/>
            </a:p>
          </p:txBody>
        </p:sp>
        <p:sp>
          <p:nvSpPr>
            <p:cNvPr id="14" name="TextBox 14"/>
            <p:cNvSpPr txBox="1"/>
            <p:nvPr/>
          </p:nvSpPr>
          <p:spPr>
            <a:xfrm>
              <a:off x="0" y="135180"/>
              <a:ext cx="1303342" cy="890108"/>
            </a:xfrm>
            <a:prstGeom prst="rect">
              <a:avLst/>
            </a:prstGeom>
          </p:spPr>
          <p:txBody>
            <a:bodyPr lIns="0" tIns="0" rIns="0" bIns="0" rtlCol="0" anchor="t">
              <a:spAutoFit/>
            </a:bodyPr>
            <a:lstStyle/>
            <a:p>
              <a:pPr algn="ctr">
                <a:lnSpc>
                  <a:spcPts val="5148"/>
                </a:lnSpc>
                <a:spcBef>
                  <a:spcPct val="0"/>
                </a:spcBef>
              </a:pPr>
              <a:r>
                <a:rPr lang="en-US" sz="3677" spc="-73" dirty="0">
                  <a:solidFill>
                    <a:srgbClr val="FFFFFF"/>
                  </a:solidFill>
                  <a:latin typeface="Bugaki"/>
                  <a:ea typeface="Bugaki"/>
                  <a:cs typeface="Bugaki"/>
                  <a:sym typeface="Bugaki"/>
                </a:rPr>
                <a:t>04</a:t>
              </a:r>
            </a:p>
          </p:txBody>
        </p:sp>
      </p:grpSp>
      <p:pic>
        <p:nvPicPr>
          <p:cNvPr id="19" name="Picture 18">
            <a:extLst>
              <a:ext uri="{FF2B5EF4-FFF2-40B4-BE49-F238E27FC236}">
                <a16:creationId xmlns:a16="http://schemas.microsoft.com/office/drawing/2014/main" id="{E59648AD-1483-1934-36B8-997BBE251369}"/>
              </a:ext>
            </a:extLst>
          </p:cNvPr>
          <p:cNvPicPr>
            <a:picLocks noChangeAspect="1"/>
          </p:cNvPicPr>
          <p:nvPr/>
        </p:nvPicPr>
        <p:blipFill>
          <a:blip r:embed="rId6"/>
          <a:stretch>
            <a:fillRect/>
          </a:stretch>
        </p:blipFill>
        <p:spPr>
          <a:xfrm>
            <a:off x="168715" y="2584732"/>
            <a:ext cx="8518085" cy="5439647"/>
          </a:xfrm>
          <a:prstGeom prst="rect">
            <a:avLst/>
          </a:prstGeom>
        </p:spPr>
      </p:pic>
      <p:pic>
        <p:nvPicPr>
          <p:cNvPr id="21" name="Picture 20">
            <a:extLst>
              <a:ext uri="{FF2B5EF4-FFF2-40B4-BE49-F238E27FC236}">
                <a16:creationId xmlns:a16="http://schemas.microsoft.com/office/drawing/2014/main" id="{3B3D23AF-5591-043E-B290-4E4C7F9A4FE3}"/>
              </a:ext>
            </a:extLst>
          </p:cNvPr>
          <p:cNvPicPr>
            <a:picLocks noChangeAspect="1"/>
          </p:cNvPicPr>
          <p:nvPr/>
        </p:nvPicPr>
        <p:blipFill>
          <a:blip r:embed="rId7"/>
          <a:stretch>
            <a:fillRect/>
          </a:stretch>
        </p:blipFill>
        <p:spPr>
          <a:xfrm>
            <a:off x="8770646" y="968762"/>
            <a:ext cx="9275635" cy="834947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CA"/>
          </a:p>
        </p:txBody>
      </p:sp>
      <p:grpSp>
        <p:nvGrpSpPr>
          <p:cNvPr id="3" name="Group 3"/>
          <p:cNvGrpSpPr/>
          <p:nvPr/>
        </p:nvGrpSpPr>
        <p:grpSpPr>
          <a:xfrm>
            <a:off x="17259300" y="8984615"/>
            <a:ext cx="1573962" cy="1573962"/>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3B54"/>
            </a:solidFill>
          </p:spPr>
          <p:txBody>
            <a:bodyPr/>
            <a:lstStyle/>
            <a:p>
              <a:endParaRPr lang="en-CA"/>
            </a:p>
          </p:txBody>
        </p:sp>
        <p:sp>
          <p:nvSpPr>
            <p:cNvPr id="5" name="TextBox 5"/>
            <p:cNvSpPr txBox="1"/>
            <p:nvPr/>
          </p:nvSpPr>
          <p:spPr>
            <a:xfrm>
              <a:off x="76200" y="66675"/>
              <a:ext cx="660400" cy="669925"/>
            </a:xfrm>
            <a:prstGeom prst="rect">
              <a:avLst/>
            </a:prstGeom>
          </p:spPr>
          <p:txBody>
            <a:bodyPr lIns="50800" tIns="50800" rIns="50800" bIns="50800" rtlCol="0" anchor="ctr"/>
            <a:lstStyle/>
            <a:p>
              <a:pPr algn="ctr">
                <a:lnSpc>
                  <a:spcPts val="3042"/>
                </a:lnSpc>
              </a:pPr>
              <a:endParaRPr/>
            </a:p>
          </p:txBody>
        </p:sp>
      </p:grpSp>
      <p:grpSp>
        <p:nvGrpSpPr>
          <p:cNvPr id="6" name="Group 6"/>
          <p:cNvGrpSpPr/>
          <p:nvPr/>
        </p:nvGrpSpPr>
        <p:grpSpPr>
          <a:xfrm>
            <a:off x="16303701" y="8984615"/>
            <a:ext cx="786981" cy="786981"/>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664"/>
            </a:solidFill>
          </p:spPr>
          <p:txBody>
            <a:bodyPr/>
            <a:lstStyle/>
            <a:p>
              <a:endParaRPr lang="en-CA"/>
            </a:p>
          </p:txBody>
        </p:sp>
        <p:sp>
          <p:nvSpPr>
            <p:cNvPr id="8" name="TextBox 8"/>
            <p:cNvSpPr txBox="1"/>
            <p:nvPr/>
          </p:nvSpPr>
          <p:spPr>
            <a:xfrm>
              <a:off x="76200" y="66675"/>
              <a:ext cx="660400" cy="669925"/>
            </a:xfrm>
            <a:prstGeom prst="rect">
              <a:avLst/>
            </a:prstGeom>
          </p:spPr>
          <p:txBody>
            <a:bodyPr lIns="50800" tIns="50800" rIns="50800" bIns="50800" rtlCol="0" anchor="ctr"/>
            <a:lstStyle/>
            <a:p>
              <a:pPr algn="ctr">
                <a:lnSpc>
                  <a:spcPts val="3042"/>
                </a:lnSpc>
              </a:pPr>
              <a:endParaRPr/>
            </a:p>
          </p:txBody>
        </p:sp>
      </p:grpSp>
      <p:sp>
        <p:nvSpPr>
          <p:cNvPr id="9" name="AutoShape 9"/>
          <p:cNvSpPr/>
          <p:nvPr/>
        </p:nvSpPr>
        <p:spPr>
          <a:xfrm>
            <a:off x="0" y="9723971"/>
            <a:ext cx="9144000" cy="0"/>
          </a:xfrm>
          <a:prstGeom prst="line">
            <a:avLst/>
          </a:prstGeom>
          <a:ln w="47625" cap="flat">
            <a:solidFill>
              <a:srgbClr val="004664"/>
            </a:solidFill>
            <a:prstDash val="solid"/>
            <a:headEnd type="none" w="sm" len="sm"/>
            <a:tailEnd type="oval" w="lg" len="lg"/>
          </a:ln>
        </p:spPr>
        <p:txBody>
          <a:bodyPr/>
          <a:lstStyle/>
          <a:p>
            <a:endParaRPr lang="en-CA"/>
          </a:p>
        </p:txBody>
      </p:sp>
      <p:sp>
        <p:nvSpPr>
          <p:cNvPr id="10" name="AutoShape 10"/>
          <p:cNvSpPr/>
          <p:nvPr/>
        </p:nvSpPr>
        <p:spPr>
          <a:xfrm>
            <a:off x="15925021" y="646179"/>
            <a:ext cx="2362979" cy="0"/>
          </a:xfrm>
          <a:prstGeom prst="line">
            <a:avLst/>
          </a:prstGeom>
          <a:ln w="47625" cap="flat">
            <a:solidFill>
              <a:srgbClr val="004664"/>
            </a:solidFill>
            <a:prstDash val="solid"/>
            <a:headEnd type="oval" w="lg" len="lg"/>
            <a:tailEnd type="none" w="sm" len="sm"/>
          </a:ln>
        </p:spPr>
        <p:txBody>
          <a:bodyPr/>
          <a:lstStyle/>
          <a:p>
            <a:endParaRPr lang="en-CA"/>
          </a:p>
        </p:txBody>
      </p:sp>
      <p:sp>
        <p:nvSpPr>
          <p:cNvPr id="11" name="TextBox 11"/>
          <p:cNvSpPr txBox="1"/>
          <p:nvPr/>
        </p:nvSpPr>
        <p:spPr>
          <a:xfrm>
            <a:off x="2171334" y="1232157"/>
            <a:ext cx="7650997" cy="958850"/>
          </a:xfrm>
          <a:prstGeom prst="rect">
            <a:avLst/>
          </a:prstGeom>
        </p:spPr>
        <p:txBody>
          <a:bodyPr lIns="0" tIns="0" rIns="0" bIns="0" rtlCol="0" anchor="t">
            <a:spAutoFit/>
          </a:bodyPr>
          <a:lstStyle/>
          <a:p>
            <a:pPr algn="l">
              <a:lnSpc>
                <a:spcPts val="7000"/>
              </a:lnSpc>
              <a:spcBef>
                <a:spcPct val="0"/>
              </a:spcBef>
            </a:pPr>
            <a:r>
              <a:rPr lang="en-US" sz="5000" spc="-100">
                <a:solidFill>
                  <a:srgbClr val="013B54"/>
                </a:solidFill>
                <a:latin typeface="Bugaki"/>
                <a:ea typeface="Bugaki"/>
                <a:cs typeface="Bugaki"/>
                <a:sym typeface="Bugaki"/>
              </a:rPr>
              <a:t>Supervised Learning</a:t>
            </a:r>
          </a:p>
        </p:txBody>
      </p:sp>
      <p:grpSp>
        <p:nvGrpSpPr>
          <p:cNvPr id="12" name="Group 12"/>
          <p:cNvGrpSpPr/>
          <p:nvPr/>
        </p:nvGrpSpPr>
        <p:grpSpPr>
          <a:xfrm>
            <a:off x="1028700" y="1322841"/>
            <a:ext cx="977507" cy="977507"/>
            <a:chOff x="0" y="0"/>
            <a:chExt cx="1303342" cy="1303342"/>
          </a:xfrm>
        </p:grpSpPr>
        <p:sp>
          <p:nvSpPr>
            <p:cNvPr id="13" name="Freeform 13"/>
            <p:cNvSpPr/>
            <p:nvPr/>
          </p:nvSpPr>
          <p:spPr>
            <a:xfrm>
              <a:off x="0" y="0"/>
              <a:ext cx="1303342" cy="1303342"/>
            </a:xfrm>
            <a:custGeom>
              <a:avLst/>
              <a:gdLst/>
              <a:ahLst/>
              <a:cxnLst/>
              <a:rect l="l" t="t" r="r" b="b"/>
              <a:pathLst>
                <a:path w="1303342" h="1303342">
                  <a:moveTo>
                    <a:pt x="0" y="0"/>
                  </a:moveTo>
                  <a:lnTo>
                    <a:pt x="1303342" y="0"/>
                  </a:lnTo>
                  <a:lnTo>
                    <a:pt x="1303342" y="1303342"/>
                  </a:lnTo>
                  <a:lnTo>
                    <a:pt x="0" y="130334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CA"/>
            </a:p>
          </p:txBody>
        </p:sp>
        <p:sp>
          <p:nvSpPr>
            <p:cNvPr id="14" name="TextBox 14"/>
            <p:cNvSpPr txBox="1"/>
            <p:nvPr/>
          </p:nvSpPr>
          <p:spPr>
            <a:xfrm>
              <a:off x="0" y="135180"/>
              <a:ext cx="1303342" cy="890108"/>
            </a:xfrm>
            <a:prstGeom prst="rect">
              <a:avLst/>
            </a:prstGeom>
          </p:spPr>
          <p:txBody>
            <a:bodyPr lIns="0" tIns="0" rIns="0" bIns="0" rtlCol="0" anchor="t">
              <a:spAutoFit/>
            </a:bodyPr>
            <a:lstStyle/>
            <a:p>
              <a:pPr algn="ctr">
                <a:lnSpc>
                  <a:spcPts val="5148"/>
                </a:lnSpc>
                <a:spcBef>
                  <a:spcPct val="0"/>
                </a:spcBef>
              </a:pPr>
              <a:r>
                <a:rPr lang="en-US" sz="3677" spc="-73">
                  <a:solidFill>
                    <a:srgbClr val="FFFFFF"/>
                  </a:solidFill>
                  <a:latin typeface="Bugaki"/>
                  <a:ea typeface="Bugaki"/>
                  <a:cs typeface="Bugaki"/>
                  <a:sym typeface="Bugaki"/>
                </a:rPr>
                <a:t>05</a:t>
              </a:r>
            </a:p>
          </p:txBody>
        </p:sp>
      </p:grpSp>
      <p:pic>
        <p:nvPicPr>
          <p:cNvPr id="16" name="Picture 15">
            <a:extLst>
              <a:ext uri="{FF2B5EF4-FFF2-40B4-BE49-F238E27FC236}">
                <a16:creationId xmlns:a16="http://schemas.microsoft.com/office/drawing/2014/main" id="{261B59F5-B317-AF68-0B97-D8EF0FD8B57C}"/>
              </a:ext>
            </a:extLst>
          </p:cNvPr>
          <p:cNvPicPr>
            <a:picLocks noChangeAspect="1"/>
          </p:cNvPicPr>
          <p:nvPr/>
        </p:nvPicPr>
        <p:blipFill>
          <a:blip r:embed="rId5"/>
          <a:stretch>
            <a:fillRect/>
          </a:stretch>
        </p:blipFill>
        <p:spPr>
          <a:xfrm>
            <a:off x="1027435" y="2574000"/>
            <a:ext cx="7170129" cy="6705000"/>
          </a:xfrm>
          <a:prstGeom prst="rect">
            <a:avLst/>
          </a:prstGeom>
        </p:spPr>
      </p:pic>
      <p:pic>
        <p:nvPicPr>
          <p:cNvPr id="15" name="Picture 14">
            <a:extLst>
              <a:ext uri="{FF2B5EF4-FFF2-40B4-BE49-F238E27FC236}">
                <a16:creationId xmlns:a16="http://schemas.microsoft.com/office/drawing/2014/main" id="{AD7C99CB-4A9C-AF6C-FB6F-E4FA99B18DDD}"/>
              </a:ext>
            </a:extLst>
          </p:cNvPr>
          <p:cNvPicPr>
            <a:picLocks noChangeAspect="1"/>
          </p:cNvPicPr>
          <p:nvPr/>
        </p:nvPicPr>
        <p:blipFill>
          <a:blip r:embed="rId6"/>
          <a:stretch>
            <a:fillRect/>
          </a:stretch>
        </p:blipFill>
        <p:spPr>
          <a:xfrm>
            <a:off x="8734424" y="6296025"/>
            <a:ext cx="7562851" cy="3095625"/>
          </a:xfrm>
          <a:prstGeom prst="rect">
            <a:avLst/>
          </a:prstGeom>
        </p:spPr>
      </p:pic>
      <p:pic>
        <p:nvPicPr>
          <p:cNvPr id="21" name="Picture 20">
            <a:extLst>
              <a:ext uri="{FF2B5EF4-FFF2-40B4-BE49-F238E27FC236}">
                <a16:creationId xmlns:a16="http://schemas.microsoft.com/office/drawing/2014/main" id="{EBE5EE5E-C4D6-016F-4AD0-093A5C250D1C}"/>
              </a:ext>
            </a:extLst>
          </p:cNvPr>
          <p:cNvPicPr>
            <a:picLocks noChangeAspect="1"/>
          </p:cNvPicPr>
          <p:nvPr/>
        </p:nvPicPr>
        <p:blipFill>
          <a:blip r:embed="rId7"/>
          <a:stretch>
            <a:fillRect/>
          </a:stretch>
        </p:blipFill>
        <p:spPr>
          <a:xfrm>
            <a:off x="9472613" y="647700"/>
            <a:ext cx="5843587" cy="526256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CA"/>
          </a:p>
        </p:txBody>
      </p:sp>
      <p:grpSp>
        <p:nvGrpSpPr>
          <p:cNvPr id="3" name="Group 3"/>
          <p:cNvGrpSpPr/>
          <p:nvPr/>
        </p:nvGrpSpPr>
        <p:grpSpPr>
          <a:xfrm>
            <a:off x="17259300" y="8984615"/>
            <a:ext cx="1573962" cy="1573962"/>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3B54"/>
            </a:solidFill>
          </p:spPr>
          <p:txBody>
            <a:bodyPr/>
            <a:lstStyle/>
            <a:p>
              <a:endParaRPr lang="en-CA"/>
            </a:p>
          </p:txBody>
        </p:sp>
        <p:sp>
          <p:nvSpPr>
            <p:cNvPr id="5" name="TextBox 5"/>
            <p:cNvSpPr txBox="1"/>
            <p:nvPr/>
          </p:nvSpPr>
          <p:spPr>
            <a:xfrm>
              <a:off x="76200" y="66675"/>
              <a:ext cx="660400" cy="669925"/>
            </a:xfrm>
            <a:prstGeom prst="rect">
              <a:avLst/>
            </a:prstGeom>
          </p:spPr>
          <p:txBody>
            <a:bodyPr lIns="50800" tIns="50800" rIns="50800" bIns="50800" rtlCol="0" anchor="ctr"/>
            <a:lstStyle/>
            <a:p>
              <a:pPr algn="ctr">
                <a:lnSpc>
                  <a:spcPts val="3042"/>
                </a:lnSpc>
              </a:pPr>
              <a:endParaRPr/>
            </a:p>
          </p:txBody>
        </p:sp>
      </p:grpSp>
      <p:grpSp>
        <p:nvGrpSpPr>
          <p:cNvPr id="6" name="Group 6"/>
          <p:cNvGrpSpPr/>
          <p:nvPr/>
        </p:nvGrpSpPr>
        <p:grpSpPr>
          <a:xfrm>
            <a:off x="16303701" y="8984615"/>
            <a:ext cx="786981" cy="786981"/>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664"/>
            </a:solidFill>
          </p:spPr>
          <p:txBody>
            <a:bodyPr/>
            <a:lstStyle/>
            <a:p>
              <a:endParaRPr lang="en-CA"/>
            </a:p>
          </p:txBody>
        </p:sp>
        <p:sp>
          <p:nvSpPr>
            <p:cNvPr id="8" name="TextBox 8"/>
            <p:cNvSpPr txBox="1"/>
            <p:nvPr/>
          </p:nvSpPr>
          <p:spPr>
            <a:xfrm>
              <a:off x="76200" y="66675"/>
              <a:ext cx="660400" cy="669925"/>
            </a:xfrm>
            <a:prstGeom prst="rect">
              <a:avLst/>
            </a:prstGeom>
          </p:spPr>
          <p:txBody>
            <a:bodyPr lIns="50800" tIns="50800" rIns="50800" bIns="50800" rtlCol="0" anchor="ctr"/>
            <a:lstStyle/>
            <a:p>
              <a:pPr algn="ctr">
                <a:lnSpc>
                  <a:spcPts val="3042"/>
                </a:lnSpc>
              </a:pPr>
              <a:endParaRPr/>
            </a:p>
          </p:txBody>
        </p:sp>
      </p:grpSp>
      <p:sp>
        <p:nvSpPr>
          <p:cNvPr id="9" name="AutoShape 9"/>
          <p:cNvSpPr/>
          <p:nvPr/>
        </p:nvSpPr>
        <p:spPr>
          <a:xfrm>
            <a:off x="0" y="9723971"/>
            <a:ext cx="9144000" cy="0"/>
          </a:xfrm>
          <a:prstGeom prst="line">
            <a:avLst/>
          </a:prstGeom>
          <a:ln w="47625" cap="flat">
            <a:solidFill>
              <a:srgbClr val="004664"/>
            </a:solidFill>
            <a:prstDash val="solid"/>
            <a:headEnd type="none" w="sm" len="sm"/>
            <a:tailEnd type="oval" w="lg" len="lg"/>
          </a:ln>
        </p:spPr>
        <p:txBody>
          <a:bodyPr/>
          <a:lstStyle/>
          <a:p>
            <a:endParaRPr lang="en-CA"/>
          </a:p>
        </p:txBody>
      </p:sp>
      <p:sp>
        <p:nvSpPr>
          <p:cNvPr id="10" name="AutoShape 10"/>
          <p:cNvSpPr/>
          <p:nvPr/>
        </p:nvSpPr>
        <p:spPr>
          <a:xfrm>
            <a:off x="15925021" y="646179"/>
            <a:ext cx="2362979" cy="0"/>
          </a:xfrm>
          <a:prstGeom prst="line">
            <a:avLst/>
          </a:prstGeom>
          <a:ln w="47625" cap="flat">
            <a:solidFill>
              <a:srgbClr val="004664"/>
            </a:solidFill>
            <a:prstDash val="solid"/>
            <a:headEnd type="oval" w="lg" len="lg"/>
            <a:tailEnd type="none" w="sm" len="sm"/>
          </a:ln>
        </p:spPr>
        <p:txBody>
          <a:bodyPr/>
          <a:lstStyle/>
          <a:p>
            <a:endParaRPr lang="en-CA"/>
          </a:p>
        </p:txBody>
      </p:sp>
      <p:sp>
        <p:nvSpPr>
          <p:cNvPr id="11" name="TextBox 11"/>
          <p:cNvSpPr txBox="1"/>
          <p:nvPr/>
        </p:nvSpPr>
        <p:spPr>
          <a:xfrm>
            <a:off x="2171334" y="1232157"/>
            <a:ext cx="9625751" cy="958850"/>
          </a:xfrm>
          <a:prstGeom prst="rect">
            <a:avLst/>
          </a:prstGeom>
        </p:spPr>
        <p:txBody>
          <a:bodyPr lIns="0" tIns="0" rIns="0" bIns="0" rtlCol="0" anchor="t">
            <a:spAutoFit/>
          </a:bodyPr>
          <a:lstStyle/>
          <a:p>
            <a:pPr algn="l">
              <a:lnSpc>
                <a:spcPts val="7000"/>
              </a:lnSpc>
              <a:spcBef>
                <a:spcPct val="0"/>
              </a:spcBef>
            </a:pPr>
            <a:r>
              <a:rPr lang="en-US" sz="5000" spc="-100">
                <a:solidFill>
                  <a:srgbClr val="013B54"/>
                </a:solidFill>
                <a:latin typeface="Bugaki"/>
                <a:ea typeface="Bugaki"/>
                <a:cs typeface="Bugaki"/>
                <a:sym typeface="Bugaki"/>
              </a:rPr>
              <a:t>Unsupervised Learning</a:t>
            </a:r>
          </a:p>
        </p:txBody>
      </p:sp>
      <p:grpSp>
        <p:nvGrpSpPr>
          <p:cNvPr id="12" name="Group 12"/>
          <p:cNvGrpSpPr/>
          <p:nvPr/>
        </p:nvGrpSpPr>
        <p:grpSpPr>
          <a:xfrm>
            <a:off x="1028700" y="1322841"/>
            <a:ext cx="977507" cy="977507"/>
            <a:chOff x="0" y="0"/>
            <a:chExt cx="1303342" cy="1303342"/>
          </a:xfrm>
        </p:grpSpPr>
        <p:sp>
          <p:nvSpPr>
            <p:cNvPr id="13" name="Freeform 13"/>
            <p:cNvSpPr/>
            <p:nvPr/>
          </p:nvSpPr>
          <p:spPr>
            <a:xfrm>
              <a:off x="0" y="0"/>
              <a:ext cx="1303342" cy="1303342"/>
            </a:xfrm>
            <a:custGeom>
              <a:avLst/>
              <a:gdLst/>
              <a:ahLst/>
              <a:cxnLst/>
              <a:rect l="l" t="t" r="r" b="b"/>
              <a:pathLst>
                <a:path w="1303342" h="1303342">
                  <a:moveTo>
                    <a:pt x="0" y="0"/>
                  </a:moveTo>
                  <a:lnTo>
                    <a:pt x="1303342" y="0"/>
                  </a:lnTo>
                  <a:lnTo>
                    <a:pt x="1303342" y="1303342"/>
                  </a:lnTo>
                  <a:lnTo>
                    <a:pt x="0" y="130334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CA"/>
            </a:p>
          </p:txBody>
        </p:sp>
        <p:sp>
          <p:nvSpPr>
            <p:cNvPr id="14" name="TextBox 14"/>
            <p:cNvSpPr txBox="1"/>
            <p:nvPr/>
          </p:nvSpPr>
          <p:spPr>
            <a:xfrm>
              <a:off x="0" y="135180"/>
              <a:ext cx="1303342" cy="890108"/>
            </a:xfrm>
            <a:prstGeom prst="rect">
              <a:avLst/>
            </a:prstGeom>
          </p:spPr>
          <p:txBody>
            <a:bodyPr lIns="0" tIns="0" rIns="0" bIns="0" rtlCol="0" anchor="t">
              <a:spAutoFit/>
            </a:bodyPr>
            <a:lstStyle/>
            <a:p>
              <a:pPr algn="ctr">
                <a:lnSpc>
                  <a:spcPts val="5148"/>
                </a:lnSpc>
                <a:spcBef>
                  <a:spcPct val="0"/>
                </a:spcBef>
              </a:pPr>
              <a:r>
                <a:rPr lang="en-US" sz="3677" spc="-73">
                  <a:solidFill>
                    <a:srgbClr val="FFFFFF"/>
                  </a:solidFill>
                  <a:latin typeface="Bugaki"/>
                  <a:ea typeface="Bugaki"/>
                  <a:cs typeface="Bugaki"/>
                  <a:sym typeface="Bugaki"/>
                </a:rPr>
                <a:t>06</a:t>
              </a:r>
            </a:p>
          </p:txBody>
        </p:sp>
      </p:grpSp>
      <p:sp>
        <p:nvSpPr>
          <p:cNvPr id="15" name="TextBox 15"/>
          <p:cNvSpPr txBox="1"/>
          <p:nvPr/>
        </p:nvSpPr>
        <p:spPr>
          <a:xfrm>
            <a:off x="1520459" y="2838308"/>
            <a:ext cx="7619247" cy="5386090"/>
          </a:xfrm>
          <a:prstGeom prst="rect">
            <a:avLst/>
          </a:prstGeom>
        </p:spPr>
        <p:txBody>
          <a:bodyPr wrap="square" lIns="0" tIns="0" rIns="0" bIns="0" rtlCol="0" anchor="t">
            <a:spAutoFit/>
          </a:bodyPr>
          <a:lstStyle/>
          <a:p>
            <a:pPr algn="just">
              <a:lnSpc>
                <a:spcPts val="3509"/>
              </a:lnSpc>
            </a:pPr>
            <a:r>
              <a:rPr lang="en-US" sz="3000" spc="-60" dirty="0">
                <a:solidFill>
                  <a:srgbClr val="000000"/>
                </a:solidFill>
                <a:latin typeface="Open Sauce"/>
                <a:ea typeface="Open Sauce"/>
                <a:cs typeface="Arial"/>
                <a:sym typeface="Open Sauce"/>
              </a:rPr>
              <a:t>Autoencoders and variational autoencoders (VAE) have been shown to be effective in unsupervised anomaly detection. For this project we implemented both models to identify brain tumors by processing tumor images as anomalies.</a:t>
            </a:r>
          </a:p>
          <a:p>
            <a:pPr algn="just">
              <a:lnSpc>
                <a:spcPts val="3509"/>
              </a:lnSpc>
            </a:pPr>
            <a:endParaRPr lang="en-US" sz="3000" spc="-60" dirty="0">
              <a:latin typeface="Open Sauce"/>
              <a:cs typeface="Arial"/>
            </a:endParaRPr>
          </a:p>
          <a:p>
            <a:pPr marL="457200" indent="-457200" algn="just">
              <a:lnSpc>
                <a:spcPts val="3509"/>
              </a:lnSpc>
              <a:buFont typeface="Arial"/>
              <a:buChar char="•"/>
            </a:pPr>
            <a:r>
              <a:rPr lang="en-US" sz="3000" spc="-60" dirty="0">
                <a:latin typeface="Open Sauce"/>
                <a:cs typeface="Arial"/>
              </a:rPr>
              <a:t>Images 224 x 224 (grayscale).</a:t>
            </a:r>
          </a:p>
          <a:p>
            <a:pPr marL="457200" indent="-457200" algn="just">
              <a:lnSpc>
                <a:spcPts val="3509"/>
              </a:lnSpc>
              <a:buFont typeface="Arial"/>
              <a:buChar char="•"/>
            </a:pPr>
            <a:r>
              <a:rPr lang="en-US" sz="3000" spc="-60" dirty="0">
                <a:latin typeface="Open Sauce"/>
                <a:cs typeface="Arial"/>
              </a:rPr>
              <a:t>Noise factor = 0.2.</a:t>
            </a:r>
          </a:p>
          <a:p>
            <a:pPr marL="457200" indent="-457200" algn="just">
              <a:lnSpc>
                <a:spcPts val="3509"/>
              </a:lnSpc>
              <a:buFont typeface="Arial"/>
              <a:buChar char="•"/>
            </a:pPr>
            <a:r>
              <a:rPr lang="en-US" sz="3000" spc="-60" dirty="0">
                <a:latin typeface="Open Sauce"/>
                <a:cs typeface="Arial"/>
              </a:rPr>
              <a:t>Threshold = 95, 90, 85 percentiles.</a:t>
            </a:r>
          </a:p>
          <a:p>
            <a:pPr marL="457200" indent="-457200" algn="just">
              <a:lnSpc>
                <a:spcPts val="3509"/>
              </a:lnSpc>
              <a:buFont typeface="Arial"/>
              <a:buChar char="•"/>
            </a:pPr>
            <a:r>
              <a:rPr lang="en-US" sz="3000" spc="-60" dirty="0">
                <a:latin typeface="Open Sauce"/>
                <a:cs typeface="Arial"/>
              </a:rPr>
              <a:t>Epochs = 18.</a:t>
            </a:r>
          </a:p>
        </p:txBody>
      </p:sp>
      <p:pic>
        <p:nvPicPr>
          <p:cNvPr id="20" name="Picture 19">
            <a:extLst>
              <a:ext uri="{FF2B5EF4-FFF2-40B4-BE49-F238E27FC236}">
                <a16:creationId xmlns:a16="http://schemas.microsoft.com/office/drawing/2014/main" id="{06B8D958-11EC-2E98-2203-BA3660F4FB3D}"/>
              </a:ext>
            </a:extLst>
          </p:cNvPr>
          <p:cNvPicPr>
            <a:picLocks noChangeAspect="1"/>
          </p:cNvPicPr>
          <p:nvPr/>
        </p:nvPicPr>
        <p:blipFill>
          <a:blip r:embed="rId5"/>
          <a:stretch>
            <a:fillRect/>
          </a:stretch>
        </p:blipFill>
        <p:spPr>
          <a:xfrm>
            <a:off x="9551988" y="3097213"/>
            <a:ext cx="8232775" cy="4838700"/>
          </a:xfrm>
          <a:prstGeom prst="rect">
            <a:avLst/>
          </a:prstGeom>
        </p:spPr>
      </p:pic>
      <p:sp>
        <p:nvSpPr>
          <p:cNvPr id="22" name="TextBox 15">
            <a:extLst>
              <a:ext uri="{FF2B5EF4-FFF2-40B4-BE49-F238E27FC236}">
                <a16:creationId xmlns:a16="http://schemas.microsoft.com/office/drawing/2014/main" id="{EA80C87C-3390-7296-C7B1-E13AFEDF759C}"/>
              </a:ext>
            </a:extLst>
          </p:cNvPr>
          <p:cNvSpPr txBox="1"/>
          <p:nvPr/>
        </p:nvSpPr>
        <p:spPr>
          <a:xfrm>
            <a:off x="9553208" y="7965933"/>
            <a:ext cx="8222497" cy="384016"/>
          </a:xfrm>
          <a:prstGeom prst="rect">
            <a:avLst/>
          </a:prstGeom>
        </p:spPr>
        <p:txBody>
          <a:bodyPr wrap="square" lIns="0" tIns="0" rIns="0" bIns="0" rtlCol="0" anchor="t">
            <a:spAutoFit/>
          </a:bodyPr>
          <a:lstStyle/>
          <a:p>
            <a:pPr algn="just">
              <a:lnSpc>
                <a:spcPts val="3509"/>
              </a:lnSpc>
            </a:pPr>
            <a:r>
              <a:rPr lang="en-US" sz="1400" spc="-60">
                <a:ea typeface="+mn-lt"/>
                <a:cs typeface="+mn-lt"/>
              </a:rPr>
              <a:t>https://www.brainpost.co/weekly-brainpost/2025/2/18/detecting-brain-imaging-anomalies-using-generative-ai</a:t>
            </a:r>
            <a:endParaRPr lang="en-US" sz="14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A28DDC-A9C4-6391-3A4A-8F5A48205A6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62F265F-F898-2124-A4B1-0671075C59FC}"/>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CA"/>
          </a:p>
        </p:txBody>
      </p:sp>
      <p:grpSp>
        <p:nvGrpSpPr>
          <p:cNvPr id="3" name="Group 3">
            <a:extLst>
              <a:ext uri="{FF2B5EF4-FFF2-40B4-BE49-F238E27FC236}">
                <a16:creationId xmlns:a16="http://schemas.microsoft.com/office/drawing/2014/main" id="{F9F2EF00-75E4-2E88-BECF-A41B6BA5C9C6}"/>
              </a:ext>
            </a:extLst>
          </p:cNvPr>
          <p:cNvGrpSpPr/>
          <p:nvPr/>
        </p:nvGrpSpPr>
        <p:grpSpPr>
          <a:xfrm>
            <a:off x="17259300" y="8984615"/>
            <a:ext cx="1573962" cy="1573962"/>
            <a:chOff x="0" y="0"/>
            <a:chExt cx="812800" cy="812800"/>
          </a:xfrm>
        </p:grpSpPr>
        <p:sp>
          <p:nvSpPr>
            <p:cNvPr id="4" name="Freeform 4">
              <a:extLst>
                <a:ext uri="{FF2B5EF4-FFF2-40B4-BE49-F238E27FC236}">
                  <a16:creationId xmlns:a16="http://schemas.microsoft.com/office/drawing/2014/main" id="{B71A3562-E449-01AD-E8D4-41687369E2A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3B54"/>
            </a:solidFill>
          </p:spPr>
          <p:txBody>
            <a:bodyPr/>
            <a:lstStyle/>
            <a:p>
              <a:endParaRPr lang="en-CA"/>
            </a:p>
          </p:txBody>
        </p:sp>
        <p:sp>
          <p:nvSpPr>
            <p:cNvPr id="5" name="TextBox 5">
              <a:extLst>
                <a:ext uri="{FF2B5EF4-FFF2-40B4-BE49-F238E27FC236}">
                  <a16:creationId xmlns:a16="http://schemas.microsoft.com/office/drawing/2014/main" id="{69375D1B-B13C-D1B9-C8AA-492C0D6274D7}"/>
                </a:ext>
              </a:extLst>
            </p:cNvPr>
            <p:cNvSpPr txBox="1"/>
            <p:nvPr/>
          </p:nvSpPr>
          <p:spPr>
            <a:xfrm>
              <a:off x="76200" y="66675"/>
              <a:ext cx="660400" cy="669925"/>
            </a:xfrm>
            <a:prstGeom prst="rect">
              <a:avLst/>
            </a:prstGeom>
          </p:spPr>
          <p:txBody>
            <a:bodyPr lIns="50800" tIns="50800" rIns="50800" bIns="50800" rtlCol="0" anchor="ctr"/>
            <a:lstStyle/>
            <a:p>
              <a:pPr algn="ctr">
                <a:lnSpc>
                  <a:spcPts val="3042"/>
                </a:lnSpc>
              </a:pPr>
              <a:endParaRPr/>
            </a:p>
          </p:txBody>
        </p:sp>
      </p:grpSp>
      <p:grpSp>
        <p:nvGrpSpPr>
          <p:cNvPr id="6" name="Group 6">
            <a:extLst>
              <a:ext uri="{FF2B5EF4-FFF2-40B4-BE49-F238E27FC236}">
                <a16:creationId xmlns:a16="http://schemas.microsoft.com/office/drawing/2014/main" id="{F6A1A88B-2F94-26E0-FA14-624CACCE25A6}"/>
              </a:ext>
            </a:extLst>
          </p:cNvPr>
          <p:cNvGrpSpPr/>
          <p:nvPr/>
        </p:nvGrpSpPr>
        <p:grpSpPr>
          <a:xfrm>
            <a:off x="16303701" y="8984615"/>
            <a:ext cx="786981" cy="786981"/>
            <a:chOff x="0" y="0"/>
            <a:chExt cx="812800" cy="812800"/>
          </a:xfrm>
        </p:grpSpPr>
        <p:sp>
          <p:nvSpPr>
            <p:cNvPr id="7" name="Freeform 7">
              <a:extLst>
                <a:ext uri="{FF2B5EF4-FFF2-40B4-BE49-F238E27FC236}">
                  <a16:creationId xmlns:a16="http://schemas.microsoft.com/office/drawing/2014/main" id="{7207E8E5-7D6E-3496-A37B-C3487DCABBF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664"/>
            </a:solidFill>
          </p:spPr>
          <p:txBody>
            <a:bodyPr/>
            <a:lstStyle/>
            <a:p>
              <a:endParaRPr lang="en-CA"/>
            </a:p>
          </p:txBody>
        </p:sp>
        <p:sp>
          <p:nvSpPr>
            <p:cNvPr id="8" name="TextBox 8">
              <a:extLst>
                <a:ext uri="{FF2B5EF4-FFF2-40B4-BE49-F238E27FC236}">
                  <a16:creationId xmlns:a16="http://schemas.microsoft.com/office/drawing/2014/main" id="{299DDE2C-3A53-7D95-EF5E-FD267B5D4129}"/>
                </a:ext>
              </a:extLst>
            </p:cNvPr>
            <p:cNvSpPr txBox="1"/>
            <p:nvPr/>
          </p:nvSpPr>
          <p:spPr>
            <a:xfrm>
              <a:off x="76200" y="66675"/>
              <a:ext cx="660400" cy="669925"/>
            </a:xfrm>
            <a:prstGeom prst="rect">
              <a:avLst/>
            </a:prstGeom>
          </p:spPr>
          <p:txBody>
            <a:bodyPr lIns="50800" tIns="50800" rIns="50800" bIns="50800" rtlCol="0" anchor="ctr"/>
            <a:lstStyle/>
            <a:p>
              <a:pPr algn="ctr">
                <a:lnSpc>
                  <a:spcPts val="3042"/>
                </a:lnSpc>
              </a:pPr>
              <a:endParaRPr/>
            </a:p>
          </p:txBody>
        </p:sp>
      </p:grpSp>
      <p:sp>
        <p:nvSpPr>
          <p:cNvPr id="9" name="AutoShape 9">
            <a:extLst>
              <a:ext uri="{FF2B5EF4-FFF2-40B4-BE49-F238E27FC236}">
                <a16:creationId xmlns:a16="http://schemas.microsoft.com/office/drawing/2014/main" id="{713A246B-91E7-7926-8A17-B45D8316C837}"/>
              </a:ext>
            </a:extLst>
          </p:cNvPr>
          <p:cNvSpPr/>
          <p:nvPr/>
        </p:nvSpPr>
        <p:spPr>
          <a:xfrm>
            <a:off x="0" y="9723971"/>
            <a:ext cx="9144000" cy="0"/>
          </a:xfrm>
          <a:prstGeom prst="line">
            <a:avLst/>
          </a:prstGeom>
          <a:ln w="47625" cap="flat">
            <a:solidFill>
              <a:srgbClr val="004664"/>
            </a:solidFill>
            <a:prstDash val="solid"/>
            <a:headEnd type="none" w="sm" len="sm"/>
            <a:tailEnd type="oval" w="lg" len="lg"/>
          </a:ln>
        </p:spPr>
        <p:txBody>
          <a:bodyPr/>
          <a:lstStyle/>
          <a:p>
            <a:endParaRPr lang="en-CA"/>
          </a:p>
        </p:txBody>
      </p:sp>
      <p:sp>
        <p:nvSpPr>
          <p:cNvPr id="10" name="AutoShape 10">
            <a:extLst>
              <a:ext uri="{FF2B5EF4-FFF2-40B4-BE49-F238E27FC236}">
                <a16:creationId xmlns:a16="http://schemas.microsoft.com/office/drawing/2014/main" id="{E9B33757-999D-981A-5C33-27FE2B103CDB}"/>
              </a:ext>
            </a:extLst>
          </p:cNvPr>
          <p:cNvSpPr/>
          <p:nvPr/>
        </p:nvSpPr>
        <p:spPr>
          <a:xfrm>
            <a:off x="15925021" y="646179"/>
            <a:ext cx="2362979" cy="0"/>
          </a:xfrm>
          <a:prstGeom prst="line">
            <a:avLst/>
          </a:prstGeom>
          <a:ln w="47625" cap="flat">
            <a:solidFill>
              <a:srgbClr val="004664"/>
            </a:solidFill>
            <a:prstDash val="solid"/>
            <a:headEnd type="oval" w="lg" len="lg"/>
            <a:tailEnd type="none" w="sm" len="sm"/>
          </a:ln>
        </p:spPr>
        <p:txBody>
          <a:bodyPr/>
          <a:lstStyle/>
          <a:p>
            <a:endParaRPr lang="en-CA"/>
          </a:p>
        </p:txBody>
      </p:sp>
      <p:sp>
        <p:nvSpPr>
          <p:cNvPr id="11" name="TextBox 11">
            <a:extLst>
              <a:ext uri="{FF2B5EF4-FFF2-40B4-BE49-F238E27FC236}">
                <a16:creationId xmlns:a16="http://schemas.microsoft.com/office/drawing/2014/main" id="{2867B03F-B08A-AE53-1D46-679E42526F3E}"/>
              </a:ext>
            </a:extLst>
          </p:cNvPr>
          <p:cNvSpPr txBox="1"/>
          <p:nvPr/>
        </p:nvSpPr>
        <p:spPr>
          <a:xfrm>
            <a:off x="2171334" y="1232157"/>
            <a:ext cx="9625751" cy="958850"/>
          </a:xfrm>
          <a:prstGeom prst="rect">
            <a:avLst/>
          </a:prstGeom>
        </p:spPr>
        <p:txBody>
          <a:bodyPr lIns="0" tIns="0" rIns="0" bIns="0" rtlCol="0" anchor="t">
            <a:spAutoFit/>
          </a:bodyPr>
          <a:lstStyle/>
          <a:p>
            <a:pPr algn="l">
              <a:lnSpc>
                <a:spcPts val="7000"/>
              </a:lnSpc>
              <a:spcBef>
                <a:spcPct val="0"/>
              </a:spcBef>
            </a:pPr>
            <a:r>
              <a:rPr lang="en-US" sz="5000" spc="-100">
                <a:solidFill>
                  <a:srgbClr val="013B54"/>
                </a:solidFill>
                <a:latin typeface="Bugaki"/>
                <a:ea typeface="Bugaki"/>
                <a:cs typeface="Bugaki"/>
                <a:sym typeface="Bugaki"/>
              </a:rPr>
              <a:t>Unsupervised Learning</a:t>
            </a:r>
          </a:p>
        </p:txBody>
      </p:sp>
      <p:grpSp>
        <p:nvGrpSpPr>
          <p:cNvPr id="12" name="Group 12">
            <a:extLst>
              <a:ext uri="{FF2B5EF4-FFF2-40B4-BE49-F238E27FC236}">
                <a16:creationId xmlns:a16="http://schemas.microsoft.com/office/drawing/2014/main" id="{D67D7253-1F03-C9D9-AC1A-26BDB751AF9B}"/>
              </a:ext>
            </a:extLst>
          </p:cNvPr>
          <p:cNvGrpSpPr/>
          <p:nvPr/>
        </p:nvGrpSpPr>
        <p:grpSpPr>
          <a:xfrm>
            <a:off x="1028700" y="1322841"/>
            <a:ext cx="977507" cy="977507"/>
            <a:chOff x="0" y="0"/>
            <a:chExt cx="1303342" cy="1303342"/>
          </a:xfrm>
        </p:grpSpPr>
        <p:sp>
          <p:nvSpPr>
            <p:cNvPr id="13" name="Freeform 13">
              <a:extLst>
                <a:ext uri="{FF2B5EF4-FFF2-40B4-BE49-F238E27FC236}">
                  <a16:creationId xmlns:a16="http://schemas.microsoft.com/office/drawing/2014/main" id="{BF3C5F7F-1333-C47B-FC5E-74D8050D2076}"/>
                </a:ext>
              </a:extLst>
            </p:cNvPr>
            <p:cNvSpPr/>
            <p:nvPr/>
          </p:nvSpPr>
          <p:spPr>
            <a:xfrm>
              <a:off x="0" y="0"/>
              <a:ext cx="1303342" cy="1303342"/>
            </a:xfrm>
            <a:custGeom>
              <a:avLst/>
              <a:gdLst/>
              <a:ahLst/>
              <a:cxnLst/>
              <a:rect l="l" t="t" r="r" b="b"/>
              <a:pathLst>
                <a:path w="1303342" h="1303342">
                  <a:moveTo>
                    <a:pt x="0" y="0"/>
                  </a:moveTo>
                  <a:lnTo>
                    <a:pt x="1303342" y="0"/>
                  </a:lnTo>
                  <a:lnTo>
                    <a:pt x="1303342" y="1303342"/>
                  </a:lnTo>
                  <a:lnTo>
                    <a:pt x="0" y="130334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CA"/>
            </a:p>
          </p:txBody>
        </p:sp>
        <p:sp>
          <p:nvSpPr>
            <p:cNvPr id="14" name="TextBox 14">
              <a:extLst>
                <a:ext uri="{FF2B5EF4-FFF2-40B4-BE49-F238E27FC236}">
                  <a16:creationId xmlns:a16="http://schemas.microsoft.com/office/drawing/2014/main" id="{BB688437-7A88-B232-ED31-FC5673D35C59}"/>
                </a:ext>
              </a:extLst>
            </p:cNvPr>
            <p:cNvSpPr txBox="1"/>
            <p:nvPr/>
          </p:nvSpPr>
          <p:spPr>
            <a:xfrm>
              <a:off x="0" y="135180"/>
              <a:ext cx="1303342" cy="890108"/>
            </a:xfrm>
            <a:prstGeom prst="rect">
              <a:avLst/>
            </a:prstGeom>
          </p:spPr>
          <p:txBody>
            <a:bodyPr lIns="0" tIns="0" rIns="0" bIns="0" rtlCol="0" anchor="t">
              <a:spAutoFit/>
            </a:bodyPr>
            <a:lstStyle/>
            <a:p>
              <a:pPr algn="ctr">
                <a:lnSpc>
                  <a:spcPts val="5148"/>
                </a:lnSpc>
                <a:spcBef>
                  <a:spcPct val="0"/>
                </a:spcBef>
              </a:pPr>
              <a:r>
                <a:rPr lang="en-US" sz="3677" spc="-73">
                  <a:solidFill>
                    <a:srgbClr val="FFFFFF"/>
                  </a:solidFill>
                  <a:latin typeface="Bugaki"/>
                  <a:ea typeface="Bugaki"/>
                  <a:cs typeface="Bugaki"/>
                  <a:sym typeface="Bugaki"/>
                </a:rPr>
                <a:t>06</a:t>
              </a:r>
            </a:p>
          </p:txBody>
        </p:sp>
      </p:grpSp>
      <p:pic>
        <p:nvPicPr>
          <p:cNvPr id="16" name="Picture 15">
            <a:extLst>
              <a:ext uri="{FF2B5EF4-FFF2-40B4-BE49-F238E27FC236}">
                <a16:creationId xmlns:a16="http://schemas.microsoft.com/office/drawing/2014/main" id="{92381CF2-9039-80C2-2705-B002FCC4FD9C}"/>
              </a:ext>
            </a:extLst>
          </p:cNvPr>
          <p:cNvPicPr>
            <a:picLocks noChangeAspect="1"/>
          </p:cNvPicPr>
          <p:nvPr/>
        </p:nvPicPr>
        <p:blipFill>
          <a:blip r:embed="rId5"/>
          <a:stretch>
            <a:fillRect/>
          </a:stretch>
        </p:blipFill>
        <p:spPr>
          <a:xfrm>
            <a:off x="914400" y="3268663"/>
            <a:ext cx="8235950" cy="4321175"/>
          </a:xfrm>
          <a:prstGeom prst="rect">
            <a:avLst/>
          </a:prstGeom>
        </p:spPr>
      </p:pic>
      <p:pic>
        <p:nvPicPr>
          <p:cNvPr id="18" name="Picture 17">
            <a:extLst>
              <a:ext uri="{FF2B5EF4-FFF2-40B4-BE49-F238E27FC236}">
                <a16:creationId xmlns:a16="http://schemas.microsoft.com/office/drawing/2014/main" id="{951BF8D1-0209-2D27-A321-F04310D4E979}"/>
              </a:ext>
            </a:extLst>
          </p:cNvPr>
          <p:cNvPicPr>
            <a:picLocks noChangeAspect="1"/>
          </p:cNvPicPr>
          <p:nvPr/>
        </p:nvPicPr>
        <p:blipFill>
          <a:blip r:embed="rId6"/>
          <a:stretch>
            <a:fillRect/>
          </a:stretch>
        </p:blipFill>
        <p:spPr>
          <a:xfrm>
            <a:off x="11430000" y="1552575"/>
            <a:ext cx="4873625" cy="4530725"/>
          </a:xfrm>
          <a:prstGeom prst="rect">
            <a:avLst/>
          </a:prstGeom>
        </p:spPr>
      </p:pic>
      <p:pic>
        <p:nvPicPr>
          <p:cNvPr id="19" name="Picture 18">
            <a:extLst>
              <a:ext uri="{FF2B5EF4-FFF2-40B4-BE49-F238E27FC236}">
                <a16:creationId xmlns:a16="http://schemas.microsoft.com/office/drawing/2014/main" id="{1BB17508-2E29-C97F-ED5A-9655E7F6455C}"/>
              </a:ext>
            </a:extLst>
          </p:cNvPr>
          <p:cNvPicPr>
            <a:picLocks noChangeAspect="1"/>
          </p:cNvPicPr>
          <p:nvPr/>
        </p:nvPicPr>
        <p:blipFill>
          <a:blip r:embed="rId7"/>
          <a:stretch>
            <a:fillRect/>
          </a:stretch>
        </p:blipFill>
        <p:spPr>
          <a:xfrm>
            <a:off x="10560050" y="6321425"/>
            <a:ext cx="6867525" cy="2406650"/>
          </a:xfrm>
          <a:prstGeom prst="rect">
            <a:avLst/>
          </a:prstGeom>
        </p:spPr>
      </p:pic>
      <p:sp>
        <p:nvSpPr>
          <p:cNvPr id="21" name="TextBox 15">
            <a:extLst>
              <a:ext uri="{FF2B5EF4-FFF2-40B4-BE49-F238E27FC236}">
                <a16:creationId xmlns:a16="http://schemas.microsoft.com/office/drawing/2014/main" id="{D49220F2-206F-365E-F730-914DD28FA200}"/>
              </a:ext>
            </a:extLst>
          </p:cNvPr>
          <p:cNvSpPr txBox="1"/>
          <p:nvPr/>
        </p:nvSpPr>
        <p:spPr>
          <a:xfrm>
            <a:off x="917208" y="7727808"/>
            <a:ext cx="8222497" cy="384016"/>
          </a:xfrm>
          <a:prstGeom prst="rect">
            <a:avLst/>
          </a:prstGeom>
        </p:spPr>
        <p:txBody>
          <a:bodyPr wrap="square" lIns="0" tIns="0" rIns="0" bIns="0" rtlCol="0" anchor="t">
            <a:spAutoFit/>
          </a:bodyPr>
          <a:lstStyle/>
          <a:p>
            <a:pPr algn="just">
              <a:lnSpc>
                <a:spcPts val="3509"/>
              </a:lnSpc>
            </a:pPr>
            <a:r>
              <a:rPr lang="en-US" sz="1400" spc="-60">
                <a:ea typeface="+mn-lt"/>
                <a:cs typeface="+mn-lt"/>
              </a:rPr>
              <a:t>https://towardsdatascience.com/difference-between-autoencoder-ae-and-variational-autoencoder-vae-ed7be1c038f2/</a:t>
            </a:r>
            <a:endParaRPr lang="en-US">
              <a:ea typeface="+mn-lt"/>
              <a:cs typeface="+mn-lt"/>
            </a:endParaRPr>
          </a:p>
        </p:txBody>
      </p:sp>
    </p:spTree>
    <p:extLst>
      <p:ext uri="{BB962C8B-B14F-4D97-AF65-F5344CB8AC3E}">
        <p14:creationId xmlns:p14="http://schemas.microsoft.com/office/powerpoint/2010/main" val="36043225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A82AA1-F8E5-86B1-7F02-3995FED1B61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4A31AB6-BA80-C674-58A3-09DB0AE1087E}"/>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CA"/>
          </a:p>
        </p:txBody>
      </p:sp>
      <p:grpSp>
        <p:nvGrpSpPr>
          <p:cNvPr id="3" name="Group 3">
            <a:extLst>
              <a:ext uri="{FF2B5EF4-FFF2-40B4-BE49-F238E27FC236}">
                <a16:creationId xmlns:a16="http://schemas.microsoft.com/office/drawing/2014/main" id="{6ECE47B3-F51F-626A-F907-D0FFA90F79D0}"/>
              </a:ext>
            </a:extLst>
          </p:cNvPr>
          <p:cNvGrpSpPr/>
          <p:nvPr/>
        </p:nvGrpSpPr>
        <p:grpSpPr>
          <a:xfrm>
            <a:off x="17259300" y="8984615"/>
            <a:ext cx="1573962" cy="1573962"/>
            <a:chOff x="0" y="0"/>
            <a:chExt cx="812800" cy="812800"/>
          </a:xfrm>
        </p:grpSpPr>
        <p:sp>
          <p:nvSpPr>
            <p:cNvPr id="4" name="Freeform 4">
              <a:extLst>
                <a:ext uri="{FF2B5EF4-FFF2-40B4-BE49-F238E27FC236}">
                  <a16:creationId xmlns:a16="http://schemas.microsoft.com/office/drawing/2014/main" id="{BE02C0C8-3D96-1480-62D8-FCD785145A3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3B54"/>
            </a:solidFill>
          </p:spPr>
          <p:txBody>
            <a:bodyPr/>
            <a:lstStyle/>
            <a:p>
              <a:endParaRPr lang="en-CA"/>
            </a:p>
          </p:txBody>
        </p:sp>
        <p:sp>
          <p:nvSpPr>
            <p:cNvPr id="5" name="TextBox 5">
              <a:extLst>
                <a:ext uri="{FF2B5EF4-FFF2-40B4-BE49-F238E27FC236}">
                  <a16:creationId xmlns:a16="http://schemas.microsoft.com/office/drawing/2014/main" id="{6838DB9B-DB7A-007C-D1B6-5C7D6D90B59E}"/>
                </a:ext>
              </a:extLst>
            </p:cNvPr>
            <p:cNvSpPr txBox="1"/>
            <p:nvPr/>
          </p:nvSpPr>
          <p:spPr>
            <a:xfrm>
              <a:off x="76200" y="66675"/>
              <a:ext cx="660400" cy="669925"/>
            </a:xfrm>
            <a:prstGeom prst="rect">
              <a:avLst/>
            </a:prstGeom>
          </p:spPr>
          <p:txBody>
            <a:bodyPr lIns="50800" tIns="50800" rIns="50800" bIns="50800" rtlCol="0" anchor="ctr"/>
            <a:lstStyle/>
            <a:p>
              <a:pPr algn="ctr">
                <a:lnSpc>
                  <a:spcPts val="3042"/>
                </a:lnSpc>
              </a:pPr>
              <a:endParaRPr/>
            </a:p>
          </p:txBody>
        </p:sp>
      </p:grpSp>
      <p:grpSp>
        <p:nvGrpSpPr>
          <p:cNvPr id="6" name="Group 6">
            <a:extLst>
              <a:ext uri="{FF2B5EF4-FFF2-40B4-BE49-F238E27FC236}">
                <a16:creationId xmlns:a16="http://schemas.microsoft.com/office/drawing/2014/main" id="{2D1B09E3-0874-E36D-463D-BCE31B1FBE33}"/>
              </a:ext>
            </a:extLst>
          </p:cNvPr>
          <p:cNvGrpSpPr/>
          <p:nvPr/>
        </p:nvGrpSpPr>
        <p:grpSpPr>
          <a:xfrm>
            <a:off x="16303701" y="8984615"/>
            <a:ext cx="786981" cy="786981"/>
            <a:chOff x="0" y="0"/>
            <a:chExt cx="812800" cy="812800"/>
          </a:xfrm>
        </p:grpSpPr>
        <p:sp>
          <p:nvSpPr>
            <p:cNvPr id="7" name="Freeform 7">
              <a:extLst>
                <a:ext uri="{FF2B5EF4-FFF2-40B4-BE49-F238E27FC236}">
                  <a16:creationId xmlns:a16="http://schemas.microsoft.com/office/drawing/2014/main" id="{A5F903D5-08BE-1EC9-11FE-AA7168BFC1C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664"/>
            </a:solidFill>
          </p:spPr>
          <p:txBody>
            <a:bodyPr/>
            <a:lstStyle/>
            <a:p>
              <a:endParaRPr lang="en-CA"/>
            </a:p>
          </p:txBody>
        </p:sp>
        <p:sp>
          <p:nvSpPr>
            <p:cNvPr id="8" name="TextBox 8">
              <a:extLst>
                <a:ext uri="{FF2B5EF4-FFF2-40B4-BE49-F238E27FC236}">
                  <a16:creationId xmlns:a16="http://schemas.microsoft.com/office/drawing/2014/main" id="{A6C99944-603F-DF56-DB87-5A38B2962B23}"/>
                </a:ext>
              </a:extLst>
            </p:cNvPr>
            <p:cNvSpPr txBox="1"/>
            <p:nvPr/>
          </p:nvSpPr>
          <p:spPr>
            <a:xfrm>
              <a:off x="76200" y="66675"/>
              <a:ext cx="660400" cy="669925"/>
            </a:xfrm>
            <a:prstGeom prst="rect">
              <a:avLst/>
            </a:prstGeom>
          </p:spPr>
          <p:txBody>
            <a:bodyPr lIns="50800" tIns="50800" rIns="50800" bIns="50800" rtlCol="0" anchor="ctr"/>
            <a:lstStyle/>
            <a:p>
              <a:pPr algn="ctr">
                <a:lnSpc>
                  <a:spcPts val="3042"/>
                </a:lnSpc>
              </a:pPr>
              <a:endParaRPr/>
            </a:p>
          </p:txBody>
        </p:sp>
      </p:grpSp>
      <p:sp>
        <p:nvSpPr>
          <p:cNvPr id="9" name="AutoShape 9">
            <a:extLst>
              <a:ext uri="{FF2B5EF4-FFF2-40B4-BE49-F238E27FC236}">
                <a16:creationId xmlns:a16="http://schemas.microsoft.com/office/drawing/2014/main" id="{0F9DF6C6-DC35-00F1-77DA-9DAB2C5F7A90}"/>
              </a:ext>
            </a:extLst>
          </p:cNvPr>
          <p:cNvSpPr/>
          <p:nvPr/>
        </p:nvSpPr>
        <p:spPr>
          <a:xfrm>
            <a:off x="0" y="9723971"/>
            <a:ext cx="9144000" cy="0"/>
          </a:xfrm>
          <a:prstGeom prst="line">
            <a:avLst/>
          </a:prstGeom>
          <a:ln w="47625" cap="flat">
            <a:solidFill>
              <a:srgbClr val="004664"/>
            </a:solidFill>
            <a:prstDash val="solid"/>
            <a:headEnd type="none" w="sm" len="sm"/>
            <a:tailEnd type="oval" w="lg" len="lg"/>
          </a:ln>
        </p:spPr>
        <p:txBody>
          <a:bodyPr/>
          <a:lstStyle/>
          <a:p>
            <a:endParaRPr lang="en-CA"/>
          </a:p>
        </p:txBody>
      </p:sp>
      <p:sp>
        <p:nvSpPr>
          <p:cNvPr id="10" name="AutoShape 10">
            <a:extLst>
              <a:ext uri="{FF2B5EF4-FFF2-40B4-BE49-F238E27FC236}">
                <a16:creationId xmlns:a16="http://schemas.microsoft.com/office/drawing/2014/main" id="{165442C0-029F-1BB6-DE07-6BD31460EDFE}"/>
              </a:ext>
            </a:extLst>
          </p:cNvPr>
          <p:cNvSpPr/>
          <p:nvPr/>
        </p:nvSpPr>
        <p:spPr>
          <a:xfrm>
            <a:off x="15925021" y="646179"/>
            <a:ext cx="2362979" cy="0"/>
          </a:xfrm>
          <a:prstGeom prst="line">
            <a:avLst/>
          </a:prstGeom>
          <a:ln w="47625" cap="flat">
            <a:solidFill>
              <a:srgbClr val="004664"/>
            </a:solidFill>
            <a:prstDash val="solid"/>
            <a:headEnd type="oval" w="lg" len="lg"/>
            <a:tailEnd type="none" w="sm" len="sm"/>
          </a:ln>
        </p:spPr>
        <p:txBody>
          <a:bodyPr/>
          <a:lstStyle/>
          <a:p>
            <a:endParaRPr lang="en-CA"/>
          </a:p>
        </p:txBody>
      </p:sp>
      <p:sp>
        <p:nvSpPr>
          <p:cNvPr id="11" name="TextBox 11">
            <a:extLst>
              <a:ext uri="{FF2B5EF4-FFF2-40B4-BE49-F238E27FC236}">
                <a16:creationId xmlns:a16="http://schemas.microsoft.com/office/drawing/2014/main" id="{AAB17AB6-9CFB-6B09-85E5-C0C855154AD5}"/>
              </a:ext>
            </a:extLst>
          </p:cNvPr>
          <p:cNvSpPr txBox="1"/>
          <p:nvPr/>
        </p:nvSpPr>
        <p:spPr>
          <a:xfrm>
            <a:off x="2171334" y="1232157"/>
            <a:ext cx="9625751" cy="958850"/>
          </a:xfrm>
          <a:prstGeom prst="rect">
            <a:avLst/>
          </a:prstGeom>
        </p:spPr>
        <p:txBody>
          <a:bodyPr lIns="0" tIns="0" rIns="0" bIns="0" rtlCol="0" anchor="t">
            <a:spAutoFit/>
          </a:bodyPr>
          <a:lstStyle/>
          <a:p>
            <a:pPr algn="l">
              <a:lnSpc>
                <a:spcPts val="7000"/>
              </a:lnSpc>
              <a:spcBef>
                <a:spcPct val="0"/>
              </a:spcBef>
            </a:pPr>
            <a:r>
              <a:rPr lang="en-US" sz="5000" spc="-100">
                <a:solidFill>
                  <a:srgbClr val="013B54"/>
                </a:solidFill>
                <a:latin typeface="Bugaki"/>
                <a:ea typeface="Bugaki"/>
                <a:cs typeface="Bugaki"/>
                <a:sym typeface="Bugaki"/>
              </a:rPr>
              <a:t>Unsupervised Learning</a:t>
            </a:r>
          </a:p>
        </p:txBody>
      </p:sp>
      <p:grpSp>
        <p:nvGrpSpPr>
          <p:cNvPr id="12" name="Group 12">
            <a:extLst>
              <a:ext uri="{FF2B5EF4-FFF2-40B4-BE49-F238E27FC236}">
                <a16:creationId xmlns:a16="http://schemas.microsoft.com/office/drawing/2014/main" id="{CF8F43F3-BAFB-D544-9714-31C1E9195258}"/>
              </a:ext>
            </a:extLst>
          </p:cNvPr>
          <p:cNvGrpSpPr/>
          <p:nvPr/>
        </p:nvGrpSpPr>
        <p:grpSpPr>
          <a:xfrm>
            <a:off x="1028700" y="1322841"/>
            <a:ext cx="977507" cy="977507"/>
            <a:chOff x="0" y="0"/>
            <a:chExt cx="1303342" cy="1303342"/>
          </a:xfrm>
        </p:grpSpPr>
        <p:sp>
          <p:nvSpPr>
            <p:cNvPr id="13" name="Freeform 13">
              <a:extLst>
                <a:ext uri="{FF2B5EF4-FFF2-40B4-BE49-F238E27FC236}">
                  <a16:creationId xmlns:a16="http://schemas.microsoft.com/office/drawing/2014/main" id="{E6C2EA8C-68F7-26CB-C2ED-07B7BFC03B0A}"/>
                </a:ext>
              </a:extLst>
            </p:cNvPr>
            <p:cNvSpPr/>
            <p:nvPr/>
          </p:nvSpPr>
          <p:spPr>
            <a:xfrm>
              <a:off x="0" y="0"/>
              <a:ext cx="1303342" cy="1303342"/>
            </a:xfrm>
            <a:custGeom>
              <a:avLst/>
              <a:gdLst/>
              <a:ahLst/>
              <a:cxnLst/>
              <a:rect l="l" t="t" r="r" b="b"/>
              <a:pathLst>
                <a:path w="1303342" h="1303342">
                  <a:moveTo>
                    <a:pt x="0" y="0"/>
                  </a:moveTo>
                  <a:lnTo>
                    <a:pt x="1303342" y="0"/>
                  </a:lnTo>
                  <a:lnTo>
                    <a:pt x="1303342" y="1303342"/>
                  </a:lnTo>
                  <a:lnTo>
                    <a:pt x="0" y="130334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CA"/>
            </a:p>
          </p:txBody>
        </p:sp>
        <p:sp>
          <p:nvSpPr>
            <p:cNvPr id="14" name="TextBox 14">
              <a:extLst>
                <a:ext uri="{FF2B5EF4-FFF2-40B4-BE49-F238E27FC236}">
                  <a16:creationId xmlns:a16="http://schemas.microsoft.com/office/drawing/2014/main" id="{629CA43A-A209-02EF-EF89-8872DC9ED8C9}"/>
                </a:ext>
              </a:extLst>
            </p:cNvPr>
            <p:cNvSpPr txBox="1"/>
            <p:nvPr/>
          </p:nvSpPr>
          <p:spPr>
            <a:xfrm>
              <a:off x="0" y="135180"/>
              <a:ext cx="1303342" cy="890108"/>
            </a:xfrm>
            <a:prstGeom prst="rect">
              <a:avLst/>
            </a:prstGeom>
          </p:spPr>
          <p:txBody>
            <a:bodyPr lIns="0" tIns="0" rIns="0" bIns="0" rtlCol="0" anchor="t">
              <a:spAutoFit/>
            </a:bodyPr>
            <a:lstStyle/>
            <a:p>
              <a:pPr algn="ctr">
                <a:lnSpc>
                  <a:spcPts val="5148"/>
                </a:lnSpc>
                <a:spcBef>
                  <a:spcPct val="0"/>
                </a:spcBef>
              </a:pPr>
              <a:r>
                <a:rPr lang="en-US" sz="3677" spc="-73">
                  <a:solidFill>
                    <a:srgbClr val="FFFFFF"/>
                  </a:solidFill>
                  <a:latin typeface="Bugaki"/>
                  <a:ea typeface="Bugaki"/>
                  <a:cs typeface="Bugaki"/>
                  <a:sym typeface="Bugaki"/>
                </a:rPr>
                <a:t>06</a:t>
              </a:r>
            </a:p>
          </p:txBody>
        </p:sp>
      </p:grpSp>
      <p:pic>
        <p:nvPicPr>
          <p:cNvPr id="17" name="Picture 16">
            <a:extLst>
              <a:ext uri="{FF2B5EF4-FFF2-40B4-BE49-F238E27FC236}">
                <a16:creationId xmlns:a16="http://schemas.microsoft.com/office/drawing/2014/main" id="{9B6DB8CD-A1EA-4691-5693-47887D0D2F0C}"/>
              </a:ext>
            </a:extLst>
          </p:cNvPr>
          <p:cNvPicPr>
            <a:picLocks noChangeAspect="1"/>
          </p:cNvPicPr>
          <p:nvPr/>
        </p:nvPicPr>
        <p:blipFill>
          <a:blip r:embed="rId5"/>
          <a:stretch>
            <a:fillRect/>
          </a:stretch>
        </p:blipFill>
        <p:spPr>
          <a:xfrm>
            <a:off x="1034276" y="2881041"/>
            <a:ext cx="8106936" cy="4847062"/>
          </a:xfrm>
          <a:prstGeom prst="rect">
            <a:avLst/>
          </a:prstGeom>
        </p:spPr>
      </p:pic>
      <p:pic>
        <p:nvPicPr>
          <p:cNvPr id="18" name="Picture 17">
            <a:extLst>
              <a:ext uri="{FF2B5EF4-FFF2-40B4-BE49-F238E27FC236}">
                <a16:creationId xmlns:a16="http://schemas.microsoft.com/office/drawing/2014/main" id="{A2B06528-EF6B-8035-C913-450B2462B469}"/>
              </a:ext>
            </a:extLst>
          </p:cNvPr>
          <p:cNvPicPr>
            <a:picLocks noChangeAspect="1"/>
          </p:cNvPicPr>
          <p:nvPr/>
        </p:nvPicPr>
        <p:blipFill>
          <a:blip r:embed="rId6"/>
          <a:stretch>
            <a:fillRect/>
          </a:stretch>
        </p:blipFill>
        <p:spPr>
          <a:xfrm>
            <a:off x="11668008" y="1711597"/>
            <a:ext cx="4862629" cy="4494174"/>
          </a:xfrm>
          <a:prstGeom prst="rect">
            <a:avLst/>
          </a:prstGeom>
        </p:spPr>
      </p:pic>
      <p:pic>
        <p:nvPicPr>
          <p:cNvPr id="19" name="Picture 18">
            <a:extLst>
              <a:ext uri="{FF2B5EF4-FFF2-40B4-BE49-F238E27FC236}">
                <a16:creationId xmlns:a16="http://schemas.microsoft.com/office/drawing/2014/main" id="{3E42A4B4-1681-D90F-F08E-B3926F0E43AF}"/>
              </a:ext>
            </a:extLst>
          </p:cNvPr>
          <p:cNvPicPr>
            <a:picLocks noChangeAspect="1"/>
          </p:cNvPicPr>
          <p:nvPr/>
        </p:nvPicPr>
        <p:blipFill>
          <a:blip r:embed="rId7"/>
          <a:stretch>
            <a:fillRect/>
          </a:stretch>
        </p:blipFill>
        <p:spPr>
          <a:xfrm>
            <a:off x="10809017" y="6442151"/>
            <a:ext cx="6566675" cy="2323172"/>
          </a:xfrm>
          <a:prstGeom prst="rect">
            <a:avLst/>
          </a:prstGeom>
        </p:spPr>
      </p:pic>
      <p:sp>
        <p:nvSpPr>
          <p:cNvPr id="21" name="TextBox 15">
            <a:extLst>
              <a:ext uri="{FF2B5EF4-FFF2-40B4-BE49-F238E27FC236}">
                <a16:creationId xmlns:a16="http://schemas.microsoft.com/office/drawing/2014/main" id="{01C45209-100F-C293-8139-7B70C0010D61}"/>
              </a:ext>
            </a:extLst>
          </p:cNvPr>
          <p:cNvSpPr txBox="1"/>
          <p:nvPr/>
        </p:nvSpPr>
        <p:spPr>
          <a:xfrm>
            <a:off x="917208" y="7727808"/>
            <a:ext cx="8222497" cy="384016"/>
          </a:xfrm>
          <a:prstGeom prst="rect">
            <a:avLst/>
          </a:prstGeom>
        </p:spPr>
        <p:txBody>
          <a:bodyPr wrap="square" lIns="0" tIns="0" rIns="0" bIns="0" rtlCol="0" anchor="t">
            <a:spAutoFit/>
          </a:bodyPr>
          <a:lstStyle/>
          <a:p>
            <a:pPr algn="just">
              <a:lnSpc>
                <a:spcPts val="3509"/>
              </a:lnSpc>
            </a:pPr>
            <a:r>
              <a:rPr lang="en-US" sz="1400" spc="-60">
                <a:ea typeface="+mn-lt"/>
                <a:cs typeface="+mn-lt"/>
              </a:rPr>
              <a:t>https://towardsdatascience.com/difference-between-autoencoder-ae-and-variational-autoencoder-vae-ed7be1c038f2/</a:t>
            </a:r>
            <a:endParaRPr lang="en-US">
              <a:ea typeface="+mn-lt"/>
              <a:cs typeface="+mn-lt"/>
            </a:endParaRPr>
          </a:p>
        </p:txBody>
      </p:sp>
    </p:spTree>
    <p:extLst>
      <p:ext uri="{BB962C8B-B14F-4D97-AF65-F5344CB8AC3E}">
        <p14:creationId xmlns:p14="http://schemas.microsoft.com/office/powerpoint/2010/main" val="12167022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01D30E-D525-5FC6-F9AC-76CCA34B5F6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F795C33-446B-4C3B-877E-F7AF835018AC}"/>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CA"/>
          </a:p>
        </p:txBody>
      </p:sp>
      <p:grpSp>
        <p:nvGrpSpPr>
          <p:cNvPr id="3" name="Group 3">
            <a:extLst>
              <a:ext uri="{FF2B5EF4-FFF2-40B4-BE49-F238E27FC236}">
                <a16:creationId xmlns:a16="http://schemas.microsoft.com/office/drawing/2014/main" id="{16CEE1B5-0E6E-5E65-63C4-4B1C7FAA37A0}"/>
              </a:ext>
            </a:extLst>
          </p:cNvPr>
          <p:cNvGrpSpPr/>
          <p:nvPr/>
        </p:nvGrpSpPr>
        <p:grpSpPr>
          <a:xfrm>
            <a:off x="17259300" y="8984615"/>
            <a:ext cx="1573962" cy="1573962"/>
            <a:chOff x="0" y="0"/>
            <a:chExt cx="812800" cy="812800"/>
          </a:xfrm>
        </p:grpSpPr>
        <p:sp>
          <p:nvSpPr>
            <p:cNvPr id="4" name="Freeform 4">
              <a:extLst>
                <a:ext uri="{FF2B5EF4-FFF2-40B4-BE49-F238E27FC236}">
                  <a16:creationId xmlns:a16="http://schemas.microsoft.com/office/drawing/2014/main" id="{E0060009-7B07-C627-6901-A3DAF3E4CB9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3B54"/>
            </a:solidFill>
          </p:spPr>
          <p:txBody>
            <a:bodyPr/>
            <a:lstStyle/>
            <a:p>
              <a:endParaRPr lang="en-CA"/>
            </a:p>
          </p:txBody>
        </p:sp>
        <p:sp>
          <p:nvSpPr>
            <p:cNvPr id="5" name="TextBox 5">
              <a:extLst>
                <a:ext uri="{FF2B5EF4-FFF2-40B4-BE49-F238E27FC236}">
                  <a16:creationId xmlns:a16="http://schemas.microsoft.com/office/drawing/2014/main" id="{6E73EF4E-2C57-3952-B872-FD211EC08CB9}"/>
                </a:ext>
              </a:extLst>
            </p:cNvPr>
            <p:cNvSpPr txBox="1"/>
            <p:nvPr/>
          </p:nvSpPr>
          <p:spPr>
            <a:xfrm>
              <a:off x="76200" y="66675"/>
              <a:ext cx="660400" cy="669925"/>
            </a:xfrm>
            <a:prstGeom prst="rect">
              <a:avLst/>
            </a:prstGeom>
          </p:spPr>
          <p:txBody>
            <a:bodyPr lIns="50800" tIns="50800" rIns="50800" bIns="50800" rtlCol="0" anchor="ctr"/>
            <a:lstStyle/>
            <a:p>
              <a:pPr algn="ctr">
                <a:lnSpc>
                  <a:spcPts val="3042"/>
                </a:lnSpc>
              </a:pPr>
              <a:endParaRPr/>
            </a:p>
          </p:txBody>
        </p:sp>
      </p:grpSp>
      <p:grpSp>
        <p:nvGrpSpPr>
          <p:cNvPr id="6" name="Group 6">
            <a:extLst>
              <a:ext uri="{FF2B5EF4-FFF2-40B4-BE49-F238E27FC236}">
                <a16:creationId xmlns:a16="http://schemas.microsoft.com/office/drawing/2014/main" id="{3F9B5F2D-4ACB-A52F-76D5-86A209C012F7}"/>
              </a:ext>
            </a:extLst>
          </p:cNvPr>
          <p:cNvGrpSpPr/>
          <p:nvPr/>
        </p:nvGrpSpPr>
        <p:grpSpPr>
          <a:xfrm>
            <a:off x="16303701" y="8984615"/>
            <a:ext cx="786981" cy="786981"/>
            <a:chOff x="0" y="0"/>
            <a:chExt cx="812800" cy="812800"/>
          </a:xfrm>
        </p:grpSpPr>
        <p:sp>
          <p:nvSpPr>
            <p:cNvPr id="7" name="Freeform 7">
              <a:extLst>
                <a:ext uri="{FF2B5EF4-FFF2-40B4-BE49-F238E27FC236}">
                  <a16:creationId xmlns:a16="http://schemas.microsoft.com/office/drawing/2014/main" id="{CF30D19D-DDA9-9485-843C-5D54BE98B04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664"/>
            </a:solidFill>
          </p:spPr>
          <p:txBody>
            <a:bodyPr/>
            <a:lstStyle/>
            <a:p>
              <a:endParaRPr lang="en-CA"/>
            </a:p>
          </p:txBody>
        </p:sp>
        <p:sp>
          <p:nvSpPr>
            <p:cNvPr id="8" name="TextBox 8">
              <a:extLst>
                <a:ext uri="{FF2B5EF4-FFF2-40B4-BE49-F238E27FC236}">
                  <a16:creationId xmlns:a16="http://schemas.microsoft.com/office/drawing/2014/main" id="{4920D3A7-9D89-1790-985F-16333420D844}"/>
                </a:ext>
              </a:extLst>
            </p:cNvPr>
            <p:cNvSpPr txBox="1"/>
            <p:nvPr/>
          </p:nvSpPr>
          <p:spPr>
            <a:xfrm>
              <a:off x="76200" y="66675"/>
              <a:ext cx="660400" cy="669925"/>
            </a:xfrm>
            <a:prstGeom prst="rect">
              <a:avLst/>
            </a:prstGeom>
          </p:spPr>
          <p:txBody>
            <a:bodyPr lIns="50800" tIns="50800" rIns="50800" bIns="50800" rtlCol="0" anchor="ctr"/>
            <a:lstStyle/>
            <a:p>
              <a:pPr algn="ctr">
                <a:lnSpc>
                  <a:spcPts val="3042"/>
                </a:lnSpc>
              </a:pPr>
              <a:endParaRPr/>
            </a:p>
          </p:txBody>
        </p:sp>
      </p:grpSp>
      <p:sp>
        <p:nvSpPr>
          <p:cNvPr id="9" name="AutoShape 9">
            <a:extLst>
              <a:ext uri="{FF2B5EF4-FFF2-40B4-BE49-F238E27FC236}">
                <a16:creationId xmlns:a16="http://schemas.microsoft.com/office/drawing/2014/main" id="{9A2221ED-FF5F-E9D5-D5C8-C490C320DCF1}"/>
              </a:ext>
            </a:extLst>
          </p:cNvPr>
          <p:cNvSpPr/>
          <p:nvPr/>
        </p:nvSpPr>
        <p:spPr>
          <a:xfrm>
            <a:off x="0" y="9723971"/>
            <a:ext cx="9144000" cy="0"/>
          </a:xfrm>
          <a:prstGeom prst="line">
            <a:avLst/>
          </a:prstGeom>
          <a:ln w="47625" cap="flat">
            <a:solidFill>
              <a:srgbClr val="004664"/>
            </a:solidFill>
            <a:prstDash val="solid"/>
            <a:headEnd type="none" w="sm" len="sm"/>
            <a:tailEnd type="oval" w="lg" len="lg"/>
          </a:ln>
        </p:spPr>
        <p:txBody>
          <a:bodyPr/>
          <a:lstStyle/>
          <a:p>
            <a:endParaRPr lang="en-CA"/>
          </a:p>
        </p:txBody>
      </p:sp>
      <p:sp>
        <p:nvSpPr>
          <p:cNvPr id="10" name="AutoShape 10">
            <a:extLst>
              <a:ext uri="{FF2B5EF4-FFF2-40B4-BE49-F238E27FC236}">
                <a16:creationId xmlns:a16="http://schemas.microsoft.com/office/drawing/2014/main" id="{C1086B20-0E9E-742A-A77E-864930C18B5A}"/>
              </a:ext>
            </a:extLst>
          </p:cNvPr>
          <p:cNvSpPr/>
          <p:nvPr/>
        </p:nvSpPr>
        <p:spPr>
          <a:xfrm>
            <a:off x="15925021" y="646179"/>
            <a:ext cx="2362979" cy="0"/>
          </a:xfrm>
          <a:prstGeom prst="line">
            <a:avLst/>
          </a:prstGeom>
          <a:ln w="47625" cap="flat">
            <a:solidFill>
              <a:srgbClr val="004664"/>
            </a:solidFill>
            <a:prstDash val="solid"/>
            <a:headEnd type="oval" w="lg" len="lg"/>
            <a:tailEnd type="none" w="sm" len="sm"/>
          </a:ln>
        </p:spPr>
        <p:txBody>
          <a:bodyPr/>
          <a:lstStyle/>
          <a:p>
            <a:endParaRPr lang="en-CA"/>
          </a:p>
        </p:txBody>
      </p:sp>
      <p:sp>
        <p:nvSpPr>
          <p:cNvPr id="11" name="TextBox 11">
            <a:extLst>
              <a:ext uri="{FF2B5EF4-FFF2-40B4-BE49-F238E27FC236}">
                <a16:creationId xmlns:a16="http://schemas.microsoft.com/office/drawing/2014/main" id="{7076EA05-7494-1687-A82B-F34037186769}"/>
              </a:ext>
            </a:extLst>
          </p:cNvPr>
          <p:cNvSpPr txBox="1"/>
          <p:nvPr/>
        </p:nvSpPr>
        <p:spPr>
          <a:xfrm>
            <a:off x="2171334" y="1232157"/>
            <a:ext cx="9625751" cy="958850"/>
          </a:xfrm>
          <a:prstGeom prst="rect">
            <a:avLst/>
          </a:prstGeom>
        </p:spPr>
        <p:txBody>
          <a:bodyPr lIns="0" tIns="0" rIns="0" bIns="0" rtlCol="0" anchor="t">
            <a:spAutoFit/>
          </a:bodyPr>
          <a:lstStyle/>
          <a:p>
            <a:pPr algn="l">
              <a:lnSpc>
                <a:spcPts val="7000"/>
              </a:lnSpc>
              <a:spcBef>
                <a:spcPct val="0"/>
              </a:spcBef>
            </a:pPr>
            <a:r>
              <a:rPr lang="en-US" sz="5000" spc="-100">
                <a:solidFill>
                  <a:srgbClr val="013B54"/>
                </a:solidFill>
                <a:latin typeface="Bugaki"/>
                <a:ea typeface="Bugaki"/>
                <a:cs typeface="Bugaki"/>
                <a:sym typeface="Bugaki"/>
              </a:rPr>
              <a:t>Unsupervised Learning</a:t>
            </a:r>
          </a:p>
        </p:txBody>
      </p:sp>
      <p:grpSp>
        <p:nvGrpSpPr>
          <p:cNvPr id="12" name="Group 12">
            <a:extLst>
              <a:ext uri="{FF2B5EF4-FFF2-40B4-BE49-F238E27FC236}">
                <a16:creationId xmlns:a16="http://schemas.microsoft.com/office/drawing/2014/main" id="{BB7C3054-4A89-F087-36B6-62DEA36383F7}"/>
              </a:ext>
            </a:extLst>
          </p:cNvPr>
          <p:cNvGrpSpPr/>
          <p:nvPr/>
        </p:nvGrpSpPr>
        <p:grpSpPr>
          <a:xfrm>
            <a:off x="1028700" y="1322841"/>
            <a:ext cx="977507" cy="977507"/>
            <a:chOff x="0" y="0"/>
            <a:chExt cx="1303342" cy="1303342"/>
          </a:xfrm>
        </p:grpSpPr>
        <p:sp>
          <p:nvSpPr>
            <p:cNvPr id="13" name="Freeform 13">
              <a:extLst>
                <a:ext uri="{FF2B5EF4-FFF2-40B4-BE49-F238E27FC236}">
                  <a16:creationId xmlns:a16="http://schemas.microsoft.com/office/drawing/2014/main" id="{70779D5C-316A-DFF4-87D0-9E4CE12E8354}"/>
                </a:ext>
              </a:extLst>
            </p:cNvPr>
            <p:cNvSpPr/>
            <p:nvPr/>
          </p:nvSpPr>
          <p:spPr>
            <a:xfrm>
              <a:off x="0" y="0"/>
              <a:ext cx="1303342" cy="1303342"/>
            </a:xfrm>
            <a:custGeom>
              <a:avLst/>
              <a:gdLst/>
              <a:ahLst/>
              <a:cxnLst/>
              <a:rect l="l" t="t" r="r" b="b"/>
              <a:pathLst>
                <a:path w="1303342" h="1303342">
                  <a:moveTo>
                    <a:pt x="0" y="0"/>
                  </a:moveTo>
                  <a:lnTo>
                    <a:pt x="1303342" y="0"/>
                  </a:lnTo>
                  <a:lnTo>
                    <a:pt x="1303342" y="1303342"/>
                  </a:lnTo>
                  <a:lnTo>
                    <a:pt x="0" y="130334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CA"/>
            </a:p>
          </p:txBody>
        </p:sp>
        <p:sp>
          <p:nvSpPr>
            <p:cNvPr id="14" name="TextBox 14">
              <a:extLst>
                <a:ext uri="{FF2B5EF4-FFF2-40B4-BE49-F238E27FC236}">
                  <a16:creationId xmlns:a16="http://schemas.microsoft.com/office/drawing/2014/main" id="{B4424E89-4CDE-5B0B-A957-6DC3BE38153F}"/>
                </a:ext>
              </a:extLst>
            </p:cNvPr>
            <p:cNvSpPr txBox="1"/>
            <p:nvPr/>
          </p:nvSpPr>
          <p:spPr>
            <a:xfrm>
              <a:off x="0" y="135180"/>
              <a:ext cx="1303342" cy="890108"/>
            </a:xfrm>
            <a:prstGeom prst="rect">
              <a:avLst/>
            </a:prstGeom>
          </p:spPr>
          <p:txBody>
            <a:bodyPr lIns="0" tIns="0" rIns="0" bIns="0" rtlCol="0" anchor="t">
              <a:spAutoFit/>
            </a:bodyPr>
            <a:lstStyle/>
            <a:p>
              <a:pPr algn="ctr">
                <a:lnSpc>
                  <a:spcPts val="5148"/>
                </a:lnSpc>
                <a:spcBef>
                  <a:spcPct val="0"/>
                </a:spcBef>
              </a:pPr>
              <a:r>
                <a:rPr lang="en-US" sz="3677" spc="-73">
                  <a:solidFill>
                    <a:srgbClr val="FFFFFF"/>
                  </a:solidFill>
                  <a:latin typeface="Bugaki"/>
                  <a:ea typeface="Bugaki"/>
                  <a:cs typeface="Bugaki"/>
                  <a:sym typeface="Bugaki"/>
                </a:rPr>
                <a:t>06</a:t>
              </a:r>
            </a:p>
          </p:txBody>
        </p:sp>
      </p:grpSp>
      <p:pic>
        <p:nvPicPr>
          <p:cNvPr id="15" name="Picture 14">
            <a:extLst>
              <a:ext uri="{FF2B5EF4-FFF2-40B4-BE49-F238E27FC236}">
                <a16:creationId xmlns:a16="http://schemas.microsoft.com/office/drawing/2014/main" id="{9C095DAB-9BD1-F164-05CA-DA1EA21C9067}"/>
              </a:ext>
            </a:extLst>
          </p:cNvPr>
          <p:cNvPicPr>
            <a:picLocks noChangeAspect="1"/>
          </p:cNvPicPr>
          <p:nvPr/>
        </p:nvPicPr>
        <p:blipFill>
          <a:blip r:embed="rId5"/>
          <a:stretch>
            <a:fillRect/>
          </a:stretch>
        </p:blipFill>
        <p:spPr>
          <a:xfrm>
            <a:off x="1404938" y="3265488"/>
            <a:ext cx="7096125" cy="4549775"/>
          </a:xfrm>
          <a:prstGeom prst="rect">
            <a:avLst/>
          </a:prstGeom>
        </p:spPr>
      </p:pic>
      <p:pic>
        <p:nvPicPr>
          <p:cNvPr id="16" name="Picture 15">
            <a:extLst>
              <a:ext uri="{FF2B5EF4-FFF2-40B4-BE49-F238E27FC236}">
                <a16:creationId xmlns:a16="http://schemas.microsoft.com/office/drawing/2014/main" id="{B43458AD-6C51-1579-BBBB-383B94B035D1}"/>
              </a:ext>
            </a:extLst>
          </p:cNvPr>
          <p:cNvPicPr>
            <a:picLocks noChangeAspect="1"/>
          </p:cNvPicPr>
          <p:nvPr/>
        </p:nvPicPr>
        <p:blipFill>
          <a:blip r:embed="rId6"/>
          <a:stretch>
            <a:fillRect/>
          </a:stretch>
        </p:blipFill>
        <p:spPr>
          <a:xfrm>
            <a:off x="9240838" y="3268663"/>
            <a:ext cx="7458075" cy="4543425"/>
          </a:xfrm>
          <a:prstGeom prst="rect">
            <a:avLst/>
          </a:prstGeom>
        </p:spPr>
      </p:pic>
      <p:sp>
        <p:nvSpPr>
          <p:cNvPr id="21" name="TextBox 15">
            <a:extLst>
              <a:ext uri="{FF2B5EF4-FFF2-40B4-BE49-F238E27FC236}">
                <a16:creationId xmlns:a16="http://schemas.microsoft.com/office/drawing/2014/main" id="{F94B5F44-3AC8-C0B5-9ED4-9DDB501479D9}"/>
              </a:ext>
            </a:extLst>
          </p:cNvPr>
          <p:cNvSpPr txBox="1"/>
          <p:nvPr/>
        </p:nvSpPr>
        <p:spPr>
          <a:xfrm>
            <a:off x="1409334" y="2711308"/>
            <a:ext cx="6984247" cy="448841"/>
          </a:xfrm>
          <a:prstGeom prst="rect">
            <a:avLst/>
          </a:prstGeom>
        </p:spPr>
        <p:txBody>
          <a:bodyPr wrap="square" lIns="0" tIns="0" rIns="0" bIns="0" rtlCol="0" anchor="t">
            <a:spAutoFit/>
          </a:bodyPr>
          <a:lstStyle/>
          <a:p>
            <a:pPr lvl="5" algn="just">
              <a:lnSpc>
                <a:spcPts val="3509"/>
              </a:lnSpc>
            </a:pPr>
            <a:r>
              <a:rPr lang="en-US" sz="3000" spc="-60">
                <a:solidFill>
                  <a:srgbClr val="000000"/>
                </a:solidFill>
                <a:latin typeface="Open Sauce"/>
                <a:ea typeface="Open Sauce"/>
                <a:cs typeface="Open Sauce"/>
                <a:sym typeface="Open Sauce"/>
              </a:rPr>
              <a:t>Autoencoder</a:t>
            </a:r>
            <a:endParaRPr lang="en-US" sz="3000" spc="-60" err="1">
              <a:solidFill>
                <a:srgbClr val="000000"/>
              </a:solidFill>
              <a:latin typeface="Open Sauce"/>
              <a:ea typeface="Open Sauce"/>
              <a:cs typeface="Open Sauce"/>
            </a:endParaRPr>
          </a:p>
        </p:txBody>
      </p:sp>
      <p:sp>
        <p:nvSpPr>
          <p:cNvPr id="22" name="TextBox 15">
            <a:extLst>
              <a:ext uri="{FF2B5EF4-FFF2-40B4-BE49-F238E27FC236}">
                <a16:creationId xmlns:a16="http://schemas.microsoft.com/office/drawing/2014/main" id="{CDD22B10-EE0A-33A6-75AD-DF65B577FBEB}"/>
              </a:ext>
            </a:extLst>
          </p:cNvPr>
          <p:cNvSpPr txBox="1"/>
          <p:nvPr/>
        </p:nvSpPr>
        <p:spPr>
          <a:xfrm>
            <a:off x="9235708" y="2711308"/>
            <a:ext cx="7460497" cy="448841"/>
          </a:xfrm>
          <a:prstGeom prst="rect">
            <a:avLst/>
          </a:prstGeom>
        </p:spPr>
        <p:txBody>
          <a:bodyPr wrap="square" lIns="0" tIns="0" rIns="0" bIns="0" rtlCol="0" anchor="t">
            <a:spAutoFit/>
          </a:bodyPr>
          <a:lstStyle/>
          <a:p>
            <a:pPr lvl="3" algn="just">
              <a:lnSpc>
                <a:spcPts val="3509"/>
              </a:lnSpc>
            </a:pPr>
            <a:r>
              <a:rPr lang="en-US" sz="3000" spc="-60">
                <a:solidFill>
                  <a:srgbClr val="000000"/>
                </a:solidFill>
                <a:latin typeface="Open Sauce"/>
                <a:ea typeface="Open Sauce"/>
                <a:cs typeface="Open Sauce"/>
                <a:sym typeface="Open Sauce"/>
              </a:rPr>
              <a:t>Variational </a:t>
            </a:r>
            <a:r>
              <a:rPr lang="en-US" sz="3000" spc="-60" err="1">
                <a:solidFill>
                  <a:srgbClr val="000000"/>
                </a:solidFill>
                <a:latin typeface="Open Sauce"/>
                <a:ea typeface="Open Sauce"/>
                <a:cs typeface="Open Sauce"/>
                <a:sym typeface="Open Sauce"/>
              </a:rPr>
              <a:t>AutoEncoder</a:t>
            </a:r>
            <a:r>
              <a:rPr lang="en-US" sz="3000" spc="-60">
                <a:solidFill>
                  <a:srgbClr val="000000"/>
                </a:solidFill>
                <a:latin typeface="Open Sauce"/>
                <a:ea typeface="Open Sauce"/>
                <a:cs typeface="Open Sauce"/>
                <a:sym typeface="Open Sauce"/>
              </a:rPr>
              <a:t> (VAE)</a:t>
            </a:r>
            <a:endParaRPr lang="en-US" sz="3000" spc="-60" err="1">
              <a:solidFill>
                <a:srgbClr val="000000"/>
              </a:solidFill>
              <a:latin typeface="Open Sauce"/>
              <a:ea typeface="Open Sauce"/>
              <a:cs typeface="Open Sauce"/>
            </a:endParaRPr>
          </a:p>
        </p:txBody>
      </p:sp>
    </p:spTree>
    <p:extLst>
      <p:ext uri="{BB962C8B-B14F-4D97-AF65-F5344CB8AC3E}">
        <p14:creationId xmlns:p14="http://schemas.microsoft.com/office/powerpoint/2010/main" val="39170408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CA"/>
          </a:p>
        </p:txBody>
      </p:sp>
      <p:grpSp>
        <p:nvGrpSpPr>
          <p:cNvPr id="3" name="Group 3"/>
          <p:cNvGrpSpPr/>
          <p:nvPr/>
        </p:nvGrpSpPr>
        <p:grpSpPr>
          <a:xfrm>
            <a:off x="17259300" y="8984615"/>
            <a:ext cx="1573962" cy="1573962"/>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3B54"/>
            </a:solidFill>
          </p:spPr>
          <p:txBody>
            <a:bodyPr/>
            <a:lstStyle/>
            <a:p>
              <a:endParaRPr lang="en-CA"/>
            </a:p>
          </p:txBody>
        </p:sp>
        <p:sp>
          <p:nvSpPr>
            <p:cNvPr id="5" name="TextBox 5"/>
            <p:cNvSpPr txBox="1"/>
            <p:nvPr/>
          </p:nvSpPr>
          <p:spPr>
            <a:xfrm>
              <a:off x="76200" y="66675"/>
              <a:ext cx="660400" cy="669925"/>
            </a:xfrm>
            <a:prstGeom prst="rect">
              <a:avLst/>
            </a:prstGeom>
          </p:spPr>
          <p:txBody>
            <a:bodyPr lIns="50800" tIns="50800" rIns="50800" bIns="50800" rtlCol="0" anchor="ctr"/>
            <a:lstStyle/>
            <a:p>
              <a:pPr algn="ctr">
                <a:lnSpc>
                  <a:spcPts val="3042"/>
                </a:lnSpc>
              </a:pPr>
              <a:endParaRPr/>
            </a:p>
          </p:txBody>
        </p:sp>
      </p:grpSp>
      <p:grpSp>
        <p:nvGrpSpPr>
          <p:cNvPr id="6" name="Group 6"/>
          <p:cNvGrpSpPr/>
          <p:nvPr/>
        </p:nvGrpSpPr>
        <p:grpSpPr>
          <a:xfrm>
            <a:off x="16303701" y="8984615"/>
            <a:ext cx="786981" cy="786981"/>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664"/>
            </a:solidFill>
          </p:spPr>
          <p:txBody>
            <a:bodyPr/>
            <a:lstStyle/>
            <a:p>
              <a:endParaRPr lang="en-CA"/>
            </a:p>
          </p:txBody>
        </p:sp>
        <p:sp>
          <p:nvSpPr>
            <p:cNvPr id="8" name="TextBox 8"/>
            <p:cNvSpPr txBox="1"/>
            <p:nvPr/>
          </p:nvSpPr>
          <p:spPr>
            <a:xfrm>
              <a:off x="76200" y="66675"/>
              <a:ext cx="660400" cy="669925"/>
            </a:xfrm>
            <a:prstGeom prst="rect">
              <a:avLst/>
            </a:prstGeom>
          </p:spPr>
          <p:txBody>
            <a:bodyPr lIns="50800" tIns="50800" rIns="50800" bIns="50800" rtlCol="0" anchor="ctr"/>
            <a:lstStyle/>
            <a:p>
              <a:pPr algn="ctr">
                <a:lnSpc>
                  <a:spcPts val="3042"/>
                </a:lnSpc>
              </a:pPr>
              <a:endParaRPr/>
            </a:p>
          </p:txBody>
        </p:sp>
      </p:grpSp>
      <p:sp>
        <p:nvSpPr>
          <p:cNvPr id="9" name="AutoShape 9"/>
          <p:cNvSpPr/>
          <p:nvPr/>
        </p:nvSpPr>
        <p:spPr>
          <a:xfrm>
            <a:off x="0" y="9723971"/>
            <a:ext cx="9144000" cy="0"/>
          </a:xfrm>
          <a:prstGeom prst="line">
            <a:avLst/>
          </a:prstGeom>
          <a:ln w="47625" cap="flat">
            <a:solidFill>
              <a:srgbClr val="004664"/>
            </a:solidFill>
            <a:prstDash val="solid"/>
            <a:headEnd type="none" w="sm" len="sm"/>
            <a:tailEnd type="oval" w="lg" len="lg"/>
          </a:ln>
        </p:spPr>
        <p:txBody>
          <a:bodyPr/>
          <a:lstStyle/>
          <a:p>
            <a:endParaRPr lang="en-CA"/>
          </a:p>
        </p:txBody>
      </p:sp>
      <p:sp>
        <p:nvSpPr>
          <p:cNvPr id="10" name="AutoShape 10"/>
          <p:cNvSpPr/>
          <p:nvPr/>
        </p:nvSpPr>
        <p:spPr>
          <a:xfrm>
            <a:off x="15925021" y="646179"/>
            <a:ext cx="2362979" cy="0"/>
          </a:xfrm>
          <a:prstGeom prst="line">
            <a:avLst/>
          </a:prstGeom>
          <a:ln w="47625" cap="flat">
            <a:solidFill>
              <a:srgbClr val="004664"/>
            </a:solidFill>
            <a:prstDash val="solid"/>
            <a:headEnd type="oval" w="lg" len="lg"/>
            <a:tailEnd type="none" w="sm" len="sm"/>
          </a:ln>
        </p:spPr>
        <p:txBody>
          <a:bodyPr/>
          <a:lstStyle/>
          <a:p>
            <a:endParaRPr lang="en-CA"/>
          </a:p>
        </p:txBody>
      </p:sp>
      <p:sp>
        <p:nvSpPr>
          <p:cNvPr id="11" name="TextBox 11"/>
          <p:cNvSpPr txBox="1"/>
          <p:nvPr/>
        </p:nvSpPr>
        <p:spPr>
          <a:xfrm>
            <a:off x="2171334" y="1232157"/>
            <a:ext cx="9625751" cy="958850"/>
          </a:xfrm>
          <a:prstGeom prst="rect">
            <a:avLst/>
          </a:prstGeom>
        </p:spPr>
        <p:txBody>
          <a:bodyPr lIns="0" tIns="0" rIns="0" bIns="0" rtlCol="0" anchor="t">
            <a:spAutoFit/>
          </a:bodyPr>
          <a:lstStyle/>
          <a:p>
            <a:pPr algn="l">
              <a:lnSpc>
                <a:spcPts val="7000"/>
              </a:lnSpc>
              <a:spcBef>
                <a:spcPct val="0"/>
              </a:spcBef>
            </a:pPr>
            <a:r>
              <a:rPr lang="en-US" sz="5000" spc="-100">
                <a:solidFill>
                  <a:srgbClr val="013B54"/>
                </a:solidFill>
                <a:latin typeface="Bugaki"/>
                <a:ea typeface="Bugaki"/>
                <a:cs typeface="Bugaki"/>
                <a:sym typeface="Bugaki"/>
              </a:rPr>
              <a:t>State-of-the-Art Models</a:t>
            </a:r>
          </a:p>
        </p:txBody>
      </p:sp>
      <p:grpSp>
        <p:nvGrpSpPr>
          <p:cNvPr id="12" name="Group 12"/>
          <p:cNvGrpSpPr/>
          <p:nvPr/>
        </p:nvGrpSpPr>
        <p:grpSpPr>
          <a:xfrm>
            <a:off x="1028700" y="1322841"/>
            <a:ext cx="977507" cy="977507"/>
            <a:chOff x="0" y="0"/>
            <a:chExt cx="1303342" cy="1303342"/>
          </a:xfrm>
        </p:grpSpPr>
        <p:sp>
          <p:nvSpPr>
            <p:cNvPr id="13" name="Freeform 13"/>
            <p:cNvSpPr/>
            <p:nvPr/>
          </p:nvSpPr>
          <p:spPr>
            <a:xfrm>
              <a:off x="0" y="0"/>
              <a:ext cx="1303342" cy="1303342"/>
            </a:xfrm>
            <a:custGeom>
              <a:avLst/>
              <a:gdLst/>
              <a:ahLst/>
              <a:cxnLst/>
              <a:rect l="l" t="t" r="r" b="b"/>
              <a:pathLst>
                <a:path w="1303342" h="1303342">
                  <a:moveTo>
                    <a:pt x="0" y="0"/>
                  </a:moveTo>
                  <a:lnTo>
                    <a:pt x="1303342" y="0"/>
                  </a:lnTo>
                  <a:lnTo>
                    <a:pt x="1303342" y="1303342"/>
                  </a:lnTo>
                  <a:lnTo>
                    <a:pt x="0" y="130334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CA"/>
            </a:p>
          </p:txBody>
        </p:sp>
        <p:sp>
          <p:nvSpPr>
            <p:cNvPr id="14" name="TextBox 14"/>
            <p:cNvSpPr txBox="1"/>
            <p:nvPr/>
          </p:nvSpPr>
          <p:spPr>
            <a:xfrm>
              <a:off x="0" y="135180"/>
              <a:ext cx="1303342" cy="890108"/>
            </a:xfrm>
            <a:prstGeom prst="rect">
              <a:avLst/>
            </a:prstGeom>
          </p:spPr>
          <p:txBody>
            <a:bodyPr lIns="0" tIns="0" rIns="0" bIns="0" rtlCol="0" anchor="t">
              <a:spAutoFit/>
            </a:bodyPr>
            <a:lstStyle/>
            <a:p>
              <a:pPr algn="ctr">
                <a:lnSpc>
                  <a:spcPts val="5148"/>
                </a:lnSpc>
                <a:spcBef>
                  <a:spcPct val="0"/>
                </a:spcBef>
              </a:pPr>
              <a:r>
                <a:rPr lang="en-US" sz="3677" spc="-73">
                  <a:solidFill>
                    <a:srgbClr val="FFFFFF"/>
                  </a:solidFill>
                  <a:latin typeface="Bugaki"/>
                  <a:ea typeface="Bugaki"/>
                  <a:cs typeface="Bugaki"/>
                  <a:sym typeface="Bugaki"/>
                </a:rPr>
                <a:t>07</a:t>
              </a:r>
            </a:p>
          </p:txBody>
        </p:sp>
      </p:grpSp>
      <p:sp>
        <p:nvSpPr>
          <p:cNvPr id="15" name="TextBox 15"/>
          <p:cNvSpPr txBox="1"/>
          <p:nvPr/>
        </p:nvSpPr>
        <p:spPr>
          <a:xfrm>
            <a:off x="2171334" y="2536683"/>
            <a:ext cx="7650997" cy="5834931"/>
          </a:xfrm>
          <a:prstGeom prst="rect">
            <a:avLst/>
          </a:prstGeom>
        </p:spPr>
        <p:txBody>
          <a:bodyPr lIns="0" tIns="0" rIns="0" bIns="0" rtlCol="0" anchor="t">
            <a:spAutoFit/>
          </a:bodyPr>
          <a:lstStyle/>
          <a:p>
            <a:pPr algn="just">
              <a:lnSpc>
                <a:spcPts val="3509"/>
              </a:lnSpc>
            </a:pPr>
            <a:r>
              <a:rPr lang="en-US" sz="3000" spc="-60" dirty="0">
                <a:solidFill>
                  <a:srgbClr val="000000"/>
                </a:solidFill>
                <a:latin typeface="Open Sauce"/>
                <a:ea typeface="Open Sauce"/>
                <a:cs typeface="Open Sauce"/>
              </a:rPr>
              <a:t>Vision Transformer or ViT</a:t>
            </a:r>
          </a:p>
          <a:p>
            <a:pPr marL="457200" indent="-457200" algn="just">
              <a:lnSpc>
                <a:spcPts val="3509"/>
              </a:lnSpc>
              <a:buFont typeface="Calibri"/>
              <a:buChar char="-"/>
            </a:pPr>
            <a:r>
              <a:rPr lang="en-US" sz="3000" spc="-60" dirty="0">
                <a:solidFill>
                  <a:srgbClr val="000000"/>
                </a:solidFill>
                <a:latin typeface="Open Sauce"/>
                <a:ea typeface="Open Sauce"/>
                <a:cs typeface="Open Sauce"/>
              </a:rPr>
              <a:t>Released in Oct 2020 for vision recognition</a:t>
            </a:r>
          </a:p>
          <a:p>
            <a:pPr marL="457200" indent="-457200" algn="just">
              <a:lnSpc>
                <a:spcPts val="3509"/>
              </a:lnSpc>
              <a:buFont typeface="Calibri"/>
              <a:buChar char="-"/>
            </a:pPr>
            <a:r>
              <a:rPr lang="en-US" sz="3000" spc="-60" dirty="0">
                <a:solidFill>
                  <a:srgbClr val="000000"/>
                </a:solidFill>
                <a:latin typeface="Open Sauce"/>
                <a:ea typeface="Open Sauce"/>
                <a:cs typeface="Open Sauce"/>
              </a:rPr>
              <a:t>Several variants now exist</a:t>
            </a:r>
          </a:p>
          <a:p>
            <a:pPr marL="457200" indent="-457200" algn="just">
              <a:lnSpc>
                <a:spcPts val="3509"/>
              </a:lnSpc>
              <a:buFont typeface="Calibri"/>
              <a:buChar char="-"/>
            </a:pPr>
            <a:r>
              <a:rPr lang="en-US" sz="3000" spc="-60" dirty="0">
                <a:solidFill>
                  <a:srgbClr val="000000"/>
                </a:solidFill>
                <a:latin typeface="Open Sauce"/>
                <a:ea typeface="Open Sauce"/>
                <a:cs typeface="Open Sauce"/>
              </a:rPr>
              <a:t>Said to outperform similar CNN models by </a:t>
            </a:r>
            <a:r>
              <a:rPr lang="en-US" sz="3000" spc="-60" dirty="0" err="1">
                <a:solidFill>
                  <a:srgbClr val="000000"/>
                </a:solidFill>
                <a:latin typeface="Open Sauce"/>
                <a:ea typeface="Open Sauce"/>
                <a:cs typeface="Open Sauce"/>
              </a:rPr>
              <a:t>upto</a:t>
            </a:r>
            <a:r>
              <a:rPr lang="en-US" sz="3000" spc="-60" dirty="0">
                <a:solidFill>
                  <a:srgbClr val="000000"/>
                </a:solidFill>
                <a:latin typeface="Open Sauce"/>
                <a:ea typeface="Open Sauce"/>
                <a:cs typeface="Open Sauce"/>
              </a:rPr>
              <a:t> 4x</a:t>
            </a:r>
          </a:p>
          <a:p>
            <a:pPr marL="457200" indent="-457200" algn="just">
              <a:lnSpc>
                <a:spcPts val="3509"/>
              </a:lnSpc>
              <a:buFont typeface="Calibri"/>
              <a:buChar char="-"/>
            </a:pPr>
            <a:r>
              <a:rPr lang="en-US" sz="3000" spc="-60" dirty="0">
                <a:solidFill>
                  <a:srgbClr val="000000"/>
                </a:solidFill>
                <a:latin typeface="Open Sauce"/>
                <a:ea typeface="Open Sauce"/>
                <a:cs typeface="Open Sauce"/>
              </a:rPr>
              <a:t>Using </a:t>
            </a:r>
            <a:r>
              <a:rPr lang="en-US" sz="3000" spc="-60" dirty="0">
                <a:solidFill>
                  <a:srgbClr val="000000"/>
                </a:solidFill>
                <a:ea typeface="+mn-lt"/>
                <a:cs typeface="+mn-lt"/>
              </a:rPr>
              <a:t>google/vit-base-patch16-224-in21k</a:t>
            </a:r>
          </a:p>
          <a:p>
            <a:pPr marL="457200" indent="-457200" algn="just">
              <a:lnSpc>
                <a:spcPts val="3509"/>
              </a:lnSpc>
              <a:buFont typeface="Calibri"/>
              <a:buChar char="-"/>
            </a:pPr>
            <a:r>
              <a:rPr lang="en-US" sz="3000" spc="-60" dirty="0">
                <a:solidFill>
                  <a:srgbClr val="000000"/>
                </a:solidFill>
                <a:latin typeface="Open Sauce"/>
                <a:ea typeface="Open Sauce"/>
                <a:cs typeface="Open Sauce"/>
              </a:rPr>
              <a:t>Uses self-attention mechanism</a:t>
            </a:r>
          </a:p>
          <a:p>
            <a:pPr marL="914400" lvl="1" indent="-457200" algn="just">
              <a:lnSpc>
                <a:spcPts val="3509"/>
              </a:lnSpc>
              <a:buFont typeface="Courier New"/>
              <a:buChar char="o"/>
            </a:pPr>
            <a:r>
              <a:rPr lang="en-US" sz="3000" spc="-60" dirty="0">
                <a:solidFill>
                  <a:srgbClr val="000000"/>
                </a:solidFill>
                <a:latin typeface="Open Sauce"/>
                <a:ea typeface="Open Sauce"/>
                <a:cs typeface="Open Sauce"/>
              </a:rPr>
              <a:t>Captures long-range dependencies and contextual information</a:t>
            </a:r>
          </a:p>
          <a:p>
            <a:pPr marL="457200" indent="-457200" algn="just">
              <a:lnSpc>
                <a:spcPts val="3509"/>
              </a:lnSpc>
              <a:buFont typeface="Calibri"/>
              <a:buChar char="-"/>
            </a:pPr>
            <a:r>
              <a:rPr lang="en-US" sz="3000" spc="-60" dirty="0">
                <a:solidFill>
                  <a:srgbClr val="000000"/>
                </a:solidFill>
                <a:latin typeface="Open Sauce"/>
                <a:ea typeface="Open Sauce"/>
                <a:cs typeface="Open Sauce"/>
              </a:rPr>
              <a:t>Uses attention maps</a:t>
            </a:r>
          </a:p>
          <a:p>
            <a:pPr marL="914400" lvl="1" indent="-457200" algn="just">
              <a:lnSpc>
                <a:spcPts val="3509"/>
              </a:lnSpc>
              <a:buFont typeface="Courier New"/>
              <a:buChar char="o"/>
            </a:pPr>
            <a:r>
              <a:rPr lang="en-US" sz="3000" spc="-60" dirty="0">
                <a:solidFill>
                  <a:srgbClr val="000000"/>
                </a:solidFill>
                <a:latin typeface="Open Sauce"/>
                <a:ea typeface="Open Sauce"/>
                <a:cs typeface="Open Sauce"/>
              </a:rPr>
              <a:t>Matrics that represent the importance of different parts of input image</a:t>
            </a:r>
          </a:p>
        </p:txBody>
      </p:sp>
      <p:pic>
        <p:nvPicPr>
          <p:cNvPr id="16" name="Picture 15">
            <a:extLst>
              <a:ext uri="{FF2B5EF4-FFF2-40B4-BE49-F238E27FC236}">
                <a16:creationId xmlns:a16="http://schemas.microsoft.com/office/drawing/2014/main" id="{E8559F79-C049-2C17-FD70-9782D664E375}"/>
              </a:ext>
            </a:extLst>
          </p:cNvPr>
          <p:cNvPicPr>
            <a:picLocks noChangeAspect="1"/>
          </p:cNvPicPr>
          <p:nvPr/>
        </p:nvPicPr>
        <p:blipFill>
          <a:blip r:embed="rId5"/>
          <a:stretch>
            <a:fillRect/>
          </a:stretch>
        </p:blipFill>
        <p:spPr>
          <a:xfrm>
            <a:off x="11039475" y="2295525"/>
            <a:ext cx="4897755" cy="451104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A9F9F4-95D4-C098-CC4E-7C52866C995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B6AD22B-BD2B-4586-61CB-81E420964459}"/>
              </a:ext>
            </a:extLst>
          </p:cNvPr>
          <p:cNvSpPr/>
          <p:nvPr/>
        </p:nvSpPr>
        <p:spPr>
          <a:xfrm>
            <a:off x="0" y="0"/>
            <a:ext cx="18685703"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CA"/>
          </a:p>
        </p:txBody>
      </p:sp>
      <p:grpSp>
        <p:nvGrpSpPr>
          <p:cNvPr id="3" name="Group 3">
            <a:extLst>
              <a:ext uri="{FF2B5EF4-FFF2-40B4-BE49-F238E27FC236}">
                <a16:creationId xmlns:a16="http://schemas.microsoft.com/office/drawing/2014/main" id="{95234357-4C38-C8A9-F7AB-A6042C1AC211}"/>
              </a:ext>
            </a:extLst>
          </p:cNvPr>
          <p:cNvGrpSpPr/>
          <p:nvPr/>
        </p:nvGrpSpPr>
        <p:grpSpPr>
          <a:xfrm>
            <a:off x="17259300" y="8984615"/>
            <a:ext cx="1573962" cy="1573962"/>
            <a:chOff x="0" y="0"/>
            <a:chExt cx="812800" cy="812800"/>
          </a:xfrm>
        </p:grpSpPr>
        <p:sp>
          <p:nvSpPr>
            <p:cNvPr id="4" name="Freeform 4">
              <a:extLst>
                <a:ext uri="{FF2B5EF4-FFF2-40B4-BE49-F238E27FC236}">
                  <a16:creationId xmlns:a16="http://schemas.microsoft.com/office/drawing/2014/main" id="{39DBC09A-F1EB-CA85-FABE-FF2D2617806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3B54"/>
            </a:solidFill>
          </p:spPr>
          <p:txBody>
            <a:bodyPr/>
            <a:lstStyle/>
            <a:p>
              <a:endParaRPr lang="en-CA"/>
            </a:p>
          </p:txBody>
        </p:sp>
        <p:sp>
          <p:nvSpPr>
            <p:cNvPr id="5" name="TextBox 5">
              <a:extLst>
                <a:ext uri="{FF2B5EF4-FFF2-40B4-BE49-F238E27FC236}">
                  <a16:creationId xmlns:a16="http://schemas.microsoft.com/office/drawing/2014/main" id="{9AAD04B1-B534-12E6-69CC-02D574DA8A47}"/>
                </a:ext>
              </a:extLst>
            </p:cNvPr>
            <p:cNvSpPr txBox="1"/>
            <p:nvPr/>
          </p:nvSpPr>
          <p:spPr>
            <a:xfrm>
              <a:off x="76200" y="66675"/>
              <a:ext cx="660400" cy="669925"/>
            </a:xfrm>
            <a:prstGeom prst="rect">
              <a:avLst/>
            </a:prstGeom>
          </p:spPr>
          <p:txBody>
            <a:bodyPr lIns="50800" tIns="50800" rIns="50800" bIns="50800" rtlCol="0" anchor="ctr"/>
            <a:lstStyle/>
            <a:p>
              <a:pPr algn="ctr">
                <a:lnSpc>
                  <a:spcPts val="3042"/>
                </a:lnSpc>
              </a:pPr>
              <a:endParaRPr/>
            </a:p>
          </p:txBody>
        </p:sp>
      </p:grpSp>
      <p:grpSp>
        <p:nvGrpSpPr>
          <p:cNvPr id="6" name="Group 6">
            <a:extLst>
              <a:ext uri="{FF2B5EF4-FFF2-40B4-BE49-F238E27FC236}">
                <a16:creationId xmlns:a16="http://schemas.microsoft.com/office/drawing/2014/main" id="{7CA64BF7-1464-9168-6C8F-BCE27634F781}"/>
              </a:ext>
            </a:extLst>
          </p:cNvPr>
          <p:cNvGrpSpPr/>
          <p:nvPr/>
        </p:nvGrpSpPr>
        <p:grpSpPr>
          <a:xfrm>
            <a:off x="16303701" y="8984615"/>
            <a:ext cx="786981" cy="786981"/>
            <a:chOff x="0" y="0"/>
            <a:chExt cx="812800" cy="812800"/>
          </a:xfrm>
        </p:grpSpPr>
        <p:sp>
          <p:nvSpPr>
            <p:cNvPr id="7" name="Freeform 7">
              <a:extLst>
                <a:ext uri="{FF2B5EF4-FFF2-40B4-BE49-F238E27FC236}">
                  <a16:creationId xmlns:a16="http://schemas.microsoft.com/office/drawing/2014/main" id="{1244FDA4-B87B-3C19-E555-3A704A769AC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664"/>
            </a:solidFill>
          </p:spPr>
          <p:txBody>
            <a:bodyPr/>
            <a:lstStyle/>
            <a:p>
              <a:endParaRPr lang="en-CA"/>
            </a:p>
          </p:txBody>
        </p:sp>
        <p:sp>
          <p:nvSpPr>
            <p:cNvPr id="8" name="TextBox 8">
              <a:extLst>
                <a:ext uri="{FF2B5EF4-FFF2-40B4-BE49-F238E27FC236}">
                  <a16:creationId xmlns:a16="http://schemas.microsoft.com/office/drawing/2014/main" id="{2009F8D4-6DDB-DCCB-DA07-7FEE0C9CFA81}"/>
                </a:ext>
              </a:extLst>
            </p:cNvPr>
            <p:cNvSpPr txBox="1"/>
            <p:nvPr/>
          </p:nvSpPr>
          <p:spPr>
            <a:xfrm>
              <a:off x="76200" y="66675"/>
              <a:ext cx="660400" cy="669925"/>
            </a:xfrm>
            <a:prstGeom prst="rect">
              <a:avLst/>
            </a:prstGeom>
          </p:spPr>
          <p:txBody>
            <a:bodyPr lIns="50800" tIns="50800" rIns="50800" bIns="50800" rtlCol="0" anchor="ctr"/>
            <a:lstStyle/>
            <a:p>
              <a:pPr algn="ctr">
                <a:lnSpc>
                  <a:spcPts val="3042"/>
                </a:lnSpc>
              </a:pPr>
              <a:endParaRPr/>
            </a:p>
          </p:txBody>
        </p:sp>
      </p:grpSp>
      <p:sp>
        <p:nvSpPr>
          <p:cNvPr id="9" name="AutoShape 9">
            <a:extLst>
              <a:ext uri="{FF2B5EF4-FFF2-40B4-BE49-F238E27FC236}">
                <a16:creationId xmlns:a16="http://schemas.microsoft.com/office/drawing/2014/main" id="{C937E8D8-C6A5-3B64-0817-AC012AB6056D}"/>
              </a:ext>
            </a:extLst>
          </p:cNvPr>
          <p:cNvSpPr/>
          <p:nvPr/>
        </p:nvSpPr>
        <p:spPr>
          <a:xfrm>
            <a:off x="0" y="9723971"/>
            <a:ext cx="9144000" cy="0"/>
          </a:xfrm>
          <a:prstGeom prst="line">
            <a:avLst/>
          </a:prstGeom>
          <a:ln w="47625" cap="flat">
            <a:solidFill>
              <a:srgbClr val="004664"/>
            </a:solidFill>
            <a:prstDash val="solid"/>
            <a:headEnd type="none" w="sm" len="sm"/>
            <a:tailEnd type="oval" w="lg" len="lg"/>
          </a:ln>
        </p:spPr>
        <p:txBody>
          <a:bodyPr/>
          <a:lstStyle/>
          <a:p>
            <a:endParaRPr lang="en-CA"/>
          </a:p>
        </p:txBody>
      </p:sp>
      <p:sp>
        <p:nvSpPr>
          <p:cNvPr id="10" name="AutoShape 10">
            <a:extLst>
              <a:ext uri="{FF2B5EF4-FFF2-40B4-BE49-F238E27FC236}">
                <a16:creationId xmlns:a16="http://schemas.microsoft.com/office/drawing/2014/main" id="{BC916F65-4311-7D55-99B3-148E31C6B616}"/>
              </a:ext>
            </a:extLst>
          </p:cNvPr>
          <p:cNvSpPr/>
          <p:nvPr/>
        </p:nvSpPr>
        <p:spPr>
          <a:xfrm>
            <a:off x="15925021" y="646179"/>
            <a:ext cx="2362979" cy="0"/>
          </a:xfrm>
          <a:prstGeom prst="line">
            <a:avLst/>
          </a:prstGeom>
          <a:ln w="47625" cap="flat">
            <a:solidFill>
              <a:srgbClr val="004664"/>
            </a:solidFill>
            <a:prstDash val="solid"/>
            <a:headEnd type="oval" w="lg" len="lg"/>
            <a:tailEnd type="none" w="sm" len="sm"/>
          </a:ln>
        </p:spPr>
        <p:txBody>
          <a:bodyPr/>
          <a:lstStyle/>
          <a:p>
            <a:endParaRPr lang="en-CA"/>
          </a:p>
        </p:txBody>
      </p:sp>
      <p:sp>
        <p:nvSpPr>
          <p:cNvPr id="11" name="TextBox 11">
            <a:extLst>
              <a:ext uri="{FF2B5EF4-FFF2-40B4-BE49-F238E27FC236}">
                <a16:creationId xmlns:a16="http://schemas.microsoft.com/office/drawing/2014/main" id="{E61164E7-A234-3043-38A6-92C3547E7EA0}"/>
              </a:ext>
            </a:extLst>
          </p:cNvPr>
          <p:cNvSpPr txBox="1"/>
          <p:nvPr/>
        </p:nvSpPr>
        <p:spPr>
          <a:xfrm>
            <a:off x="2171334" y="1232157"/>
            <a:ext cx="9625751" cy="958850"/>
          </a:xfrm>
          <a:prstGeom prst="rect">
            <a:avLst/>
          </a:prstGeom>
        </p:spPr>
        <p:txBody>
          <a:bodyPr lIns="0" tIns="0" rIns="0" bIns="0" rtlCol="0" anchor="t">
            <a:spAutoFit/>
          </a:bodyPr>
          <a:lstStyle/>
          <a:p>
            <a:pPr algn="l">
              <a:lnSpc>
                <a:spcPts val="7000"/>
              </a:lnSpc>
              <a:spcBef>
                <a:spcPct val="0"/>
              </a:spcBef>
            </a:pPr>
            <a:r>
              <a:rPr lang="en-US" sz="5000" spc="-100">
                <a:solidFill>
                  <a:srgbClr val="013B54"/>
                </a:solidFill>
                <a:latin typeface="Bugaki"/>
                <a:ea typeface="Bugaki"/>
                <a:cs typeface="Bugaki"/>
                <a:sym typeface="Bugaki"/>
              </a:rPr>
              <a:t>State-of-the-Art Models</a:t>
            </a:r>
          </a:p>
        </p:txBody>
      </p:sp>
      <p:grpSp>
        <p:nvGrpSpPr>
          <p:cNvPr id="12" name="Group 12">
            <a:extLst>
              <a:ext uri="{FF2B5EF4-FFF2-40B4-BE49-F238E27FC236}">
                <a16:creationId xmlns:a16="http://schemas.microsoft.com/office/drawing/2014/main" id="{DA13E203-EAB3-783A-8E15-16247056D460}"/>
              </a:ext>
            </a:extLst>
          </p:cNvPr>
          <p:cNvGrpSpPr/>
          <p:nvPr/>
        </p:nvGrpSpPr>
        <p:grpSpPr>
          <a:xfrm>
            <a:off x="1028700" y="1322841"/>
            <a:ext cx="977507" cy="977507"/>
            <a:chOff x="0" y="0"/>
            <a:chExt cx="1303342" cy="1303342"/>
          </a:xfrm>
        </p:grpSpPr>
        <p:sp>
          <p:nvSpPr>
            <p:cNvPr id="13" name="Freeform 13">
              <a:extLst>
                <a:ext uri="{FF2B5EF4-FFF2-40B4-BE49-F238E27FC236}">
                  <a16:creationId xmlns:a16="http://schemas.microsoft.com/office/drawing/2014/main" id="{D7045C2E-AD97-DD7B-2E51-00D1C7AC6FFC}"/>
                </a:ext>
              </a:extLst>
            </p:cNvPr>
            <p:cNvSpPr/>
            <p:nvPr/>
          </p:nvSpPr>
          <p:spPr>
            <a:xfrm>
              <a:off x="0" y="0"/>
              <a:ext cx="1303342" cy="1303342"/>
            </a:xfrm>
            <a:custGeom>
              <a:avLst/>
              <a:gdLst/>
              <a:ahLst/>
              <a:cxnLst/>
              <a:rect l="l" t="t" r="r" b="b"/>
              <a:pathLst>
                <a:path w="1303342" h="1303342">
                  <a:moveTo>
                    <a:pt x="0" y="0"/>
                  </a:moveTo>
                  <a:lnTo>
                    <a:pt x="1303342" y="0"/>
                  </a:lnTo>
                  <a:lnTo>
                    <a:pt x="1303342" y="1303342"/>
                  </a:lnTo>
                  <a:lnTo>
                    <a:pt x="0" y="130334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CA"/>
            </a:p>
          </p:txBody>
        </p:sp>
        <p:sp>
          <p:nvSpPr>
            <p:cNvPr id="14" name="TextBox 14">
              <a:extLst>
                <a:ext uri="{FF2B5EF4-FFF2-40B4-BE49-F238E27FC236}">
                  <a16:creationId xmlns:a16="http://schemas.microsoft.com/office/drawing/2014/main" id="{5AAE8691-3235-7F45-5A8E-5B9ABCC07D87}"/>
                </a:ext>
              </a:extLst>
            </p:cNvPr>
            <p:cNvSpPr txBox="1"/>
            <p:nvPr/>
          </p:nvSpPr>
          <p:spPr>
            <a:xfrm>
              <a:off x="0" y="135180"/>
              <a:ext cx="1303342" cy="890108"/>
            </a:xfrm>
            <a:prstGeom prst="rect">
              <a:avLst/>
            </a:prstGeom>
          </p:spPr>
          <p:txBody>
            <a:bodyPr lIns="0" tIns="0" rIns="0" bIns="0" rtlCol="0" anchor="t">
              <a:spAutoFit/>
            </a:bodyPr>
            <a:lstStyle/>
            <a:p>
              <a:pPr algn="ctr">
                <a:lnSpc>
                  <a:spcPts val="5148"/>
                </a:lnSpc>
                <a:spcBef>
                  <a:spcPct val="0"/>
                </a:spcBef>
              </a:pPr>
              <a:r>
                <a:rPr lang="en-US" sz="3677" spc="-73">
                  <a:solidFill>
                    <a:srgbClr val="FFFFFF"/>
                  </a:solidFill>
                  <a:latin typeface="Bugaki"/>
                  <a:ea typeface="Bugaki"/>
                  <a:cs typeface="Bugaki"/>
                  <a:sym typeface="Bugaki"/>
                </a:rPr>
                <a:t>07</a:t>
              </a:r>
            </a:p>
          </p:txBody>
        </p:sp>
      </p:grpSp>
      <p:pic>
        <p:nvPicPr>
          <p:cNvPr id="16" name="Picture 15" descr="vit_figure.png">
            <a:extLst>
              <a:ext uri="{FF2B5EF4-FFF2-40B4-BE49-F238E27FC236}">
                <a16:creationId xmlns:a16="http://schemas.microsoft.com/office/drawing/2014/main" id="{27505D4A-F5D9-EA22-E4BC-906922D1160B}"/>
              </a:ext>
            </a:extLst>
          </p:cNvPr>
          <p:cNvPicPr>
            <a:picLocks noChangeAspect="1"/>
          </p:cNvPicPr>
          <p:nvPr/>
        </p:nvPicPr>
        <p:blipFill>
          <a:blip r:embed="rId5"/>
          <a:stretch>
            <a:fillRect/>
          </a:stretch>
        </p:blipFill>
        <p:spPr>
          <a:xfrm>
            <a:off x="4409855" y="2187570"/>
            <a:ext cx="13880803" cy="7464567"/>
          </a:xfrm>
          <a:prstGeom prst="rect">
            <a:avLst/>
          </a:prstGeom>
        </p:spPr>
      </p:pic>
      <p:sp>
        <p:nvSpPr>
          <p:cNvPr id="17" name="TextBox 16">
            <a:extLst>
              <a:ext uri="{FF2B5EF4-FFF2-40B4-BE49-F238E27FC236}">
                <a16:creationId xmlns:a16="http://schemas.microsoft.com/office/drawing/2014/main" id="{0AA83503-72D5-0C3F-C863-C648AD8353CF}"/>
              </a:ext>
            </a:extLst>
          </p:cNvPr>
          <p:cNvSpPr txBox="1"/>
          <p:nvPr/>
        </p:nvSpPr>
        <p:spPr>
          <a:xfrm>
            <a:off x="175260" y="3078479"/>
            <a:ext cx="4248150" cy="729430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400" dirty="0">
                <a:solidFill>
                  <a:srgbClr val="444444"/>
                </a:solidFill>
                <a:latin typeface="Roboto"/>
                <a:ea typeface="Roboto"/>
                <a:cs typeface="Roboto"/>
              </a:rPr>
              <a:t>Split an image into patches (fixed sizes)</a:t>
            </a:r>
            <a:endParaRPr lang="en-US" sz="2400" dirty="0">
              <a:ea typeface="Calibri"/>
              <a:cs typeface="Calibri"/>
            </a:endParaRPr>
          </a:p>
          <a:p>
            <a:pPr marL="285750" indent="-285750">
              <a:buFont typeface="Arial"/>
              <a:buChar char="•"/>
            </a:pPr>
            <a:r>
              <a:rPr lang="en-US" sz="2400" dirty="0">
                <a:solidFill>
                  <a:srgbClr val="444444"/>
                </a:solidFill>
                <a:latin typeface="Roboto"/>
                <a:ea typeface="Roboto"/>
                <a:cs typeface="Roboto"/>
              </a:rPr>
              <a:t>Flatten the image patches</a:t>
            </a:r>
            <a:endParaRPr lang="en-US" sz="2400" dirty="0">
              <a:ea typeface="Calibri"/>
              <a:cs typeface="Calibri"/>
            </a:endParaRPr>
          </a:p>
          <a:p>
            <a:pPr marL="285750" indent="-285750">
              <a:buFont typeface="Arial"/>
              <a:buChar char="•"/>
            </a:pPr>
            <a:r>
              <a:rPr lang="en-US" sz="2400" dirty="0">
                <a:solidFill>
                  <a:srgbClr val="444444"/>
                </a:solidFill>
                <a:latin typeface="Roboto"/>
                <a:ea typeface="Roboto"/>
                <a:cs typeface="Roboto"/>
              </a:rPr>
              <a:t>Create lower-dimensional linear embeddings from these flattened image patches</a:t>
            </a:r>
            <a:endParaRPr lang="en-US" sz="2400" dirty="0">
              <a:ea typeface="Calibri"/>
              <a:cs typeface="Calibri"/>
            </a:endParaRPr>
          </a:p>
          <a:p>
            <a:pPr marL="285750" indent="-285750">
              <a:buFont typeface="Arial"/>
              <a:buChar char="•"/>
            </a:pPr>
            <a:r>
              <a:rPr lang="en-US" sz="2400" dirty="0">
                <a:solidFill>
                  <a:srgbClr val="444444"/>
                </a:solidFill>
                <a:latin typeface="Roboto"/>
                <a:ea typeface="Roboto"/>
                <a:cs typeface="Roboto"/>
              </a:rPr>
              <a:t>Include positional embeddings</a:t>
            </a:r>
            <a:endParaRPr lang="en-US" sz="2400" dirty="0">
              <a:ea typeface="Calibri"/>
              <a:cs typeface="Calibri"/>
            </a:endParaRPr>
          </a:p>
          <a:p>
            <a:pPr marL="285750" indent="-285750">
              <a:buFont typeface="Arial"/>
              <a:buChar char="•"/>
            </a:pPr>
            <a:r>
              <a:rPr lang="en-US" sz="2400" dirty="0">
                <a:solidFill>
                  <a:srgbClr val="444444"/>
                </a:solidFill>
                <a:latin typeface="Roboto"/>
                <a:ea typeface="Roboto"/>
                <a:cs typeface="Roboto"/>
              </a:rPr>
              <a:t>Feed the sequence as an input to a SOTA transformer encoder</a:t>
            </a:r>
            <a:endParaRPr lang="en-US" sz="2400" dirty="0">
              <a:ea typeface="Calibri"/>
              <a:cs typeface="Calibri"/>
            </a:endParaRPr>
          </a:p>
          <a:p>
            <a:pPr marL="285750" indent="-285750">
              <a:buFont typeface="Arial"/>
              <a:buChar char="•"/>
            </a:pPr>
            <a:r>
              <a:rPr lang="en-US" sz="2400" dirty="0">
                <a:solidFill>
                  <a:srgbClr val="444444"/>
                </a:solidFill>
                <a:latin typeface="Roboto"/>
                <a:ea typeface="Roboto"/>
                <a:cs typeface="Roboto"/>
              </a:rPr>
              <a:t>Pre-train the ViT model with image labels, then fully supervised on a big dataset</a:t>
            </a:r>
            <a:endParaRPr lang="en-US" sz="2400" dirty="0">
              <a:ea typeface="Calibri"/>
              <a:cs typeface="Calibri"/>
            </a:endParaRPr>
          </a:p>
          <a:p>
            <a:pPr marL="285750" indent="-285750">
              <a:buFont typeface="Arial"/>
              <a:buChar char="•"/>
            </a:pPr>
            <a:r>
              <a:rPr lang="en-US" sz="2400" dirty="0">
                <a:solidFill>
                  <a:srgbClr val="444444"/>
                </a:solidFill>
                <a:latin typeface="Roboto"/>
                <a:ea typeface="Roboto"/>
                <a:cs typeface="Roboto"/>
              </a:rPr>
              <a:t>Fine-tune the downstream dataset for image classification</a:t>
            </a:r>
            <a:endParaRPr lang="en-US" sz="2400" dirty="0">
              <a:ea typeface="Calibri"/>
              <a:cs typeface="Calibri"/>
            </a:endParaRPr>
          </a:p>
          <a:p>
            <a:pPr algn="l"/>
            <a:endParaRPr lang="en-US" sz="3600" dirty="0">
              <a:ea typeface="Calibri"/>
              <a:cs typeface="Calibri"/>
            </a:endParaRPr>
          </a:p>
        </p:txBody>
      </p:sp>
    </p:spTree>
    <p:extLst>
      <p:ext uri="{BB962C8B-B14F-4D97-AF65-F5344CB8AC3E}">
        <p14:creationId xmlns:p14="http://schemas.microsoft.com/office/powerpoint/2010/main" val="21922772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CA"/>
          </a:p>
        </p:txBody>
      </p:sp>
      <p:grpSp>
        <p:nvGrpSpPr>
          <p:cNvPr id="3" name="Group 3"/>
          <p:cNvGrpSpPr/>
          <p:nvPr/>
        </p:nvGrpSpPr>
        <p:grpSpPr>
          <a:xfrm>
            <a:off x="17259300" y="8984615"/>
            <a:ext cx="1573962" cy="1573962"/>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3B54"/>
            </a:solidFill>
          </p:spPr>
          <p:txBody>
            <a:bodyPr/>
            <a:lstStyle/>
            <a:p>
              <a:endParaRPr lang="en-CA"/>
            </a:p>
          </p:txBody>
        </p:sp>
        <p:sp>
          <p:nvSpPr>
            <p:cNvPr id="5" name="TextBox 5"/>
            <p:cNvSpPr txBox="1"/>
            <p:nvPr/>
          </p:nvSpPr>
          <p:spPr>
            <a:xfrm>
              <a:off x="76200" y="66675"/>
              <a:ext cx="660400" cy="669925"/>
            </a:xfrm>
            <a:prstGeom prst="rect">
              <a:avLst/>
            </a:prstGeom>
          </p:spPr>
          <p:txBody>
            <a:bodyPr lIns="50800" tIns="50800" rIns="50800" bIns="50800" rtlCol="0" anchor="ctr"/>
            <a:lstStyle/>
            <a:p>
              <a:pPr algn="ctr">
                <a:lnSpc>
                  <a:spcPts val="3042"/>
                </a:lnSpc>
              </a:pPr>
              <a:endParaRPr/>
            </a:p>
          </p:txBody>
        </p:sp>
      </p:grpSp>
      <p:grpSp>
        <p:nvGrpSpPr>
          <p:cNvPr id="6" name="Group 6"/>
          <p:cNvGrpSpPr/>
          <p:nvPr/>
        </p:nvGrpSpPr>
        <p:grpSpPr>
          <a:xfrm>
            <a:off x="16303701" y="8984615"/>
            <a:ext cx="786981" cy="786981"/>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664"/>
            </a:solidFill>
          </p:spPr>
          <p:txBody>
            <a:bodyPr/>
            <a:lstStyle/>
            <a:p>
              <a:endParaRPr lang="en-CA"/>
            </a:p>
          </p:txBody>
        </p:sp>
        <p:sp>
          <p:nvSpPr>
            <p:cNvPr id="8" name="TextBox 8"/>
            <p:cNvSpPr txBox="1"/>
            <p:nvPr/>
          </p:nvSpPr>
          <p:spPr>
            <a:xfrm>
              <a:off x="76200" y="66675"/>
              <a:ext cx="660400" cy="669925"/>
            </a:xfrm>
            <a:prstGeom prst="rect">
              <a:avLst/>
            </a:prstGeom>
          </p:spPr>
          <p:txBody>
            <a:bodyPr lIns="50800" tIns="50800" rIns="50800" bIns="50800" rtlCol="0" anchor="ctr"/>
            <a:lstStyle/>
            <a:p>
              <a:pPr algn="ctr">
                <a:lnSpc>
                  <a:spcPts val="3042"/>
                </a:lnSpc>
              </a:pPr>
              <a:endParaRPr/>
            </a:p>
          </p:txBody>
        </p:sp>
      </p:grpSp>
      <p:sp>
        <p:nvSpPr>
          <p:cNvPr id="9" name="AutoShape 9"/>
          <p:cNvSpPr/>
          <p:nvPr/>
        </p:nvSpPr>
        <p:spPr>
          <a:xfrm>
            <a:off x="0" y="9723971"/>
            <a:ext cx="9144000" cy="0"/>
          </a:xfrm>
          <a:prstGeom prst="line">
            <a:avLst/>
          </a:prstGeom>
          <a:ln w="47625" cap="flat">
            <a:solidFill>
              <a:srgbClr val="004664"/>
            </a:solidFill>
            <a:prstDash val="solid"/>
            <a:headEnd type="none" w="sm" len="sm"/>
            <a:tailEnd type="oval" w="lg" len="lg"/>
          </a:ln>
        </p:spPr>
        <p:txBody>
          <a:bodyPr/>
          <a:lstStyle/>
          <a:p>
            <a:endParaRPr lang="en-CA"/>
          </a:p>
        </p:txBody>
      </p:sp>
      <p:sp>
        <p:nvSpPr>
          <p:cNvPr id="10" name="AutoShape 10"/>
          <p:cNvSpPr/>
          <p:nvPr/>
        </p:nvSpPr>
        <p:spPr>
          <a:xfrm>
            <a:off x="15925021" y="646179"/>
            <a:ext cx="2362979" cy="0"/>
          </a:xfrm>
          <a:prstGeom prst="line">
            <a:avLst/>
          </a:prstGeom>
          <a:ln w="47625" cap="flat">
            <a:solidFill>
              <a:srgbClr val="004664"/>
            </a:solidFill>
            <a:prstDash val="solid"/>
            <a:headEnd type="oval" w="lg" len="lg"/>
            <a:tailEnd type="none" w="sm" len="sm"/>
          </a:ln>
        </p:spPr>
        <p:txBody>
          <a:bodyPr/>
          <a:lstStyle/>
          <a:p>
            <a:endParaRPr lang="en-CA"/>
          </a:p>
        </p:txBody>
      </p:sp>
      <p:sp>
        <p:nvSpPr>
          <p:cNvPr id="11" name="TextBox 11"/>
          <p:cNvSpPr txBox="1"/>
          <p:nvPr/>
        </p:nvSpPr>
        <p:spPr>
          <a:xfrm>
            <a:off x="1524000" y="254821"/>
            <a:ext cx="9625751" cy="958850"/>
          </a:xfrm>
          <a:prstGeom prst="rect">
            <a:avLst/>
          </a:prstGeom>
        </p:spPr>
        <p:txBody>
          <a:bodyPr lIns="0" tIns="0" rIns="0" bIns="0" rtlCol="0" anchor="t">
            <a:spAutoFit/>
          </a:bodyPr>
          <a:lstStyle/>
          <a:p>
            <a:pPr algn="l">
              <a:lnSpc>
                <a:spcPts val="7000"/>
              </a:lnSpc>
              <a:spcBef>
                <a:spcPct val="0"/>
              </a:spcBef>
            </a:pPr>
            <a:r>
              <a:rPr lang="en-US" sz="5000" spc="-100" dirty="0">
                <a:solidFill>
                  <a:srgbClr val="013B54"/>
                </a:solidFill>
                <a:latin typeface="Bugaki"/>
                <a:ea typeface="Bugaki"/>
                <a:cs typeface="Bugaki"/>
                <a:sym typeface="Bugaki"/>
              </a:rPr>
              <a:t>Comparison</a:t>
            </a:r>
          </a:p>
        </p:txBody>
      </p:sp>
      <p:grpSp>
        <p:nvGrpSpPr>
          <p:cNvPr id="12" name="Group 12"/>
          <p:cNvGrpSpPr/>
          <p:nvPr/>
        </p:nvGrpSpPr>
        <p:grpSpPr>
          <a:xfrm>
            <a:off x="381366" y="345505"/>
            <a:ext cx="977507" cy="977507"/>
            <a:chOff x="0" y="0"/>
            <a:chExt cx="1303342" cy="1303342"/>
          </a:xfrm>
        </p:grpSpPr>
        <p:sp>
          <p:nvSpPr>
            <p:cNvPr id="13" name="Freeform 13"/>
            <p:cNvSpPr/>
            <p:nvPr/>
          </p:nvSpPr>
          <p:spPr>
            <a:xfrm>
              <a:off x="0" y="0"/>
              <a:ext cx="1303342" cy="1303342"/>
            </a:xfrm>
            <a:custGeom>
              <a:avLst/>
              <a:gdLst/>
              <a:ahLst/>
              <a:cxnLst/>
              <a:rect l="l" t="t" r="r" b="b"/>
              <a:pathLst>
                <a:path w="1303342" h="1303342">
                  <a:moveTo>
                    <a:pt x="0" y="0"/>
                  </a:moveTo>
                  <a:lnTo>
                    <a:pt x="1303342" y="0"/>
                  </a:lnTo>
                  <a:lnTo>
                    <a:pt x="1303342" y="1303342"/>
                  </a:lnTo>
                  <a:lnTo>
                    <a:pt x="0" y="130334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CA"/>
            </a:p>
          </p:txBody>
        </p:sp>
        <p:sp>
          <p:nvSpPr>
            <p:cNvPr id="14" name="TextBox 14"/>
            <p:cNvSpPr txBox="1"/>
            <p:nvPr/>
          </p:nvSpPr>
          <p:spPr>
            <a:xfrm>
              <a:off x="0" y="135180"/>
              <a:ext cx="1303342" cy="890108"/>
            </a:xfrm>
            <a:prstGeom prst="rect">
              <a:avLst/>
            </a:prstGeom>
          </p:spPr>
          <p:txBody>
            <a:bodyPr lIns="0" tIns="0" rIns="0" bIns="0" rtlCol="0" anchor="t">
              <a:spAutoFit/>
            </a:bodyPr>
            <a:lstStyle/>
            <a:p>
              <a:pPr algn="ctr">
                <a:lnSpc>
                  <a:spcPts val="5148"/>
                </a:lnSpc>
                <a:spcBef>
                  <a:spcPct val="0"/>
                </a:spcBef>
              </a:pPr>
              <a:r>
                <a:rPr lang="en-US" sz="3677" spc="-73">
                  <a:solidFill>
                    <a:srgbClr val="FFFFFF"/>
                  </a:solidFill>
                  <a:latin typeface="Bugaki"/>
                  <a:ea typeface="Bugaki"/>
                  <a:cs typeface="Bugaki"/>
                  <a:sym typeface="Bugaki"/>
                </a:rPr>
                <a:t>08</a:t>
              </a:r>
            </a:p>
          </p:txBody>
        </p:sp>
      </p:grpSp>
      <p:pic>
        <p:nvPicPr>
          <p:cNvPr id="19" name="Picture 18">
            <a:extLst>
              <a:ext uri="{FF2B5EF4-FFF2-40B4-BE49-F238E27FC236}">
                <a16:creationId xmlns:a16="http://schemas.microsoft.com/office/drawing/2014/main" id="{2DE2102A-A0FB-AD62-A2A5-A6C48085501E}"/>
              </a:ext>
            </a:extLst>
          </p:cNvPr>
          <p:cNvPicPr>
            <a:picLocks noChangeAspect="1"/>
          </p:cNvPicPr>
          <p:nvPr/>
        </p:nvPicPr>
        <p:blipFill>
          <a:blip r:embed="rId5"/>
          <a:stretch>
            <a:fillRect/>
          </a:stretch>
        </p:blipFill>
        <p:spPr>
          <a:xfrm>
            <a:off x="9199521" y="581165"/>
            <a:ext cx="7500456" cy="4761159"/>
          </a:xfrm>
          <a:prstGeom prst="rect">
            <a:avLst/>
          </a:prstGeom>
        </p:spPr>
      </p:pic>
      <p:pic>
        <p:nvPicPr>
          <p:cNvPr id="21" name="Picture 20">
            <a:extLst>
              <a:ext uri="{FF2B5EF4-FFF2-40B4-BE49-F238E27FC236}">
                <a16:creationId xmlns:a16="http://schemas.microsoft.com/office/drawing/2014/main" id="{3A23D554-18ED-3392-CA66-91E08AE43E62}"/>
              </a:ext>
            </a:extLst>
          </p:cNvPr>
          <p:cNvPicPr>
            <a:picLocks noChangeAspect="1"/>
          </p:cNvPicPr>
          <p:nvPr/>
        </p:nvPicPr>
        <p:blipFill>
          <a:blip r:embed="rId6"/>
          <a:stretch>
            <a:fillRect/>
          </a:stretch>
        </p:blipFill>
        <p:spPr>
          <a:xfrm>
            <a:off x="9383602" y="5380283"/>
            <a:ext cx="5812967" cy="4420084"/>
          </a:xfrm>
          <a:prstGeom prst="rect">
            <a:avLst/>
          </a:prstGeom>
        </p:spPr>
      </p:pic>
      <p:sp>
        <p:nvSpPr>
          <p:cNvPr id="23" name="TextBox 22">
            <a:extLst>
              <a:ext uri="{FF2B5EF4-FFF2-40B4-BE49-F238E27FC236}">
                <a16:creationId xmlns:a16="http://schemas.microsoft.com/office/drawing/2014/main" id="{68877FFE-5922-B566-BB41-B26674EAA4BB}"/>
              </a:ext>
            </a:extLst>
          </p:cNvPr>
          <p:cNvSpPr txBox="1"/>
          <p:nvPr/>
        </p:nvSpPr>
        <p:spPr>
          <a:xfrm>
            <a:off x="12920662" y="3752254"/>
            <a:ext cx="3564450" cy="830997"/>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dirty="0">
                <a:solidFill>
                  <a:srgbClr val="444444"/>
                </a:solidFill>
                <a:latin typeface="Open Sauce" panose="020B0604020202020204" charset="0"/>
                <a:ea typeface="Roboto"/>
                <a:cs typeface="Roboto"/>
              </a:rPr>
              <a:t>ViT</a:t>
            </a:r>
          </a:p>
          <a:p>
            <a:pPr algn="ctr"/>
            <a:r>
              <a:rPr lang="en-US" sz="2400" dirty="0">
                <a:solidFill>
                  <a:srgbClr val="444444"/>
                </a:solidFill>
                <a:latin typeface="Open Sauce" panose="020B0604020202020204" charset="0"/>
                <a:ea typeface="Roboto"/>
                <a:cs typeface="Roboto"/>
              </a:rPr>
              <a:t>State-of-the-Art Model</a:t>
            </a:r>
            <a:endParaRPr lang="en-US" sz="3600" dirty="0">
              <a:latin typeface="Open Sauce" panose="020B0604020202020204" charset="0"/>
              <a:ea typeface="Calibri"/>
              <a:cs typeface="Calibri"/>
            </a:endParaRPr>
          </a:p>
        </p:txBody>
      </p:sp>
      <p:sp>
        <p:nvSpPr>
          <p:cNvPr id="24" name="TextBox 23">
            <a:extLst>
              <a:ext uri="{FF2B5EF4-FFF2-40B4-BE49-F238E27FC236}">
                <a16:creationId xmlns:a16="http://schemas.microsoft.com/office/drawing/2014/main" id="{B04C3EB9-EA35-ADDB-64DF-1C0C9BE2EF20}"/>
              </a:ext>
            </a:extLst>
          </p:cNvPr>
          <p:cNvSpPr txBox="1"/>
          <p:nvPr/>
        </p:nvSpPr>
        <p:spPr>
          <a:xfrm>
            <a:off x="15196569" y="7584418"/>
            <a:ext cx="2617281" cy="1200329"/>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dirty="0">
                <a:solidFill>
                  <a:srgbClr val="444444"/>
                </a:solidFill>
                <a:latin typeface="Open Sauce" panose="020B0604020202020204" charset="0"/>
                <a:ea typeface="Roboto"/>
                <a:cs typeface="Roboto"/>
              </a:rPr>
              <a:t>EfficientNet</a:t>
            </a:r>
          </a:p>
          <a:p>
            <a:pPr algn="ctr"/>
            <a:r>
              <a:rPr lang="en-US" sz="2400" dirty="0">
                <a:solidFill>
                  <a:srgbClr val="444444"/>
                </a:solidFill>
                <a:latin typeface="Open Sauce" panose="020B0604020202020204" charset="0"/>
                <a:ea typeface="Roboto"/>
                <a:cs typeface="Roboto"/>
              </a:rPr>
              <a:t>State-of-the-Art Model</a:t>
            </a:r>
            <a:endParaRPr lang="en-US" sz="3600" dirty="0">
              <a:latin typeface="Open Sauce" panose="020B0604020202020204" charset="0"/>
              <a:ea typeface="Calibri"/>
              <a:cs typeface="Calibri"/>
            </a:endParaRPr>
          </a:p>
        </p:txBody>
      </p:sp>
      <p:sp>
        <p:nvSpPr>
          <p:cNvPr id="25" name="TextBox 24">
            <a:extLst>
              <a:ext uri="{FF2B5EF4-FFF2-40B4-BE49-F238E27FC236}">
                <a16:creationId xmlns:a16="http://schemas.microsoft.com/office/drawing/2014/main" id="{5B8B693E-3314-B4C6-9E30-6AB1A3C791CB}"/>
              </a:ext>
            </a:extLst>
          </p:cNvPr>
          <p:cNvSpPr txBox="1"/>
          <p:nvPr/>
        </p:nvSpPr>
        <p:spPr>
          <a:xfrm>
            <a:off x="533647" y="6110707"/>
            <a:ext cx="8195077" cy="3416320"/>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solidFill>
                  <a:srgbClr val="444444"/>
                </a:solidFill>
                <a:latin typeface="Open Sauce" panose="020B0604020202020204" charset="0"/>
                <a:ea typeface="Roboto"/>
                <a:cs typeface="Roboto"/>
              </a:rPr>
              <a:t>VGG </a:t>
            </a:r>
          </a:p>
          <a:p>
            <a:pPr lvl="1"/>
            <a:r>
              <a:rPr lang="en-US" sz="2400" dirty="0">
                <a:solidFill>
                  <a:srgbClr val="444444"/>
                </a:solidFill>
                <a:latin typeface="Open Sauce" panose="020B0604020202020204" charset="0"/>
                <a:ea typeface="Roboto"/>
                <a:cs typeface="Roboto"/>
              </a:rPr>
              <a:t>Gradual and stable learning</a:t>
            </a:r>
          </a:p>
          <a:p>
            <a:r>
              <a:rPr lang="en-US" sz="2400" b="1" dirty="0">
                <a:solidFill>
                  <a:srgbClr val="444444"/>
                </a:solidFill>
                <a:latin typeface="Open Sauce" panose="020B0604020202020204" charset="0"/>
                <a:ea typeface="Roboto"/>
                <a:cs typeface="Roboto"/>
              </a:rPr>
              <a:t>ViT</a:t>
            </a:r>
            <a:br>
              <a:rPr lang="en-US" sz="2400" dirty="0">
                <a:solidFill>
                  <a:srgbClr val="444444"/>
                </a:solidFill>
                <a:latin typeface="Open Sauce" panose="020B0604020202020204" charset="0"/>
                <a:ea typeface="Roboto"/>
                <a:cs typeface="Roboto"/>
              </a:rPr>
            </a:br>
            <a:r>
              <a:rPr lang="en-US" sz="2400" dirty="0">
                <a:solidFill>
                  <a:srgbClr val="444444"/>
                </a:solidFill>
                <a:latin typeface="Open Sauce" panose="020B0604020202020204" charset="0"/>
                <a:ea typeface="Roboto"/>
                <a:cs typeface="Roboto"/>
              </a:rPr>
              <a:t>      Fast convergence with high early performance</a:t>
            </a:r>
            <a:br>
              <a:rPr lang="en-US" sz="2400" dirty="0">
                <a:solidFill>
                  <a:srgbClr val="444444"/>
                </a:solidFill>
                <a:latin typeface="Open Sauce" panose="020B0604020202020204" charset="0"/>
                <a:ea typeface="Roboto"/>
                <a:cs typeface="Roboto"/>
              </a:rPr>
            </a:br>
            <a:r>
              <a:rPr lang="en-US" sz="2400" b="1" dirty="0">
                <a:solidFill>
                  <a:srgbClr val="444444"/>
                </a:solidFill>
                <a:latin typeface="Open Sauce" panose="020B0604020202020204" charset="0"/>
                <a:ea typeface="Roboto"/>
                <a:cs typeface="Roboto"/>
              </a:rPr>
              <a:t>EfficientNet</a:t>
            </a:r>
            <a:br>
              <a:rPr lang="en-US" sz="2400" dirty="0">
                <a:solidFill>
                  <a:srgbClr val="444444"/>
                </a:solidFill>
                <a:latin typeface="Open Sauce" panose="020B0604020202020204" charset="0"/>
                <a:ea typeface="Roboto"/>
                <a:cs typeface="Roboto"/>
              </a:rPr>
            </a:br>
            <a:r>
              <a:rPr lang="en-US" sz="2400" dirty="0">
                <a:solidFill>
                  <a:srgbClr val="444444"/>
                </a:solidFill>
                <a:latin typeface="Open Sauce" panose="020B0604020202020204" charset="0"/>
                <a:ea typeface="Roboto"/>
                <a:cs typeface="Roboto"/>
              </a:rPr>
              <a:t>     Consistently perfect precision; recall varies</a:t>
            </a:r>
            <a:br>
              <a:rPr lang="en-US" sz="2400" dirty="0">
                <a:solidFill>
                  <a:srgbClr val="444444"/>
                </a:solidFill>
                <a:latin typeface="Open Sauce" panose="020B0604020202020204" charset="0"/>
                <a:ea typeface="Roboto"/>
                <a:cs typeface="Roboto"/>
              </a:rPr>
            </a:br>
            <a:r>
              <a:rPr lang="en-US" sz="2400" b="1" dirty="0">
                <a:solidFill>
                  <a:srgbClr val="444444"/>
                </a:solidFill>
                <a:latin typeface="Open Sauce" panose="020B0604020202020204" charset="0"/>
                <a:ea typeface="Roboto"/>
                <a:cs typeface="Roboto"/>
              </a:rPr>
              <a:t>Overall</a:t>
            </a:r>
            <a:br>
              <a:rPr lang="en-US" sz="2400" dirty="0">
                <a:solidFill>
                  <a:srgbClr val="444444"/>
                </a:solidFill>
                <a:latin typeface="Open Sauce" panose="020B0604020202020204" charset="0"/>
                <a:ea typeface="Roboto"/>
                <a:cs typeface="Roboto"/>
              </a:rPr>
            </a:br>
            <a:r>
              <a:rPr lang="en-US" sz="2400" dirty="0">
                <a:solidFill>
                  <a:srgbClr val="444444"/>
                </a:solidFill>
                <a:latin typeface="Open Sauce" panose="020B0604020202020204" charset="0"/>
                <a:ea typeface="Roboto"/>
                <a:cs typeface="Roboto"/>
              </a:rPr>
              <a:t>      ViT is fastest to learn, VGG is most stable, EfficientNet avoids false positives best</a:t>
            </a:r>
            <a:endParaRPr lang="en-US" sz="3600" dirty="0">
              <a:latin typeface="Open Sauce" panose="020B0604020202020204" charset="0"/>
              <a:ea typeface="Calibri"/>
              <a:cs typeface="Calibri"/>
            </a:endParaRPr>
          </a:p>
        </p:txBody>
      </p:sp>
      <p:pic>
        <p:nvPicPr>
          <p:cNvPr id="15" name="Picture 14">
            <a:extLst>
              <a:ext uri="{FF2B5EF4-FFF2-40B4-BE49-F238E27FC236}">
                <a16:creationId xmlns:a16="http://schemas.microsoft.com/office/drawing/2014/main" id="{E814225B-0262-84C9-AAC0-33F968D82AD4}"/>
              </a:ext>
            </a:extLst>
          </p:cNvPr>
          <p:cNvPicPr>
            <a:picLocks noChangeAspect="1"/>
          </p:cNvPicPr>
          <p:nvPr/>
        </p:nvPicPr>
        <p:blipFill>
          <a:blip r:embed="rId7"/>
          <a:stretch>
            <a:fillRect/>
          </a:stretch>
        </p:blipFill>
        <p:spPr>
          <a:xfrm>
            <a:off x="662310" y="1328738"/>
            <a:ext cx="7633642" cy="4486275"/>
          </a:xfrm>
          <a:prstGeom prst="rect">
            <a:avLst/>
          </a:prstGeom>
        </p:spPr>
      </p:pic>
      <p:sp>
        <p:nvSpPr>
          <p:cNvPr id="22" name="TextBox 21">
            <a:extLst>
              <a:ext uri="{FF2B5EF4-FFF2-40B4-BE49-F238E27FC236}">
                <a16:creationId xmlns:a16="http://schemas.microsoft.com/office/drawing/2014/main" id="{A5A426D0-A039-BBBD-5E67-F2A5FE400F44}"/>
              </a:ext>
            </a:extLst>
          </p:cNvPr>
          <p:cNvSpPr txBox="1"/>
          <p:nvPr/>
        </p:nvSpPr>
        <p:spPr>
          <a:xfrm>
            <a:off x="4381343" y="3939152"/>
            <a:ext cx="3329941" cy="830997"/>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dirty="0">
                <a:solidFill>
                  <a:srgbClr val="444444"/>
                </a:solidFill>
                <a:latin typeface="Open Sauce" panose="020B0604020202020204" charset="0"/>
                <a:ea typeface="Roboto"/>
                <a:cs typeface="Roboto"/>
              </a:rPr>
              <a:t>VGG</a:t>
            </a:r>
          </a:p>
          <a:p>
            <a:pPr algn="ctr"/>
            <a:r>
              <a:rPr lang="en-US" sz="2400" dirty="0">
                <a:solidFill>
                  <a:srgbClr val="444444"/>
                </a:solidFill>
                <a:latin typeface="Open Sauce" panose="020B0604020202020204" charset="0"/>
                <a:ea typeface="Roboto"/>
                <a:cs typeface="Roboto"/>
              </a:rPr>
              <a:t>Supervised Learning</a:t>
            </a:r>
            <a:endParaRPr lang="en-US" sz="3600" dirty="0">
              <a:latin typeface="Open Sauce" panose="020B0604020202020204" charset="0"/>
              <a:ea typeface="Calibri"/>
              <a:cs typeface="Calibri"/>
            </a:endParaRPr>
          </a:p>
        </p:txBody>
      </p:sp>
    </p:spTree>
    <p:extLst>
      <p:ext uri="{BB962C8B-B14F-4D97-AF65-F5344CB8AC3E}">
        <p14:creationId xmlns:p14="http://schemas.microsoft.com/office/powerpoint/2010/main" val="28677471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287784" y="5279512"/>
            <a:ext cx="5145233" cy="3276599"/>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lIns="91440" tIns="45720" rIns="91440" bIns="45720" anchor="t"/>
          <a:lstStyle/>
          <a:p>
            <a:r>
              <a:rPr lang="en-US" sz="2400" dirty="0">
                <a:latin typeface="Open Sauce" panose="020B0604020202020204" charset="0"/>
              </a:rPr>
              <a:t>Among the supervised models: EfficientNet clearly excels in recall (lowest False Negative Rate) and F1-score, while VGG and ViT lag significantly in sensitivity, confirming </a:t>
            </a:r>
            <a:r>
              <a:rPr lang="en-US" sz="2400" dirty="0" err="1">
                <a:latin typeface="Open Sauce" panose="020B0604020202020204" charset="0"/>
              </a:rPr>
              <a:t>EfficientNet's</a:t>
            </a:r>
            <a:r>
              <a:rPr lang="en-US" sz="2400" dirty="0">
                <a:latin typeface="Open Sauce" panose="020B0604020202020204" charset="0"/>
              </a:rPr>
              <a:t> strength in minimizing missed tumors despite </a:t>
            </a:r>
            <a:r>
              <a:rPr lang="en-US" sz="2400" dirty="0" err="1">
                <a:latin typeface="Open Sauce" panose="020B0604020202020204" charset="0"/>
              </a:rPr>
              <a:t>ViT's</a:t>
            </a:r>
            <a:r>
              <a:rPr lang="en-US" sz="2400" dirty="0">
                <a:latin typeface="Open Sauce" panose="020B0604020202020204" charset="0"/>
              </a:rPr>
              <a:t> faster training </a:t>
            </a:r>
            <a:endParaRPr lang="en-CA" sz="2400" dirty="0">
              <a:latin typeface="Open Sauce" panose="020B0604020202020204" charset="0"/>
            </a:endParaRPr>
          </a:p>
        </p:txBody>
      </p:sp>
      <p:grpSp>
        <p:nvGrpSpPr>
          <p:cNvPr id="3" name="Group 3"/>
          <p:cNvGrpSpPr/>
          <p:nvPr/>
        </p:nvGrpSpPr>
        <p:grpSpPr>
          <a:xfrm>
            <a:off x="17259300" y="8984615"/>
            <a:ext cx="1573962" cy="1573962"/>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3B54"/>
            </a:solidFill>
          </p:spPr>
          <p:txBody>
            <a:bodyPr/>
            <a:lstStyle/>
            <a:p>
              <a:endParaRPr lang="en-CA"/>
            </a:p>
          </p:txBody>
        </p:sp>
        <p:sp>
          <p:nvSpPr>
            <p:cNvPr id="5" name="TextBox 5"/>
            <p:cNvSpPr txBox="1"/>
            <p:nvPr/>
          </p:nvSpPr>
          <p:spPr>
            <a:xfrm>
              <a:off x="76200" y="66675"/>
              <a:ext cx="660400" cy="669925"/>
            </a:xfrm>
            <a:prstGeom prst="rect">
              <a:avLst/>
            </a:prstGeom>
          </p:spPr>
          <p:txBody>
            <a:bodyPr lIns="50800" tIns="50800" rIns="50800" bIns="50800" rtlCol="0" anchor="ctr"/>
            <a:lstStyle/>
            <a:p>
              <a:pPr algn="ctr">
                <a:lnSpc>
                  <a:spcPts val="3042"/>
                </a:lnSpc>
              </a:pPr>
              <a:endParaRPr/>
            </a:p>
          </p:txBody>
        </p:sp>
      </p:grpSp>
      <p:grpSp>
        <p:nvGrpSpPr>
          <p:cNvPr id="6" name="Group 6"/>
          <p:cNvGrpSpPr/>
          <p:nvPr/>
        </p:nvGrpSpPr>
        <p:grpSpPr>
          <a:xfrm>
            <a:off x="16303701" y="8984615"/>
            <a:ext cx="786981" cy="786981"/>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664"/>
            </a:solidFill>
          </p:spPr>
          <p:txBody>
            <a:bodyPr/>
            <a:lstStyle/>
            <a:p>
              <a:endParaRPr lang="en-CA"/>
            </a:p>
          </p:txBody>
        </p:sp>
        <p:sp>
          <p:nvSpPr>
            <p:cNvPr id="8" name="TextBox 8"/>
            <p:cNvSpPr txBox="1"/>
            <p:nvPr/>
          </p:nvSpPr>
          <p:spPr>
            <a:xfrm>
              <a:off x="76200" y="66675"/>
              <a:ext cx="660400" cy="669925"/>
            </a:xfrm>
            <a:prstGeom prst="rect">
              <a:avLst/>
            </a:prstGeom>
          </p:spPr>
          <p:txBody>
            <a:bodyPr lIns="50800" tIns="50800" rIns="50800" bIns="50800" rtlCol="0" anchor="ctr"/>
            <a:lstStyle/>
            <a:p>
              <a:pPr algn="ctr">
                <a:lnSpc>
                  <a:spcPts val="3042"/>
                </a:lnSpc>
              </a:pPr>
              <a:endParaRPr/>
            </a:p>
          </p:txBody>
        </p:sp>
      </p:grpSp>
      <p:sp>
        <p:nvSpPr>
          <p:cNvPr id="9" name="AutoShape 9"/>
          <p:cNvSpPr/>
          <p:nvPr/>
        </p:nvSpPr>
        <p:spPr>
          <a:xfrm>
            <a:off x="0" y="9723971"/>
            <a:ext cx="9144000" cy="0"/>
          </a:xfrm>
          <a:prstGeom prst="line">
            <a:avLst/>
          </a:prstGeom>
          <a:ln w="47625" cap="flat">
            <a:solidFill>
              <a:srgbClr val="004664"/>
            </a:solidFill>
            <a:prstDash val="solid"/>
            <a:headEnd type="none" w="sm" len="sm"/>
            <a:tailEnd type="oval" w="lg" len="lg"/>
          </a:ln>
        </p:spPr>
        <p:txBody>
          <a:bodyPr/>
          <a:lstStyle/>
          <a:p>
            <a:endParaRPr lang="en-CA"/>
          </a:p>
        </p:txBody>
      </p:sp>
      <p:sp>
        <p:nvSpPr>
          <p:cNvPr id="10" name="AutoShape 10"/>
          <p:cNvSpPr/>
          <p:nvPr/>
        </p:nvSpPr>
        <p:spPr>
          <a:xfrm>
            <a:off x="15925021" y="646179"/>
            <a:ext cx="2362979" cy="0"/>
          </a:xfrm>
          <a:prstGeom prst="line">
            <a:avLst/>
          </a:prstGeom>
          <a:ln w="47625" cap="flat">
            <a:solidFill>
              <a:srgbClr val="004664"/>
            </a:solidFill>
            <a:prstDash val="solid"/>
            <a:headEnd type="oval" w="lg" len="lg"/>
            <a:tailEnd type="none" w="sm" len="sm"/>
          </a:ln>
        </p:spPr>
        <p:txBody>
          <a:bodyPr/>
          <a:lstStyle/>
          <a:p>
            <a:endParaRPr lang="en-CA"/>
          </a:p>
        </p:txBody>
      </p:sp>
      <p:sp>
        <p:nvSpPr>
          <p:cNvPr id="11" name="TextBox 11"/>
          <p:cNvSpPr txBox="1"/>
          <p:nvPr/>
        </p:nvSpPr>
        <p:spPr>
          <a:xfrm>
            <a:off x="1524000" y="254821"/>
            <a:ext cx="9625751" cy="958850"/>
          </a:xfrm>
          <a:prstGeom prst="rect">
            <a:avLst/>
          </a:prstGeom>
        </p:spPr>
        <p:txBody>
          <a:bodyPr lIns="0" tIns="0" rIns="0" bIns="0" rtlCol="0" anchor="t">
            <a:spAutoFit/>
          </a:bodyPr>
          <a:lstStyle/>
          <a:p>
            <a:pPr algn="l">
              <a:lnSpc>
                <a:spcPts val="7000"/>
              </a:lnSpc>
              <a:spcBef>
                <a:spcPct val="0"/>
              </a:spcBef>
            </a:pPr>
            <a:r>
              <a:rPr lang="en-US" sz="5000" spc="-100" dirty="0">
                <a:solidFill>
                  <a:srgbClr val="013B54"/>
                </a:solidFill>
                <a:latin typeface="Bugaki"/>
                <a:ea typeface="Bugaki"/>
                <a:cs typeface="Bugaki"/>
                <a:sym typeface="Bugaki"/>
              </a:rPr>
              <a:t>Comparison</a:t>
            </a:r>
          </a:p>
        </p:txBody>
      </p:sp>
      <p:grpSp>
        <p:nvGrpSpPr>
          <p:cNvPr id="12" name="Group 12"/>
          <p:cNvGrpSpPr/>
          <p:nvPr/>
        </p:nvGrpSpPr>
        <p:grpSpPr>
          <a:xfrm>
            <a:off x="381366" y="345505"/>
            <a:ext cx="977507" cy="977507"/>
            <a:chOff x="0" y="0"/>
            <a:chExt cx="1303342" cy="1303342"/>
          </a:xfrm>
        </p:grpSpPr>
        <p:sp>
          <p:nvSpPr>
            <p:cNvPr id="13" name="Freeform 13"/>
            <p:cNvSpPr/>
            <p:nvPr/>
          </p:nvSpPr>
          <p:spPr>
            <a:xfrm>
              <a:off x="0" y="0"/>
              <a:ext cx="1303342" cy="1303342"/>
            </a:xfrm>
            <a:custGeom>
              <a:avLst/>
              <a:gdLst/>
              <a:ahLst/>
              <a:cxnLst/>
              <a:rect l="l" t="t" r="r" b="b"/>
              <a:pathLst>
                <a:path w="1303342" h="1303342">
                  <a:moveTo>
                    <a:pt x="0" y="0"/>
                  </a:moveTo>
                  <a:lnTo>
                    <a:pt x="1303342" y="0"/>
                  </a:lnTo>
                  <a:lnTo>
                    <a:pt x="1303342" y="1303342"/>
                  </a:lnTo>
                  <a:lnTo>
                    <a:pt x="0" y="130334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CA"/>
            </a:p>
          </p:txBody>
        </p:sp>
        <p:sp>
          <p:nvSpPr>
            <p:cNvPr id="14" name="TextBox 14"/>
            <p:cNvSpPr txBox="1"/>
            <p:nvPr/>
          </p:nvSpPr>
          <p:spPr>
            <a:xfrm>
              <a:off x="0" y="135180"/>
              <a:ext cx="1303342" cy="890108"/>
            </a:xfrm>
            <a:prstGeom prst="rect">
              <a:avLst/>
            </a:prstGeom>
          </p:spPr>
          <p:txBody>
            <a:bodyPr lIns="0" tIns="0" rIns="0" bIns="0" rtlCol="0" anchor="t">
              <a:spAutoFit/>
            </a:bodyPr>
            <a:lstStyle/>
            <a:p>
              <a:pPr algn="ctr">
                <a:lnSpc>
                  <a:spcPts val="5148"/>
                </a:lnSpc>
                <a:spcBef>
                  <a:spcPct val="0"/>
                </a:spcBef>
              </a:pPr>
              <a:r>
                <a:rPr lang="en-US" sz="3677" spc="-73">
                  <a:solidFill>
                    <a:srgbClr val="FFFFFF"/>
                  </a:solidFill>
                  <a:latin typeface="Bugaki"/>
                  <a:ea typeface="Bugaki"/>
                  <a:cs typeface="Bugaki"/>
                  <a:sym typeface="Bugaki"/>
                </a:rPr>
                <a:t>08</a:t>
              </a:r>
            </a:p>
          </p:txBody>
        </p:sp>
      </p:grpSp>
      <p:pic>
        <p:nvPicPr>
          <p:cNvPr id="15" name="Picture 14">
            <a:extLst>
              <a:ext uri="{FF2B5EF4-FFF2-40B4-BE49-F238E27FC236}">
                <a16:creationId xmlns:a16="http://schemas.microsoft.com/office/drawing/2014/main" id="{6920E366-7171-0E46-2F9C-FA009B528654}"/>
              </a:ext>
            </a:extLst>
          </p:cNvPr>
          <p:cNvPicPr>
            <a:picLocks noChangeAspect="1"/>
          </p:cNvPicPr>
          <p:nvPr/>
        </p:nvPicPr>
        <p:blipFill>
          <a:blip r:embed="rId5"/>
          <a:stretch>
            <a:fillRect/>
          </a:stretch>
        </p:blipFill>
        <p:spPr>
          <a:xfrm>
            <a:off x="552363" y="1789899"/>
            <a:ext cx="11209572" cy="7403523"/>
          </a:xfrm>
          <a:prstGeom prst="rect">
            <a:avLst/>
          </a:prstGeom>
        </p:spPr>
      </p:pic>
    </p:spTree>
    <p:extLst>
      <p:ext uri="{BB962C8B-B14F-4D97-AF65-F5344CB8AC3E}">
        <p14:creationId xmlns:p14="http://schemas.microsoft.com/office/powerpoint/2010/main" val="41581800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6"/>
          <p:cNvGrpSpPr/>
          <p:nvPr/>
        </p:nvGrpSpPr>
        <p:grpSpPr>
          <a:xfrm>
            <a:off x="16303701" y="8984615"/>
            <a:ext cx="786981" cy="786981"/>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664"/>
            </a:solidFill>
          </p:spPr>
          <p:txBody>
            <a:bodyPr/>
            <a:lstStyle/>
            <a:p>
              <a:endParaRPr lang="en-CA"/>
            </a:p>
          </p:txBody>
        </p:sp>
        <p:sp>
          <p:nvSpPr>
            <p:cNvPr id="8" name="TextBox 8"/>
            <p:cNvSpPr txBox="1"/>
            <p:nvPr/>
          </p:nvSpPr>
          <p:spPr>
            <a:xfrm>
              <a:off x="76200" y="66675"/>
              <a:ext cx="660400" cy="669925"/>
            </a:xfrm>
            <a:prstGeom prst="rect">
              <a:avLst/>
            </a:prstGeom>
          </p:spPr>
          <p:txBody>
            <a:bodyPr lIns="50800" tIns="50800" rIns="50800" bIns="50800" rtlCol="0" anchor="ctr"/>
            <a:lstStyle/>
            <a:p>
              <a:pPr algn="ctr">
                <a:lnSpc>
                  <a:spcPts val="3042"/>
                </a:lnSpc>
              </a:pPr>
              <a:endParaRPr/>
            </a:p>
          </p:txBody>
        </p:sp>
      </p:grpSp>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CA"/>
          </a:p>
        </p:txBody>
      </p:sp>
      <p:sp>
        <p:nvSpPr>
          <p:cNvPr id="9" name="AutoShape 9"/>
          <p:cNvSpPr/>
          <p:nvPr/>
        </p:nvSpPr>
        <p:spPr>
          <a:xfrm>
            <a:off x="0" y="9723971"/>
            <a:ext cx="9144000" cy="0"/>
          </a:xfrm>
          <a:prstGeom prst="line">
            <a:avLst/>
          </a:prstGeom>
          <a:ln w="47625" cap="flat">
            <a:solidFill>
              <a:srgbClr val="004664"/>
            </a:solidFill>
            <a:prstDash val="solid"/>
            <a:headEnd type="none" w="sm" len="sm"/>
            <a:tailEnd type="oval" w="lg" len="lg"/>
          </a:ln>
        </p:spPr>
        <p:txBody>
          <a:bodyPr/>
          <a:lstStyle/>
          <a:p>
            <a:endParaRPr lang="en-CA"/>
          </a:p>
        </p:txBody>
      </p:sp>
      <p:grpSp>
        <p:nvGrpSpPr>
          <p:cNvPr id="3" name="Group 3"/>
          <p:cNvGrpSpPr/>
          <p:nvPr/>
        </p:nvGrpSpPr>
        <p:grpSpPr>
          <a:xfrm>
            <a:off x="17259300" y="8984615"/>
            <a:ext cx="1573962" cy="1573962"/>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3B54"/>
            </a:solidFill>
          </p:spPr>
          <p:txBody>
            <a:bodyPr/>
            <a:lstStyle/>
            <a:p>
              <a:endParaRPr lang="en-CA"/>
            </a:p>
          </p:txBody>
        </p:sp>
        <p:sp>
          <p:nvSpPr>
            <p:cNvPr id="5" name="TextBox 5"/>
            <p:cNvSpPr txBox="1"/>
            <p:nvPr/>
          </p:nvSpPr>
          <p:spPr>
            <a:xfrm>
              <a:off x="76200" y="66675"/>
              <a:ext cx="660400" cy="669925"/>
            </a:xfrm>
            <a:prstGeom prst="rect">
              <a:avLst/>
            </a:prstGeom>
          </p:spPr>
          <p:txBody>
            <a:bodyPr lIns="50800" tIns="50800" rIns="50800" bIns="50800" rtlCol="0" anchor="ctr"/>
            <a:lstStyle/>
            <a:p>
              <a:pPr algn="ctr">
                <a:lnSpc>
                  <a:spcPts val="3042"/>
                </a:lnSpc>
              </a:pPr>
              <a:endParaRPr/>
            </a:p>
          </p:txBody>
        </p:sp>
      </p:grpSp>
      <p:sp>
        <p:nvSpPr>
          <p:cNvPr id="10" name="AutoShape 10"/>
          <p:cNvSpPr/>
          <p:nvPr/>
        </p:nvSpPr>
        <p:spPr>
          <a:xfrm>
            <a:off x="15925021" y="646179"/>
            <a:ext cx="2362979" cy="0"/>
          </a:xfrm>
          <a:prstGeom prst="line">
            <a:avLst/>
          </a:prstGeom>
          <a:ln w="47625" cap="flat">
            <a:solidFill>
              <a:srgbClr val="004664"/>
            </a:solidFill>
            <a:prstDash val="solid"/>
            <a:headEnd type="oval" w="lg" len="lg"/>
            <a:tailEnd type="none" w="sm" len="sm"/>
          </a:ln>
        </p:spPr>
        <p:txBody>
          <a:bodyPr/>
          <a:lstStyle/>
          <a:p>
            <a:endParaRPr lang="en-CA"/>
          </a:p>
        </p:txBody>
      </p:sp>
      <p:sp>
        <p:nvSpPr>
          <p:cNvPr id="11" name="TextBox 11"/>
          <p:cNvSpPr txBox="1"/>
          <p:nvPr/>
        </p:nvSpPr>
        <p:spPr>
          <a:xfrm>
            <a:off x="1524000" y="254821"/>
            <a:ext cx="9625751" cy="958850"/>
          </a:xfrm>
          <a:prstGeom prst="rect">
            <a:avLst/>
          </a:prstGeom>
        </p:spPr>
        <p:txBody>
          <a:bodyPr lIns="0" tIns="0" rIns="0" bIns="0" rtlCol="0" anchor="t">
            <a:spAutoFit/>
          </a:bodyPr>
          <a:lstStyle/>
          <a:p>
            <a:pPr algn="l">
              <a:lnSpc>
                <a:spcPts val="7000"/>
              </a:lnSpc>
              <a:spcBef>
                <a:spcPct val="0"/>
              </a:spcBef>
            </a:pPr>
            <a:r>
              <a:rPr lang="en-US" sz="5000" spc="-100" dirty="0">
                <a:solidFill>
                  <a:srgbClr val="013B54"/>
                </a:solidFill>
                <a:latin typeface="Bugaki"/>
                <a:ea typeface="Bugaki"/>
                <a:cs typeface="Bugaki"/>
                <a:sym typeface="Bugaki"/>
              </a:rPr>
              <a:t>Comparison</a:t>
            </a:r>
          </a:p>
        </p:txBody>
      </p:sp>
      <p:grpSp>
        <p:nvGrpSpPr>
          <p:cNvPr id="12" name="Group 12"/>
          <p:cNvGrpSpPr/>
          <p:nvPr/>
        </p:nvGrpSpPr>
        <p:grpSpPr>
          <a:xfrm>
            <a:off x="381366" y="345505"/>
            <a:ext cx="977507" cy="977507"/>
            <a:chOff x="0" y="0"/>
            <a:chExt cx="1303342" cy="1303342"/>
          </a:xfrm>
        </p:grpSpPr>
        <p:sp>
          <p:nvSpPr>
            <p:cNvPr id="13" name="Freeform 13"/>
            <p:cNvSpPr/>
            <p:nvPr/>
          </p:nvSpPr>
          <p:spPr>
            <a:xfrm>
              <a:off x="0" y="0"/>
              <a:ext cx="1303342" cy="1303342"/>
            </a:xfrm>
            <a:custGeom>
              <a:avLst/>
              <a:gdLst/>
              <a:ahLst/>
              <a:cxnLst/>
              <a:rect l="l" t="t" r="r" b="b"/>
              <a:pathLst>
                <a:path w="1303342" h="1303342">
                  <a:moveTo>
                    <a:pt x="0" y="0"/>
                  </a:moveTo>
                  <a:lnTo>
                    <a:pt x="1303342" y="0"/>
                  </a:lnTo>
                  <a:lnTo>
                    <a:pt x="1303342" y="1303342"/>
                  </a:lnTo>
                  <a:lnTo>
                    <a:pt x="0" y="130334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CA"/>
            </a:p>
          </p:txBody>
        </p:sp>
        <p:sp>
          <p:nvSpPr>
            <p:cNvPr id="14" name="TextBox 14"/>
            <p:cNvSpPr txBox="1"/>
            <p:nvPr/>
          </p:nvSpPr>
          <p:spPr>
            <a:xfrm>
              <a:off x="0" y="135180"/>
              <a:ext cx="1303342" cy="890108"/>
            </a:xfrm>
            <a:prstGeom prst="rect">
              <a:avLst/>
            </a:prstGeom>
          </p:spPr>
          <p:txBody>
            <a:bodyPr lIns="0" tIns="0" rIns="0" bIns="0" rtlCol="0" anchor="t">
              <a:spAutoFit/>
            </a:bodyPr>
            <a:lstStyle/>
            <a:p>
              <a:pPr algn="ctr">
                <a:lnSpc>
                  <a:spcPts val="5148"/>
                </a:lnSpc>
                <a:spcBef>
                  <a:spcPct val="0"/>
                </a:spcBef>
              </a:pPr>
              <a:r>
                <a:rPr lang="en-US" sz="3677" spc="-73">
                  <a:solidFill>
                    <a:srgbClr val="FFFFFF"/>
                  </a:solidFill>
                  <a:latin typeface="Bugaki"/>
                  <a:ea typeface="Bugaki"/>
                  <a:cs typeface="Bugaki"/>
                  <a:sym typeface="Bugaki"/>
                </a:rPr>
                <a:t>08</a:t>
              </a:r>
            </a:p>
          </p:txBody>
        </p:sp>
      </p:grpSp>
      <p:graphicFrame>
        <p:nvGraphicFramePr>
          <p:cNvPr id="17" name="Table 16">
            <a:extLst>
              <a:ext uri="{FF2B5EF4-FFF2-40B4-BE49-F238E27FC236}">
                <a16:creationId xmlns:a16="http://schemas.microsoft.com/office/drawing/2014/main" id="{20852B34-82C8-04D4-5364-0F3A242BA794}"/>
              </a:ext>
            </a:extLst>
          </p:cNvPr>
          <p:cNvGraphicFramePr>
            <a:graphicFrameLocks noGrp="1"/>
          </p:cNvGraphicFramePr>
          <p:nvPr>
            <p:extLst>
              <p:ext uri="{D42A27DB-BD31-4B8C-83A1-F6EECF244321}">
                <p14:modId xmlns:p14="http://schemas.microsoft.com/office/powerpoint/2010/main" val="3971832084"/>
              </p:ext>
            </p:extLst>
          </p:nvPr>
        </p:nvGraphicFramePr>
        <p:xfrm>
          <a:off x="1506432" y="1289230"/>
          <a:ext cx="15433578" cy="8035757"/>
        </p:xfrm>
        <a:graphic>
          <a:graphicData uri="http://schemas.openxmlformats.org/drawingml/2006/table">
            <a:tbl>
              <a:tblPr firstRow="1" bandRow="1">
                <a:tableStyleId>{5940675A-B579-460E-94D1-54222C63F5DA}</a:tableStyleId>
              </a:tblPr>
              <a:tblGrid>
                <a:gridCol w="2572263">
                  <a:extLst>
                    <a:ext uri="{9D8B030D-6E8A-4147-A177-3AD203B41FA5}">
                      <a16:colId xmlns:a16="http://schemas.microsoft.com/office/drawing/2014/main" val="3568782651"/>
                    </a:ext>
                  </a:extLst>
                </a:gridCol>
                <a:gridCol w="2572263">
                  <a:extLst>
                    <a:ext uri="{9D8B030D-6E8A-4147-A177-3AD203B41FA5}">
                      <a16:colId xmlns:a16="http://schemas.microsoft.com/office/drawing/2014/main" val="3166780707"/>
                    </a:ext>
                  </a:extLst>
                </a:gridCol>
                <a:gridCol w="2572263">
                  <a:extLst>
                    <a:ext uri="{9D8B030D-6E8A-4147-A177-3AD203B41FA5}">
                      <a16:colId xmlns:a16="http://schemas.microsoft.com/office/drawing/2014/main" val="2513685816"/>
                    </a:ext>
                  </a:extLst>
                </a:gridCol>
                <a:gridCol w="2572263">
                  <a:extLst>
                    <a:ext uri="{9D8B030D-6E8A-4147-A177-3AD203B41FA5}">
                      <a16:colId xmlns:a16="http://schemas.microsoft.com/office/drawing/2014/main" val="3740416904"/>
                    </a:ext>
                  </a:extLst>
                </a:gridCol>
                <a:gridCol w="2572263">
                  <a:extLst>
                    <a:ext uri="{9D8B030D-6E8A-4147-A177-3AD203B41FA5}">
                      <a16:colId xmlns:a16="http://schemas.microsoft.com/office/drawing/2014/main" val="912749165"/>
                    </a:ext>
                  </a:extLst>
                </a:gridCol>
                <a:gridCol w="2572263">
                  <a:extLst>
                    <a:ext uri="{9D8B030D-6E8A-4147-A177-3AD203B41FA5}">
                      <a16:colId xmlns:a16="http://schemas.microsoft.com/office/drawing/2014/main" val="2403055225"/>
                    </a:ext>
                  </a:extLst>
                </a:gridCol>
              </a:tblGrid>
              <a:tr h="625451">
                <a:tc>
                  <a:txBody>
                    <a:bodyPr/>
                    <a:lstStyle/>
                    <a:p>
                      <a:pPr algn="ctr"/>
                      <a:r>
                        <a:rPr lang="en-US" sz="1800" b="1">
                          <a:solidFill>
                            <a:schemeClr val="bg1"/>
                          </a:solidFill>
                          <a:latin typeface="Open Sauce"/>
                        </a:rPr>
                        <a:t>Criteria</a:t>
                      </a:r>
                      <a:endParaRPr lang="en-CA" sz="1800" b="1">
                        <a:solidFill>
                          <a:schemeClr val="bg1"/>
                        </a:solidFill>
                        <a:latin typeface="Open Sauce"/>
                      </a:endParaRPr>
                    </a:p>
                  </a:txBody>
                  <a:tcPr anchor="ctr">
                    <a:solidFill>
                      <a:srgbClr val="013B54"/>
                    </a:solidFill>
                  </a:tcPr>
                </a:tc>
                <a:tc>
                  <a:txBody>
                    <a:bodyPr/>
                    <a:lstStyle/>
                    <a:p>
                      <a:pPr algn="ctr"/>
                      <a:r>
                        <a:rPr lang="en-US" sz="1800" b="1">
                          <a:solidFill>
                            <a:schemeClr val="bg1"/>
                          </a:solidFill>
                          <a:latin typeface="Open Sauce"/>
                        </a:rPr>
                        <a:t>VGG</a:t>
                      </a:r>
                      <a:endParaRPr lang="en-CA" sz="1800" b="1">
                        <a:solidFill>
                          <a:schemeClr val="bg1"/>
                        </a:solidFill>
                        <a:latin typeface="Open Sauce"/>
                      </a:endParaRPr>
                    </a:p>
                  </a:txBody>
                  <a:tcPr anchor="ctr">
                    <a:solidFill>
                      <a:srgbClr val="013B54"/>
                    </a:solidFill>
                  </a:tcPr>
                </a:tc>
                <a:tc>
                  <a:txBody>
                    <a:bodyPr/>
                    <a:lstStyle/>
                    <a:p>
                      <a:pPr algn="ctr"/>
                      <a:r>
                        <a:rPr lang="en-US" sz="1800" b="1">
                          <a:solidFill>
                            <a:schemeClr val="bg1"/>
                          </a:solidFill>
                          <a:latin typeface="Open Sauce"/>
                        </a:rPr>
                        <a:t>Autoencoder</a:t>
                      </a:r>
                      <a:endParaRPr lang="en-CA" sz="1800" b="1">
                        <a:solidFill>
                          <a:schemeClr val="bg1"/>
                        </a:solidFill>
                        <a:latin typeface="Open Sauce"/>
                      </a:endParaRPr>
                    </a:p>
                  </a:txBody>
                  <a:tcPr anchor="ctr">
                    <a:solidFill>
                      <a:srgbClr val="013B54"/>
                    </a:solidFill>
                  </a:tcPr>
                </a:tc>
                <a:tc>
                  <a:txBody>
                    <a:bodyPr/>
                    <a:lstStyle/>
                    <a:p>
                      <a:pPr algn="ctr"/>
                      <a:r>
                        <a:rPr lang="en-US" sz="1800" b="1">
                          <a:solidFill>
                            <a:schemeClr val="bg1"/>
                          </a:solidFill>
                          <a:latin typeface="Open Sauce"/>
                        </a:rPr>
                        <a:t>VAE</a:t>
                      </a:r>
                      <a:endParaRPr lang="en-CA" sz="1800" b="1">
                        <a:solidFill>
                          <a:schemeClr val="bg1"/>
                        </a:solidFill>
                        <a:latin typeface="Open Sauce"/>
                      </a:endParaRPr>
                    </a:p>
                  </a:txBody>
                  <a:tcPr anchor="ctr">
                    <a:solidFill>
                      <a:srgbClr val="013B54"/>
                    </a:solidFill>
                  </a:tcPr>
                </a:tc>
                <a:tc>
                  <a:txBody>
                    <a:bodyPr/>
                    <a:lstStyle/>
                    <a:p>
                      <a:pPr algn="ctr"/>
                      <a:r>
                        <a:rPr lang="en-US" sz="1800" b="1">
                          <a:solidFill>
                            <a:schemeClr val="bg1"/>
                          </a:solidFill>
                          <a:latin typeface="Open Sauce"/>
                        </a:rPr>
                        <a:t>Vision Transformer</a:t>
                      </a:r>
                      <a:endParaRPr lang="en-CA" sz="1800" b="1">
                        <a:solidFill>
                          <a:schemeClr val="bg1"/>
                        </a:solidFill>
                        <a:latin typeface="Open Sauce"/>
                      </a:endParaRPr>
                    </a:p>
                  </a:txBody>
                  <a:tcPr anchor="ctr">
                    <a:solidFill>
                      <a:srgbClr val="013B54"/>
                    </a:solidFill>
                  </a:tcPr>
                </a:tc>
                <a:tc>
                  <a:txBody>
                    <a:bodyPr/>
                    <a:lstStyle/>
                    <a:p>
                      <a:pPr algn="ctr"/>
                      <a:r>
                        <a:rPr lang="en-US" sz="1800" b="1">
                          <a:solidFill>
                            <a:schemeClr val="bg1"/>
                          </a:solidFill>
                          <a:latin typeface="Open Sauce"/>
                        </a:rPr>
                        <a:t>EfficientNet</a:t>
                      </a:r>
                      <a:endParaRPr lang="en-CA" sz="1800" b="1" err="1">
                        <a:solidFill>
                          <a:schemeClr val="bg1"/>
                        </a:solidFill>
                        <a:latin typeface="Open Sauce"/>
                      </a:endParaRPr>
                    </a:p>
                  </a:txBody>
                  <a:tcPr anchor="ctr">
                    <a:solidFill>
                      <a:srgbClr val="013B54"/>
                    </a:solidFill>
                  </a:tcPr>
                </a:tc>
                <a:extLst>
                  <a:ext uri="{0D108BD9-81ED-4DB2-BD59-A6C34878D82A}">
                    <a16:rowId xmlns:a16="http://schemas.microsoft.com/office/drawing/2014/main" val="3841021035"/>
                  </a:ext>
                </a:extLst>
              </a:tr>
              <a:tr h="625451">
                <a:tc>
                  <a:txBody>
                    <a:bodyPr/>
                    <a:lstStyle/>
                    <a:p>
                      <a:pPr algn="l"/>
                      <a:r>
                        <a:rPr lang="en-US" sz="1800" b="1">
                          <a:latin typeface="Open Sauce"/>
                        </a:rPr>
                        <a:t>Model Architecture</a:t>
                      </a:r>
                      <a:endParaRPr lang="en-CA" sz="1800" b="1">
                        <a:latin typeface="Open Sauce"/>
                      </a:endParaRPr>
                    </a:p>
                  </a:txBody>
                  <a:tcPr anchor="ctr">
                    <a:solidFill>
                      <a:schemeClr val="bg1"/>
                    </a:solidFill>
                  </a:tcPr>
                </a:tc>
                <a:tc>
                  <a:txBody>
                    <a:bodyPr/>
                    <a:lstStyle/>
                    <a:p>
                      <a:pPr algn="ctr"/>
                      <a:r>
                        <a:rPr lang="en-US" sz="1800">
                          <a:latin typeface="Open Sauce"/>
                        </a:rPr>
                        <a:t>VGG16 (Convolutional Neural Network)</a:t>
                      </a:r>
                      <a:endParaRPr lang="en-CA" sz="1800">
                        <a:latin typeface="Open Sauce"/>
                      </a:endParaRPr>
                    </a:p>
                  </a:txBody>
                  <a:tcPr anchor="ctr">
                    <a:solidFill>
                      <a:schemeClr val="bg1"/>
                    </a:solidFill>
                  </a:tcPr>
                </a:tc>
                <a:tc>
                  <a:txBody>
                    <a:bodyPr/>
                    <a:lstStyle/>
                    <a:p>
                      <a:pPr algn="ctr"/>
                      <a:r>
                        <a:rPr lang="en-US" sz="1800">
                          <a:latin typeface="Open Sauce"/>
                        </a:rPr>
                        <a:t>Denoising Autoencoder</a:t>
                      </a:r>
                      <a:endParaRPr lang="en-CA" sz="1800">
                        <a:latin typeface="Open Sauce"/>
                      </a:endParaRPr>
                    </a:p>
                  </a:txBody>
                  <a:tcPr anchor="ctr">
                    <a:solidFill>
                      <a:schemeClr val="bg1"/>
                    </a:solidFill>
                  </a:tcPr>
                </a:tc>
                <a:tc>
                  <a:txBody>
                    <a:bodyPr/>
                    <a:lstStyle/>
                    <a:p>
                      <a:pPr algn="ctr"/>
                      <a:r>
                        <a:rPr lang="en-US" sz="1800">
                          <a:latin typeface="Open Sauce"/>
                        </a:rPr>
                        <a:t>Variational Autoencoder (VAE)</a:t>
                      </a:r>
                      <a:endParaRPr lang="en-CA" sz="1800">
                        <a:latin typeface="Open Sauce"/>
                      </a:endParaRPr>
                    </a:p>
                  </a:txBody>
                  <a:tcPr anchor="ctr">
                    <a:solidFill>
                      <a:schemeClr val="bg1"/>
                    </a:solidFill>
                  </a:tcPr>
                </a:tc>
                <a:tc>
                  <a:txBody>
                    <a:bodyPr/>
                    <a:lstStyle/>
                    <a:p>
                      <a:pPr algn="ctr"/>
                      <a:r>
                        <a:rPr lang="en-US" sz="1800">
                          <a:latin typeface="Open Sauce"/>
                        </a:rPr>
                        <a:t>ViT (vit-base-patch16-224-in21k, Transformer)</a:t>
                      </a:r>
                      <a:endParaRPr lang="en-CA" sz="1800">
                        <a:latin typeface="Open Sauce"/>
                      </a:endParaRPr>
                    </a:p>
                  </a:txBody>
                  <a:tcPr anchor="ctr">
                    <a:solidFill>
                      <a:schemeClr val="bg1"/>
                    </a:solidFill>
                  </a:tcPr>
                </a:tc>
                <a:tc>
                  <a:txBody>
                    <a:bodyPr/>
                    <a:lstStyle/>
                    <a:p>
                      <a:pPr algn="ctr"/>
                      <a:r>
                        <a:rPr lang="en-US" sz="1800">
                          <a:latin typeface="Open Sauce"/>
                        </a:rPr>
                        <a:t>EfficientNet (pre-trained model)</a:t>
                      </a:r>
                      <a:endParaRPr lang="en-CA" sz="1800">
                        <a:latin typeface="Open Sauce"/>
                      </a:endParaRPr>
                    </a:p>
                  </a:txBody>
                  <a:tcPr anchor="ctr">
                    <a:solidFill>
                      <a:schemeClr val="bg1"/>
                    </a:solidFill>
                  </a:tcPr>
                </a:tc>
                <a:extLst>
                  <a:ext uri="{0D108BD9-81ED-4DB2-BD59-A6C34878D82A}">
                    <a16:rowId xmlns:a16="http://schemas.microsoft.com/office/drawing/2014/main" val="91630758"/>
                  </a:ext>
                </a:extLst>
              </a:tr>
              <a:tr h="625451">
                <a:tc>
                  <a:txBody>
                    <a:bodyPr/>
                    <a:lstStyle/>
                    <a:p>
                      <a:pPr algn="l"/>
                      <a:r>
                        <a:rPr lang="en-US" sz="1800" b="1">
                          <a:latin typeface="Open Sauce"/>
                        </a:rPr>
                        <a:t>Training Method</a:t>
                      </a:r>
                      <a:endParaRPr lang="en-CA" sz="1800" b="1">
                        <a:latin typeface="Open Sauce"/>
                      </a:endParaRPr>
                    </a:p>
                  </a:txBody>
                  <a:tcPr anchor="ctr">
                    <a:solidFill>
                      <a:schemeClr val="bg1"/>
                    </a:solidFill>
                  </a:tcPr>
                </a:tc>
                <a:tc>
                  <a:txBody>
                    <a:bodyPr/>
                    <a:lstStyle/>
                    <a:p>
                      <a:pPr algn="ctr"/>
                      <a:r>
                        <a:rPr lang="en-US" sz="1800">
                          <a:latin typeface="Open Sauce"/>
                        </a:rPr>
                        <a:t>Supervised, trained on labeled data</a:t>
                      </a:r>
                      <a:endParaRPr lang="en-CA" sz="1800">
                        <a:latin typeface="Open Sauce"/>
                      </a:endParaRPr>
                    </a:p>
                  </a:txBody>
                  <a:tcPr anchor="ctr">
                    <a:solidFill>
                      <a:schemeClr val="bg1"/>
                    </a:solidFill>
                  </a:tcPr>
                </a:tc>
                <a:tc>
                  <a:txBody>
                    <a:bodyPr/>
                    <a:lstStyle/>
                    <a:p>
                      <a:pPr algn="ctr"/>
                      <a:r>
                        <a:rPr lang="en-US" sz="1800">
                          <a:latin typeface="Open Sauce"/>
                        </a:rPr>
                        <a:t>Unsupervised, trained on No Tumor only</a:t>
                      </a:r>
                      <a:endParaRPr lang="en-CA" sz="1800">
                        <a:latin typeface="Open Sauce"/>
                      </a:endParaRPr>
                    </a:p>
                  </a:txBody>
                  <a:tcPr anchor="ctr">
                    <a:solidFill>
                      <a:schemeClr val="bg1"/>
                    </a:solidFill>
                  </a:tcPr>
                </a:tc>
                <a:tc>
                  <a:txBody>
                    <a:bodyPr/>
                    <a:lstStyle/>
                    <a:p>
                      <a:pPr algn="ctr"/>
                      <a:r>
                        <a:rPr lang="en-US" sz="1800">
                          <a:latin typeface="Open Sauce"/>
                        </a:rPr>
                        <a:t>Unsupervised, trained on No Tumor only</a:t>
                      </a:r>
                      <a:endParaRPr lang="en-CA" sz="1800">
                        <a:latin typeface="Open Sauce"/>
                      </a:endParaRPr>
                    </a:p>
                  </a:txBody>
                  <a:tcPr anchor="ctr">
                    <a:solidFill>
                      <a:schemeClr val="bg1"/>
                    </a:solidFill>
                  </a:tcPr>
                </a:tc>
                <a:tc>
                  <a:txBody>
                    <a:bodyPr/>
                    <a:lstStyle/>
                    <a:p>
                      <a:pPr algn="ctr"/>
                      <a:r>
                        <a:rPr lang="en-US" sz="1800">
                          <a:latin typeface="Open Sauce"/>
                        </a:rPr>
                        <a:t>Supervised fine-tuning on labeled dataset</a:t>
                      </a:r>
                      <a:endParaRPr lang="en-CA" sz="1800">
                        <a:latin typeface="Open Sauce"/>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a:latin typeface="Open Sauce"/>
                        </a:rPr>
                        <a:t>Transfer learning with class weighting and layer unfreezing</a:t>
                      </a:r>
                      <a:endParaRPr lang="en-CA" sz="1800">
                        <a:latin typeface="Open Sauce"/>
                      </a:endParaRPr>
                    </a:p>
                  </a:txBody>
                  <a:tcPr anchor="ctr">
                    <a:solidFill>
                      <a:schemeClr val="bg1"/>
                    </a:solidFill>
                  </a:tcPr>
                </a:tc>
                <a:extLst>
                  <a:ext uri="{0D108BD9-81ED-4DB2-BD59-A6C34878D82A}">
                    <a16:rowId xmlns:a16="http://schemas.microsoft.com/office/drawing/2014/main" val="3430504545"/>
                  </a:ext>
                </a:extLst>
              </a:tr>
              <a:tr h="625451">
                <a:tc>
                  <a:txBody>
                    <a:bodyPr/>
                    <a:lstStyle/>
                    <a:p>
                      <a:pPr algn="l"/>
                      <a:r>
                        <a:rPr lang="en-US" sz="1800" b="1">
                          <a:latin typeface="Open Sauce"/>
                        </a:rPr>
                        <a:t>Accuracy</a:t>
                      </a:r>
                      <a:endParaRPr lang="en-CA" sz="1800" b="1">
                        <a:latin typeface="Open Sauce"/>
                      </a:endParaRPr>
                    </a:p>
                  </a:txBody>
                  <a:tcPr anchor="ctr">
                    <a:solidFill>
                      <a:schemeClr val="bg1"/>
                    </a:solidFill>
                  </a:tcPr>
                </a:tc>
                <a:tc>
                  <a:txBody>
                    <a:bodyPr/>
                    <a:lstStyle/>
                    <a:p>
                      <a:pPr lvl="0" algn="r"/>
                      <a:r>
                        <a:rPr lang="en-US" sz="1800">
                          <a:latin typeface="Open Sauce"/>
                        </a:rPr>
                        <a:t>85.71%</a:t>
                      </a:r>
                      <a:endParaRPr lang="en-CA" sz="1800">
                        <a:latin typeface="Open Sauce"/>
                      </a:endParaRPr>
                    </a:p>
                  </a:txBody>
                  <a:tcPr anchor="ctr">
                    <a:solidFill>
                      <a:schemeClr val="bg1"/>
                    </a:solidFill>
                  </a:tcPr>
                </a:tc>
                <a:tc>
                  <a:txBody>
                    <a:bodyPr/>
                    <a:lstStyle/>
                    <a:p>
                      <a:pPr lvl="0" algn="r"/>
                      <a:r>
                        <a:rPr lang="en-US" sz="1800">
                          <a:latin typeface="Open Sauce"/>
                        </a:rPr>
                        <a:t>77.00%</a:t>
                      </a:r>
                      <a:endParaRPr lang="en-CA" sz="1800">
                        <a:latin typeface="Open Sauce"/>
                      </a:endParaRPr>
                    </a:p>
                  </a:txBody>
                  <a:tcPr anchor="ctr">
                    <a:solidFill>
                      <a:schemeClr val="bg1"/>
                    </a:solidFill>
                  </a:tcPr>
                </a:tc>
                <a:tc>
                  <a:txBody>
                    <a:bodyPr/>
                    <a:lstStyle/>
                    <a:p>
                      <a:pPr lvl="0" algn="r"/>
                      <a:r>
                        <a:rPr lang="en-US" sz="1800">
                          <a:latin typeface="Open Sauce"/>
                        </a:rPr>
                        <a:t>73.00%</a:t>
                      </a:r>
                      <a:endParaRPr lang="en-CA" sz="1800">
                        <a:latin typeface="Open Sauce"/>
                      </a:endParaRPr>
                    </a:p>
                  </a:txBody>
                  <a:tcPr anchor="ctr">
                    <a:solidFill>
                      <a:schemeClr val="bg1"/>
                    </a:solidFill>
                  </a:tcPr>
                </a:tc>
                <a:tc>
                  <a:txBody>
                    <a:bodyPr/>
                    <a:lstStyle/>
                    <a:p>
                      <a:pPr lvl="0" algn="r"/>
                      <a:r>
                        <a:rPr lang="en-US" sz="1800">
                          <a:latin typeface="Open Sauce"/>
                        </a:rPr>
                        <a:t>82.00%</a:t>
                      </a:r>
                      <a:endParaRPr lang="en-CA" sz="1800">
                        <a:latin typeface="Open Sauce"/>
                      </a:endParaRPr>
                    </a:p>
                  </a:txBody>
                  <a:tcPr anchor="ctr">
                    <a:solidFill>
                      <a:schemeClr val="bg1"/>
                    </a:solidFill>
                  </a:tcPr>
                </a:tc>
                <a:tc>
                  <a:txBody>
                    <a:bodyPr/>
                    <a:lstStyle/>
                    <a:p>
                      <a:pPr lvl="0" algn="r"/>
                      <a:r>
                        <a:rPr lang="en-US" sz="1800">
                          <a:latin typeface="Open Sauce"/>
                        </a:rPr>
                        <a:t>88.89%</a:t>
                      </a:r>
                      <a:endParaRPr lang="en-CA" sz="1800">
                        <a:latin typeface="Open Sauce"/>
                      </a:endParaRPr>
                    </a:p>
                  </a:txBody>
                  <a:tcPr anchor="ctr">
                    <a:solidFill>
                      <a:schemeClr val="bg1"/>
                    </a:solidFill>
                  </a:tcPr>
                </a:tc>
                <a:extLst>
                  <a:ext uri="{0D108BD9-81ED-4DB2-BD59-A6C34878D82A}">
                    <a16:rowId xmlns:a16="http://schemas.microsoft.com/office/drawing/2014/main" val="2640045698"/>
                  </a:ext>
                </a:extLst>
              </a:tr>
              <a:tr h="625451">
                <a:tc>
                  <a:txBody>
                    <a:bodyPr/>
                    <a:lstStyle/>
                    <a:p>
                      <a:pPr algn="l"/>
                      <a:r>
                        <a:rPr lang="en-US" sz="1800" b="1">
                          <a:latin typeface="Open Sauce"/>
                        </a:rPr>
                        <a:t>Recall</a:t>
                      </a:r>
                    </a:p>
                  </a:txBody>
                  <a:tcPr anchor="ctr">
                    <a:solidFill>
                      <a:schemeClr val="bg1"/>
                    </a:solidFill>
                  </a:tcPr>
                </a:tc>
                <a:tc>
                  <a:txBody>
                    <a:bodyPr/>
                    <a:lstStyle/>
                    <a:p>
                      <a:pPr lvl="0" algn="r"/>
                      <a:r>
                        <a:rPr lang="en-US" sz="1800">
                          <a:latin typeface="Open Sauce"/>
                        </a:rPr>
                        <a:t>69.23%</a:t>
                      </a:r>
                      <a:endParaRPr lang="en-CA" sz="1800">
                        <a:latin typeface="Open Sauce"/>
                      </a:endParaRPr>
                    </a:p>
                  </a:txBody>
                  <a:tcPr anchor="ctr">
                    <a:solidFill>
                      <a:schemeClr val="bg1"/>
                    </a:solidFill>
                  </a:tcPr>
                </a:tc>
                <a:tc>
                  <a:txBody>
                    <a:bodyPr/>
                    <a:lstStyle/>
                    <a:p>
                      <a:pPr lvl="0" algn="r"/>
                      <a:r>
                        <a:rPr lang="en-US" sz="1800">
                          <a:latin typeface="Open Sauce"/>
                        </a:rPr>
                        <a:t>53.85%</a:t>
                      </a:r>
                      <a:endParaRPr lang="en-CA" sz="1800">
                        <a:latin typeface="Open Sauce"/>
                      </a:endParaRPr>
                    </a:p>
                  </a:txBody>
                  <a:tcPr anchor="ctr">
                    <a:solidFill>
                      <a:schemeClr val="bg1"/>
                    </a:solidFill>
                  </a:tcPr>
                </a:tc>
                <a:tc>
                  <a:txBody>
                    <a:bodyPr/>
                    <a:lstStyle/>
                    <a:p>
                      <a:pPr lvl="0" algn="r"/>
                      <a:r>
                        <a:rPr lang="en-US" sz="1800">
                          <a:latin typeface="Open Sauce"/>
                        </a:rPr>
                        <a:t>46.15%</a:t>
                      </a:r>
                      <a:endParaRPr lang="en-CA" sz="1800">
                        <a:latin typeface="Open Sauce"/>
                      </a:endParaRPr>
                    </a:p>
                  </a:txBody>
                  <a:tcPr anchor="ctr">
                    <a:solidFill>
                      <a:schemeClr val="bg1"/>
                    </a:solidFill>
                  </a:tcPr>
                </a:tc>
                <a:tc>
                  <a:txBody>
                    <a:bodyPr/>
                    <a:lstStyle/>
                    <a:p>
                      <a:pPr lvl="0" algn="r"/>
                      <a:r>
                        <a:rPr lang="en-US" sz="1800">
                          <a:latin typeface="Open Sauce"/>
                        </a:rPr>
                        <a:t>61.54%</a:t>
                      </a:r>
                      <a:endParaRPr lang="en-CA" sz="1800">
                        <a:latin typeface="Open Sauce"/>
                      </a:endParaRPr>
                    </a:p>
                  </a:txBody>
                  <a:tcPr anchor="ctr">
                    <a:solidFill>
                      <a:schemeClr val="bg1"/>
                    </a:solidFill>
                  </a:tcPr>
                </a:tc>
                <a:tc>
                  <a:txBody>
                    <a:bodyPr/>
                    <a:lstStyle/>
                    <a:p>
                      <a:pPr lvl="0" algn="r"/>
                      <a:r>
                        <a:rPr lang="en-US" sz="1800">
                          <a:latin typeface="Open Sauce"/>
                        </a:rPr>
                        <a:t>76.92%</a:t>
                      </a:r>
                      <a:endParaRPr lang="en-CA" sz="1800">
                        <a:latin typeface="Open Sauce"/>
                      </a:endParaRPr>
                    </a:p>
                  </a:txBody>
                  <a:tcPr anchor="ctr">
                    <a:solidFill>
                      <a:schemeClr val="bg1"/>
                    </a:solidFill>
                  </a:tcPr>
                </a:tc>
                <a:extLst>
                  <a:ext uri="{0D108BD9-81ED-4DB2-BD59-A6C34878D82A}">
                    <a16:rowId xmlns:a16="http://schemas.microsoft.com/office/drawing/2014/main" val="4152475533"/>
                  </a:ext>
                </a:extLst>
              </a:tr>
              <a:tr h="625451">
                <a:tc>
                  <a:txBody>
                    <a:bodyPr/>
                    <a:lstStyle/>
                    <a:p>
                      <a:pPr algn="l"/>
                      <a:r>
                        <a:rPr lang="en-US" sz="1800" b="1">
                          <a:latin typeface="Open Sauce"/>
                        </a:rPr>
                        <a:t>Precision</a:t>
                      </a:r>
                    </a:p>
                  </a:txBody>
                  <a:tcPr anchor="ctr">
                    <a:solidFill>
                      <a:schemeClr val="bg1"/>
                    </a:solidFill>
                  </a:tcPr>
                </a:tc>
                <a:tc>
                  <a:txBody>
                    <a:bodyPr/>
                    <a:lstStyle/>
                    <a:p>
                      <a:pPr lvl="0" algn="r"/>
                      <a:r>
                        <a:rPr lang="en-US" sz="1800">
                          <a:latin typeface="Open Sauce"/>
                        </a:rPr>
                        <a:t>90.00%</a:t>
                      </a:r>
                      <a:endParaRPr lang="en-CA" sz="1800">
                        <a:latin typeface="Open Sauce"/>
                      </a:endParaRPr>
                    </a:p>
                  </a:txBody>
                  <a:tcPr anchor="ctr">
                    <a:solidFill>
                      <a:schemeClr val="bg1"/>
                    </a:solidFill>
                  </a:tcPr>
                </a:tc>
                <a:tc>
                  <a:txBody>
                    <a:bodyPr/>
                    <a:lstStyle/>
                    <a:p>
                      <a:pPr lvl="0" algn="r"/>
                      <a:r>
                        <a:rPr lang="en-US" sz="1800">
                          <a:latin typeface="Open Sauce"/>
                        </a:rPr>
                        <a:t>53.85%</a:t>
                      </a:r>
                      <a:endParaRPr lang="en-CA" sz="1800">
                        <a:latin typeface="Open Sauce"/>
                      </a:endParaRPr>
                    </a:p>
                  </a:txBody>
                  <a:tcPr anchor="ctr">
                    <a:solidFill>
                      <a:schemeClr val="bg1"/>
                    </a:solidFill>
                  </a:tcPr>
                </a:tc>
                <a:tc>
                  <a:txBody>
                    <a:bodyPr/>
                    <a:lstStyle/>
                    <a:p>
                      <a:pPr lvl="0" algn="r"/>
                      <a:r>
                        <a:rPr lang="en-US" sz="1800">
                          <a:latin typeface="Open Sauce"/>
                        </a:rPr>
                        <a:t>46.15%</a:t>
                      </a:r>
                      <a:endParaRPr lang="en-CA" sz="1800">
                        <a:latin typeface="Open Sauce"/>
                      </a:endParaRPr>
                    </a:p>
                  </a:txBody>
                  <a:tcPr anchor="ctr">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800">
                          <a:latin typeface="Open Sauce"/>
                        </a:rPr>
                        <a:t>80.00%</a:t>
                      </a:r>
                      <a:endParaRPr lang="en-CA" sz="1800">
                        <a:latin typeface="Open Sauce"/>
                      </a:endParaRPr>
                    </a:p>
                  </a:txBody>
                  <a:tcPr anchor="ctr">
                    <a:solidFill>
                      <a:schemeClr val="bg1"/>
                    </a:solidFill>
                  </a:tcPr>
                </a:tc>
                <a:tc>
                  <a:txBody>
                    <a:bodyPr/>
                    <a:lstStyle/>
                    <a:p>
                      <a:pPr lvl="0" algn="r"/>
                      <a:r>
                        <a:rPr lang="en-US" sz="1800">
                          <a:latin typeface="Open Sauce"/>
                        </a:rPr>
                        <a:t>100.00%</a:t>
                      </a:r>
                      <a:endParaRPr lang="en-CA" sz="1800">
                        <a:latin typeface="Open Sauce"/>
                      </a:endParaRPr>
                    </a:p>
                  </a:txBody>
                  <a:tcPr anchor="ctr">
                    <a:solidFill>
                      <a:schemeClr val="bg1"/>
                    </a:solidFill>
                  </a:tcPr>
                </a:tc>
                <a:extLst>
                  <a:ext uri="{0D108BD9-81ED-4DB2-BD59-A6C34878D82A}">
                    <a16:rowId xmlns:a16="http://schemas.microsoft.com/office/drawing/2014/main" val="4076457296"/>
                  </a:ext>
                </a:extLst>
              </a:tr>
              <a:tr h="625451">
                <a:tc>
                  <a:txBody>
                    <a:bodyPr/>
                    <a:lstStyle/>
                    <a:p>
                      <a:pPr algn="l"/>
                      <a:r>
                        <a:rPr lang="en-US" sz="1800" b="1">
                          <a:latin typeface="Open Sauce"/>
                        </a:rPr>
                        <a:t>F1-Score</a:t>
                      </a:r>
                    </a:p>
                  </a:txBody>
                  <a:tcPr anchor="ctr">
                    <a:solidFill>
                      <a:schemeClr val="bg1"/>
                    </a:solidFill>
                  </a:tcPr>
                </a:tc>
                <a:tc>
                  <a:txBody>
                    <a:bodyPr/>
                    <a:lstStyle/>
                    <a:p>
                      <a:pPr lvl="0" algn="r"/>
                      <a:r>
                        <a:rPr lang="en-US" sz="1800">
                          <a:latin typeface="Open Sauce"/>
                        </a:rPr>
                        <a:t>78.26%</a:t>
                      </a:r>
                      <a:endParaRPr lang="en-CA" sz="1800">
                        <a:latin typeface="Open Sauce"/>
                      </a:endParaRPr>
                    </a:p>
                  </a:txBody>
                  <a:tcPr anchor="ctr">
                    <a:solidFill>
                      <a:schemeClr val="bg1"/>
                    </a:solidFill>
                  </a:tcPr>
                </a:tc>
                <a:tc>
                  <a:txBody>
                    <a:bodyPr/>
                    <a:lstStyle/>
                    <a:p>
                      <a:pPr lvl="0" algn="r"/>
                      <a:r>
                        <a:rPr lang="en-US" sz="1800">
                          <a:latin typeface="Open Sauce"/>
                        </a:rPr>
                        <a:t>62.00%</a:t>
                      </a:r>
                      <a:endParaRPr lang="en-CA" sz="1800">
                        <a:latin typeface="Open Sauce"/>
                      </a:endParaRPr>
                    </a:p>
                  </a:txBody>
                  <a:tcPr anchor="ctr">
                    <a:solidFill>
                      <a:schemeClr val="bg1"/>
                    </a:solidFill>
                  </a:tcPr>
                </a:tc>
                <a:tc>
                  <a:txBody>
                    <a:bodyPr/>
                    <a:lstStyle/>
                    <a:p>
                      <a:pPr lvl="0" algn="r"/>
                      <a:r>
                        <a:rPr lang="en-US" sz="1800">
                          <a:latin typeface="Open Sauce"/>
                        </a:rPr>
                        <a:t>51.00%</a:t>
                      </a:r>
                      <a:endParaRPr lang="en-CA" sz="1800">
                        <a:latin typeface="Open Sauce"/>
                      </a:endParaRPr>
                    </a:p>
                  </a:txBody>
                  <a:tcPr anchor="ctr">
                    <a:solidFill>
                      <a:schemeClr val="bg1"/>
                    </a:solidFill>
                  </a:tcPr>
                </a:tc>
                <a:tc>
                  <a:txBody>
                    <a:bodyPr/>
                    <a:lstStyle/>
                    <a:p>
                      <a:pPr lvl="0" algn="r"/>
                      <a:r>
                        <a:rPr lang="en-US" sz="1800">
                          <a:latin typeface="Open Sauce"/>
                        </a:rPr>
                        <a:t>69.57%</a:t>
                      </a:r>
                      <a:endParaRPr lang="en-CA" sz="1800">
                        <a:latin typeface="Open Sauce"/>
                      </a:endParaRPr>
                    </a:p>
                  </a:txBody>
                  <a:tcPr anchor="ctr">
                    <a:solidFill>
                      <a:schemeClr val="bg1"/>
                    </a:solidFill>
                  </a:tcPr>
                </a:tc>
                <a:tc>
                  <a:txBody>
                    <a:bodyPr/>
                    <a:lstStyle/>
                    <a:p>
                      <a:pPr lvl="0" algn="r"/>
                      <a:r>
                        <a:rPr lang="en-US" sz="1800">
                          <a:latin typeface="Open Sauce"/>
                        </a:rPr>
                        <a:t>87.00%</a:t>
                      </a:r>
                      <a:endParaRPr lang="en-CA" sz="1800">
                        <a:latin typeface="Open Sauce"/>
                      </a:endParaRPr>
                    </a:p>
                  </a:txBody>
                  <a:tcPr anchor="ctr">
                    <a:solidFill>
                      <a:schemeClr val="bg1"/>
                    </a:solidFill>
                  </a:tcPr>
                </a:tc>
                <a:extLst>
                  <a:ext uri="{0D108BD9-81ED-4DB2-BD59-A6C34878D82A}">
                    <a16:rowId xmlns:a16="http://schemas.microsoft.com/office/drawing/2014/main" val="3864422103"/>
                  </a:ext>
                </a:extLst>
              </a:tr>
              <a:tr h="625451">
                <a:tc>
                  <a:txBody>
                    <a:bodyPr/>
                    <a:lstStyle/>
                    <a:p>
                      <a:pPr algn="l"/>
                      <a:r>
                        <a:rPr lang="en-US" sz="1800" b="1">
                          <a:latin typeface="Open Sauce"/>
                        </a:rPr>
                        <a:t>False Negatives</a:t>
                      </a:r>
                      <a:endParaRPr lang="en-CA" sz="1800" b="1">
                        <a:latin typeface="Open Sauce"/>
                      </a:endParaRPr>
                    </a:p>
                  </a:txBody>
                  <a:tcPr anchor="ctr">
                    <a:solidFill>
                      <a:schemeClr val="bg1"/>
                    </a:solidFill>
                  </a:tcPr>
                </a:tc>
                <a:tc>
                  <a:txBody>
                    <a:bodyPr/>
                    <a:lstStyle/>
                    <a:p>
                      <a:pPr algn="ctr"/>
                      <a:r>
                        <a:rPr lang="en-US" sz="1800">
                          <a:latin typeface="Open Sauce"/>
                        </a:rPr>
                        <a:t>1</a:t>
                      </a:r>
                    </a:p>
                  </a:txBody>
                  <a:tcPr anchor="ctr">
                    <a:solidFill>
                      <a:schemeClr val="bg1"/>
                    </a:solidFill>
                  </a:tcPr>
                </a:tc>
                <a:tc>
                  <a:txBody>
                    <a:bodyPr/>
                    <a:lstStyle/>
                    <a:p>
                      <a:pPr algn="ctr"/>
                      <a:r>
                        <a:rPr lang="en-US" sz="1800">
                          <a:latin typeface="Open Sauce"/>
                        </a:rPr>
                        <a:t>6</a:t>
                      </a:r>
                      <a:endParaRPr lang="en-CA" sz="1800">
                        <a:latin typeface="Open Sauce"/>
                      </a:endParaRPr>
                    </a:p>
                  </a:txBody>
                  <a:tcPr anchor="ctr">
                    <a:solidFill>
                      <a:schemeClr val="bg1"/>
                    </a:solidFill>
                  </a:tcPr>
                </a:tc>
                <a:tc>
                  <a:txBody>
                    <a:bodyPr/>
                    <a:lstStyle/>
                    <a:p>
                      <a:pPr algn="ctr"/>
                      <a:r>
                        <a:rPr lang="en-US" sz="1800">
                          <a:latin typeface="Open Sauce"/>
                        </a:rPr>
                        <a:t>7</a:t>
                      </a:r>
                      <a:endParaRPr lang="en-CA" sz="1800">
                        <a:latin typeface="Open Sauce"/>
                      </a:endParaRPr>
                    </a:p>
                  </a:txBody>
                  <a:tcPr anchor="ctr">
                    <a:solidFill>
                      <a:schemeClr val="bg1"/>
                    </a:solidFill>
                  </a:tcPr>
                </a:tc>
                <a:tc>
                  <a:txBody>
                    <a:bodyPr/>
                    <a:lstStyle/>
                    <a:p>
                      <a:pPr algn="ctr"/>
                      <a:r>
                        <a:rPr lang="en-US" sz="1800">
                          <a:latin typeface="Open Sauce"/>
                        </a:rPr>
                        <a:t>5</a:t>
                      </a:r>
                      <a:endParaRPr lang="en-CA" sz="1800">
                        <a:latin typeface="Open Sauce"/>
                      </a:endParaRPr>
                    </a:p>
                  </a:txBody>
                  <a:tcPr anchor="ctr">
                    <a:solidFill>
                      <a:schemeClr val="bg1"/>
                    </a:solidFill>
                  </a:tcPr>
                </a:tc>
                <a:tc>
                  <a:txBody>
                    <a:bodyPr/>
                    <a:lstStyle/>
                    <a:p>
                      <a:pPr algn="ctr"/>
                      <a:r>
                        <a:rPr lang="en-US" sz="1800">
                          <a:latin typeface="Open Sauce"/>
                        </a:rPr>
                        <a:t>3</a:t>
                      </a:r>
                      <a:endParaRPr lang="en-CA" sz="1800">
                        <a:latin typeface="Open Sauce"/>
                      </a:endParaRPr>
                    </a:p>
                  </a:txBody>
                  <a:tcPr anchor="ctr">
                    <a:solidFill>
                      <a:schemeClr val="bg1"/>
                    </a:solidFill>
                  </a:tcPr>
                </a:tc>
                <a:extLst>
                  <a:ext uri="{0D108BD9-81ED-4DB2-BD59-A6C34878D82A}">
                    <a16:rowId xmlns:a16="http://schemas.microsoft.com/office/drawing/2014/main" val="3763798267"/>
                  </a:ext>
                </a:extLst>
              </a:tr>
              <a:tr h="625451">
                <a:tc>
                  <a:txBody>
                    <a:bodyPr/>
                    <a:lstStyle/>
                    <a:p>
                      <a:pPr algn="l"/>
                      <a:r>
                        <a:rPr lang="en-US" sz="1800" b="1">
                          <a:latin typeface="Open Sauce"/>
                        </a:rPr>
                        <a:t>False Positives</a:t>
                      </a:r>
                      <a:endParaRPr lang="en-CA" sz="1800" b="1">
                        <a:latin typeface="Open Sauce"/>
                      </a:endParaRPr>
                    </a:p>
                  </a:txBody>
                  <a:tcPr anchor="ctr">
                    <a:solidFill>
                      <a:schemeClr val="bg1"/>
                    </a:solidFill>
                  </a:tcPr>
                </a:tc>
                <a:tc>
                  <a:txBody>
                    <a:bodyPr/>
                    <a:lstStyle/>
                    <a:p>
                      <a:pPr algn="ctr"/>
                      <a:r>
                        <a:rPr lang="en-US" sz="1800">
                          <a:latin typeface="Open Sauce"/>
                        </a:rPr>
                        <a:t>2</a:t>
                      </a:r>
                    </a:p>
                  </a:txBody>
                  <a:tcPr anchor="ctr">
                    <a:solidFill>
                      <a:schemeClr val="bg1"/>
                    </a:solidFill>
                  </a:tcPr>
                </a:tc>
                <a:tc>
                  <a:txBody>
                    <a:bodyPr/>
                    <a:lstStyle/>
                    <a:p>
                      <a:pPr algn="ctr"/>
                      <a:r>
                        <a:rPr lang="en-US" sz="1800">
                          <a:latin typeface="Open Sauce"/>
                        </a:rPr>
                        <a:t>0</a:t>
                      </a:r>
                      <a:endParaRPr lang="en-CA" sz="1800">
                        <a:latin typeface="Open Sauce"/>
                      </a:endParaRPr>
                    </a:p>
                  </a:txBody>
                  <a:tcPr anchor="ctr">
                    <a:solidFill>
                      <a:schemeClr val="bg1"/>
                    </a:solidFill>
                  </a:tcPr>
                </a:tc>
                <a:tc>
                  <a:txBody>
                    <a:bodyPr/>
                    <a:lstStyle/>
                    <a:p>
                      <a:pPr algn="ctr"/>
                      <a:r>
                        <a:rPr lang="en-US" sz="1800">
                          <a:latin typeface="Open Sauce"/>
                        </a:rPr>
                        <a:t>0</a:t>
                      </a:r>
                      <a:endParaRPr lang="en-CA" sz="1800">
                        <a:latin typeface="Open Sauce"/>
                      </a:endParaRPr>
                    </a:p>
                  </a:txBody>
                  <a:tcPr anchor="ctr">
                    <a:solidFill>
                      <a:schemeClr val="bg1"/>
                    </a:solidFill>
                  </a:tcPr>
                </a:tc>
                <a:tc>
                  <a:txBody>
                    <a:bodyPr/>
                    <a:lstStyle/>
                    <a:p>
                      <a:pPr algn="ctr"/>
                      <a:r>
                        <a:rPr lang="en-US" sz="1800">
                          <a:latin typeface="Open Sauce"/>
                        </a:rPr>
                        <a:t>2</a:t>
                      </a:r>
                      <a:endParaRPr lang="en-CA" sz="1800">
                        <a:latin typeface="Open Sauce"/>
                      </a:endParaRPr>
                    </a:p>
                  </a:txBody>
                  <a:tcPr anchor="ctr">
                    <a:solidFill>
                      <a:schemeClr val="bg1"/>
                    </a:solidFill>
                  </a:tcPr>
                </a:tc>
                <a:tc>
                  <a:txBody>
                    <a:bodyPr/>
                    <a:lstStyle/>
                    <a:p>
                      <a:pPr algn="ctr"/>
                      <a:r>
                        <a:rPr lang="en-US" sz="1800">
                          <a:latin typeface="Open Sauce"/>
                        </a:rPr>
                        <a:t>0</a:t>
                      </a:r>
                      <a:endParaRPr lang="en-CA" sz="1800">
                        <a:latin typeface="Open Sauce"/>
                      </a:endParaRPr>
                    </a:p>
                  </a:txBody>
                  <a:tcPr anchor="ctr">
                    <a:solidFill>
                      <a:schemeClr val="bg1"/>
                    </a:solidFill>
                  </a:tcPr>
                </a:tc>
                <a:extLst>
                  <a:ext uri="{0D108BD9-81ED-4DB2-BD59-A6C34878D82A}">
                    <a16:rowId xmlns:a16="http://schemas.microsoft.com/office/drawing/2014/main" val="2262522921"/>
                  </a:ext>
                </a:extLst>
              </a:tr>
              <a:tr h="625451">
                <a:tc>
                  <a:txBody>
                    <a:bodyPr/>
                    <a:lstStyle/>
                    <a:p>
                      <a:pPr algn="l"/>
                      <a:r>
                        <a:rPr lang="en-US" sz="1800" b="1">
                          <a:latin typeface="Open Sauce"/>
                        </a:rPr>
                        <a:t>Strengths</a:t>
                      </a:r>
                      <a:endParaRPr lang="en-CA" sz="1800" b="1">
                        <a:latin typeface="Open Sauce"/>
                      </a:endParaRPr>
                    </a:p>
                  </a:txBody>
                  <a:tcPr anchor="ctr">
                    <a:solidFill>
                      <a:schemeClr val="bg1"/>
                    </a:solidFill>
                  </a:tcPr>
                </a:tc>
                <a:tc>
                  <a:txBody>
                    <a:bodyPr/>
                    <a:lstStyle/>
                    <a:p>
                      <a:pPr algn="ctr"/>
                      <a:r>
                        <a:rPr lang="en-US" sz="1800">
                          <a:latin typeface="Open Sauce"/>
                        </a:rPr>
                        <a:t>High precision; simple to train</a:t>
                      </a:r>
                      <a:endParaRPr lang="en-CA" sz="1800">
                        <a:latin typeface="Open Sauce"/>
                      </a:endParaRPr>
                    </a:p>
                  </a:txBody>
                  <a:tcPr anchor="ctr">
                    <a:solidFill>
                      <a:schemeClr val="bg1"/>
                    </a:solidFill>
                  </a:tcPr>
                </a:tc>
                <a:tc>
                  <a:txBody>
                    <a:bodyPr/>
                    <a:lstStyle/>
                    <a:p>
                      <a:pPr algn="ctr"/>
                      <a:r>
                        <a:rPr lang="en-US" sz="1800">
                          <a:latin typeface="Open Sauce"/>
                        </a:rPr>
                        <a:t>Strong “no tumor” detection</a:t>
                      </a:r>
                      <a:endParaRPr lang="en-CA" sz="1800">
                        <a:latin typeface="Open Sauce"/>
                      </a:endParaRPr>
                    </a:p>
                  </a:txBody>
                  <a:tcPr anchor="ctr">
                    <a:solidFill>
                      <a:schemeClr val="bg1"/>
                    </a:solidFill>
                  </a:tcPr>
                </a:tc>
                <a:tc>
                  <a:txBody>
                    <a:bodyPr/>
                    <a:lstStyle/>
                    <a:p>
                      <a:pPr algn="ctr"/>
                      <a:r>
                        <a:rPr lang="en-US" sz="1800">
                          <a:latin typeface="Open Sauce"/>
                        </a:rPr>
                        <a:t>No false positives on non-tumor</a:t>
                      </a:r>
                      <a:endParaRPr lang="en-CA" sz="1800">
                        <a:latin typeface="Open Sauce"/>
                      </a:endParaRPr>
                    </a:p>
                  </a:txBody>
                  <a:tcPr anchor="ctr">
                    <a:solidFill>
                      <a:schemeClr val="bg1"/>
                    </a:solidFill>
                  </a:tcPr>
                </a:tc>
                <a:tc>
                  <a:txBody>
                    <a:bodyPr/>
                    <a:lstStyle/>
                    <a:p>
                      <a:pPr algn="ctr"/>
                      <a:r>
                        <a:rPr lang="en-US" sz="1800">
                          <a:latin typeface="Open Sauce"/>
                        </a:rPr>
                        <a:t>Faster training, generalizes well</a:t>
                      </a:r>
                    </a:p>
                  </a:txBody>
                  <a:tcPr anchor="ctr">
                    <a:solidFill>
                      <a:schemeClr val="bg1"/>
                    </a:solidFill>
                  </a:tcPr>
                </a:tc>
                <a:tc>
                  <a:txBody>
                    <a:bodyPr/>
                    <a:lstStyle/>
                    <a:p>
                      <a:pPr algn="ctr"/>
                      <a:r>
                        <a:rPr lang="en-US" sz="1800">
                          <a:latin typeface="Open Sauce"/>
                        </a:rPr>
                        <a:t>Strong balance; perfect tumor precision</a:t>
                      </a:r>
                      <a:endParaRPr lang="en-CA" sz="1800">
                        <a:latin typeface="Open Sauce"/>
                      </a:endParaRPr>
                    </a:p>
                  </a:txBody>
                  <a:tcPr anchor="ctr">
                    <a:solidFill>
                      <a:schemeClr val="bg1"/>
                    </a:solidFill>
                  </a:tcPr>
                </a:tc>
                <a:extLst>
                  <a:ext uri="{0D108BD9-81ED-4DB2-BD59-A6C34878D82A}">
                    <a16:rowId xmlns:a16="http://schemas.microsoft.com/office/drawing/2014/main" val="228976182"/>
                  </a:ext>
                </a:extLst>
              </a:tr>
              <a:tr h="625451">
                <a:tc>
                  <a:txBody>
                    <a:bodyPr/>
                    <a:lstStyle/>
                    <a:p>
                      <a:pPr algn="l"/>
                      <a:r>
                        <a:rPr lang="en-US" sz="1800" b="1">
                          <a:latin typeface="Open Sauce"/>
                        </a:rPr>
                        <a:t>Weaknesses</a:t>
                      </a:r>
                      <a:endParaRPr lang="en-CA" sz="1800" b="1">
                        <a:latin typeface="Open Sauce"/>
                      </a:endParaRPr>
                    </a:p>
                  </a:txBody>
                  <a:tcPr anchor="ctr">
                    <a:solidFill>
                      <a:schemeClr val="bg1"/>
                    </a:solidFill>
                  </a:tcPr>
                </a:tc>
                <a:tc>
                  <a:txBody>
                    <a:bodyPr/>
                    <a:lstStyle/>
                    <a:p>
                      <a:pPr algn="ctr"/>
                      <a:r>
                        <a:rPr lang="en-US" sz="1800">
                          <a:latin typeface="Open Sauce"/>
                        </a:rPr>
                        <a:t>Misses some tumor cases</a:t>
                      </a:r>
                      <a:endParaRPr lang="en-CA" sz="1800">
                        <a:latin typeface="Open Sauce"/>
                      </a:endParaRPr>
                    </a:p>
                  </a:txBody>
                  <a:tcPr anchor="ctr">
                    <a:solidFill>
                      <a:schemeClr val="bg1"/>
                    </a:solidFill>
                  </a:tcPr>
                </a:tc>
                <a:tc>
                  <a:txBody>
                    <a:bodyPr/>
                    <a:lstStyle/>
                    <a:p>
                      <a:pPr algn="ctr"/>
                      <a:r>
                        <a:rPr lang="en-US" sz="1800">
                          <a:latin typeface="Open Sauce"/>
                        </a:rPr>
                        <a:t>Moderate recall; loses detail in reconstructions</a:t>
                      </a:r>
                      <a:endParaRPr lang="en-CA" sz="1800">
                        <a:latin typeface="Open Sauce"/>
                      </a:endParaRPr>
                    </a:p>
                  </a:txBody>
                  <a:tcPr anchor="ctr">
                    <a:solidFill>
                      <a:schemeClr val="bg1"/>
                    </a:solidFill>
                  </a:tcPr>
                </a:tc>
                <a:tc>
                  <a:txBody>
                    <a:bodyPr/>
                    <a:lstStyle/>
                    <a:p>
                      <a:pPr algn="ctr"/>
                      <a:r>
                        <a:rPr lang="en-US" sz="1800">
                          <a:latin typeface="Open Sauce"/>
                        </a:rPr>
                        <a:t>Low recall; poor reconstruction</a:t>
                      </a:r>
                      <a:endParaRPr lang="en-CA" sz="1800">
                        <a:latin typeface="Open Sauce"/>
                      </a:endParaRPr>
                    </a:p>
                  </a:txBody>
                  <a:tcPr anchor="ctr">
                    <a:solidFill>
                      <a:schemeClr val="bg1"/>
                    </a:solidFill>
                  </a:tcPr>
                </a:tc>
                <a:tc>
                  <a:txBody>
                    <a:bodyPr/>
                    <a:lstStyle/>
                    <a:p>
                      <a:pPr algn="ctr"/>
                      <a:r>
                        <a:rPr lang="en-US" sz="1800">
                          <a:latin typeface="Open Sauce"/>
                        </a:rPr>
                        <a:t>Recall not good</a:t>
                      </a:r>
                      <a:endParaRPr lang="en-CA" sz="1800">
                        <a:latin typeface="Open Sauce"/>
                      </a:endParaRPr>
                    </a:p>
                  </a:txBody>
                  <a:tcPr anchor="ctr">
                    <a:solidFill>
                      <a:schemeClr val="bg1"/>
                    </a:solidFill>
                  </a:tcPr>
                </a:tc>
                <a:tc>
                  <a:txBody>
                    <a:bodyPr/>
                    <a:lstStyle/>
                    <a:p>
                      <a:pPr algn="ctr"/>
                      <a:r>
                        <a:rPr lang="en-US" sz="1800" dirty="0">
                          <a:latin typeface="Open Sauce"/>
                        </a:rPr>
                        <a:t>Some false negative cases; needs recall improvement</a:t>
                      </a:r>
                      <a:endParaRPr lang="en-CA" sz="1800" dirty="0">
                        <a:latin typeface="Open Sauce"/>
                      </a:endParaRPr>
                    </a:p>
                  </a:txBody>
                  <a:tcPr anchor="ctr">
                    <a:solidFill>
                      <a:schemeClr val="bg1"/>
                    </a:solidFill>
                  </a:tcPr>
                </a:tc>
                <a:extLst>
                  <a:ext uri="{0D108BD9-81ED-4DB2-BD59-A6C34878D82A}">
                    <a16:rowId xmlns:a16="http://schemas.microsoft.com/office/drawing/2014/main" val="565057645"/>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6"/>
          <p:cNvGrpSpPr/>
          <p:nvPr/>
        </p:nvGrpSpPr>
        <p:grpSpPr>
          <a:xfrm>
            <a:off x="16303701" y="8984615"/>
            <a:ext cx="786981" cy="786981"/>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664"/>
            </a:solidFill>
          </p:spPr>
          <p:txBody>
            <a:bodyPr/>
            <a:lstStyle/>
            <a:p>
              <a:endParaRPr lang="en-CA"/>
            </a:p>
          </p:txBody>
        </p:sp>
        <p:sp>
          <p:nvSpPr>
            <p:cNvPr id="8" name="TextBox 8"/>
            <p:cNvSpPr txBox="1"/>
            <p:nvPr/>
          </p:nvSpPr>
          <p:spPr>
            <a:xfrm>
              <a:off x="76200" y="66675"/>
              <a:ext cx="660400" cy="669925"/>
            </a:xfrm>
            <a:prstGeom prst="rect">
              <a:avLst/>
            </a:prstGeom>
          </p:spPr>
          <p:txBody>
            <a:bodyPr lIns="50800" tIns="50800" rIns="50800" bIns="50800" rtlCol="0" anchor="ctr"/>
            <a:lstStyle/>
            <a:p>
              <a:pPr algn="ctr">
                <a:lnSpc>
                  <a:spcPts val="3042"/>
                </a:lnSpc>
              </a:pPr>
              <a:endParaRPr/>
            </a:p>
          </p:txBody>
        </p:sp>
      </p:grpSp>
      <p:sp>
        <p:nvSpPr>
          <p:cNvPr id="2" name="Freeform 2"/>
          <p:cNvSpPr/>
          <p:nvPr/>
        </p:nvSpPr>
        <p:spPr>
          <a:xfrm>
            <a:off x="0" y="124018"/>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CA"/>
          </a:p>
        </p:txBody>
      </p:sp>
      <p:sp>
        <p:nvSpPr>
          <p:cNvPr id="9" name="AutoShape 9"/>
          <p:cNvSpPr/>
          <p:nvPr/>
        </p:nvSpPr>
        <p:spPr>
          <a:xfrm>
            <a:off x="0" y="9723971"/>
            <a:ext cx="9144000" cy="0"/>
          </a:xfrm>
          <a:prstGeom prst="line">
            <a:avLst/>
          </a:prstGeom>
          <a:ln w="47625" cap="flat">
            <a:solidFill>
              <a:srgbClr val="004664"/>
            </a:solidFill>
            <a:prstDash val="solid"/>
            <a:headEnd type="none" w="sm" len="sm"/>
            <a:tailEnd type="oval" w="lg" len="lg"/>
          </a:ln>
        </p:spPr>
        <p:txBody>
          <a:bodyPr/>
          <a:lstStyle/>
          <a:p>
            <a:endParaRPr lang="en-CA"/>
          </a:p>
        </p:txBody>
      </p:sp>
      <p:grpSp>
        <p:nvGrpSpPr>
          <p:cNvPr id="3" name="Group 3"/>
          <p:cNvGrpSpPr/>
          <p:nvPr/>
        </p:nvGrpSpPr>
        <p:grpSpPr>
          <a:xfrm>
            <a:off x="17259300" y="8984615"/>
            <a:ext cx="1573962" cy="1573962"/>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3B54"/>
            </a:solidFill>
          </p:spPr>
          <p:txBody>
            <a:bodyPr/>
            <a:lstStyle/>
            <a:p>
              <a:endParaRPr lang="en-CA"/>
            </a:p>
          </p:txBody>
        </p:sp>
        <p:sp>
          <p:nvSpPr>
            <p:cNvPr id="5" name="TextBox 5"/>
            <p:cNvSpPr txBox="1"/>
            <p:nvPr/>
          </p:nvSpPr>
          <p:spPr>
            <a:xfrm>
              <a:off x="76200" y="66675"/>
              <a:ext cx="660400" cy="669925"/>
            </a:xfrm>
            <a:prstGeom prst="rect">
              <a:avLst/>
            </a:prstGeom>
          </p:spPr>
          <p:txBody>
            <a:bodyPr lIns="50800" tIns="50800" rIns="50800" bIns="50800" rtlCol="0" anchor="ctr"/>
            <a:lstStyle/>
            <a:p>
              <a:pPr algn="ctr">
                <a:lnSpc>
                  <a:spcPts val="3042"/>
                </a:lnSpc>
              </a:pPr>
              <a:endParaRPr/>
            </a:p>
          </p:txBody>
        </p:sp>
      </p:grpSp>
      <p:sp>
        <p:nvSpPr>
          <p:cNvPr id="10" name="AutoShape 10"/>
          <p:cNvSpPr/>
          <p:nvPr/>
        </p:nvSpPr>
        <p:spPr>
          <a:xfrm>
            <a:off x="15925021" y="646179"/>
            <a:ext cx="2362979" cy="0"/>
          </a:xfrm>
          <a:prstGeom prst="line">
            <a:avLst/>
          </a:prstGeom>
          <a:ln w="47625" cap="flat">
            <a:solidFill>
              <a:srgbClr val="004664"/>
            </a:solidFill>
            <a:prstDash val="solid"/>
            <a:headEnd type="oval" w="lg" len="lg"/>
            <a:tailEnd type="none" w="sm" len="sm"/>
          </a:ln>
        </p:spPr>
        <p:txBody>
          <a:bodyPr/>
          <a:lstStyle/>
          <a:p>
            <a:endParaRPr lang="en-CA"/>
          </a:p>
        </p:txBody>
      </p:sp>
      <p:sp>
        <p:nvSpPr>
          <p:cNvPr id="11" name="TextBox 11"/>
          <p:cNvSpPr txBox="1"/>
          <p:nvPr/>
        </p:nvSpPr>
        <p:spPr>
          <a:xfrm>
            <a:off x="1524000" y="377315"/>
            <a:ext cx="9625751" cy="958850"/>
          </a:xfrm>
          <a:prstGeom prst="rect">
            <a:avLst/>
          </a:prstGeom>
        </p:spPr>
        <p:txBody>
          <a:bodyPr lIns="0" tIns="0" rIns="0" bIns="0" rtlCol="0" anchor="t">
            <a:spAutoFit/>
          </a:bodyPr>
          <a:lstStyle/>
          <a:p>
            <a:pPr algn="l">
              <a:lnSpc>
                <a:spcPts val="7000"/>
              </a:lnSpc>
              <a:spcBef>
                <a:spcPct val="0"/>
              </a:spcBef>
            </a:pPr>
            <a:r>
              <a:rPr lang="en-US" sz="5000" spc="-100" dirty="0">
                <a:solidFill>
                  <a:srgbClr val="013B54"/>
                </a:solidFill>
                <a:latin typeface="Bugaki"/>
                <a:ea typeface="Bugaki"/>
                <a:cs typeface="Bugaki"/>
                <a:sym typeface="Bugaki"/>
              </a:rPr>
              <a:t>Comparison</a:t>
            </a:r>
          </a:p>
        </p:txBody>
      </p:sp>
      <p:grpSp>
        <p:nvGrpSpPr>
          <p:cNvPr id="12" name="Group 12"/>
          <p:cNvGrpSpPr/>
          <p:nvPr/>
        </p:nvGrpSpPr>
        <p:grpSpPr>
          <a:xfrm>
            <a:off x="381366" y="345505"/>
            <a:ext cx="977507" cy="977507"/>
            <a:chOff x="0" y="0"/>
            <a:chExt cx="1303342" cy="1303342"/>
          </a:xfrm>
        </p:grpSpPr>
        <p:sp>
          <p:nvSpPr>
            <p:cNvPr id="13" name="Freeform 13"/>
            <p:cNvSpPr/>
            <p:nvPr/>
          </p:nvSpPr>
          <p:spPr>
            <a:xfrm>
              <a:off x="0" y="0"/>
              <a:ext cx="1303342" cy="1303342"/>
            </a:xfrm>
            <a:custGeom>
              <a:avLst/>
              <a:gdLst/>
              <a:ahLst/>
              <a:cxnLst/>
              <a:rect l="l" t="t" r="r" b="b"/>
              <a:pathLst>
                <a:path w="1303342" h="1303342">
                  <a:moveTo>
                    <a:pt x="0" y="0"/>
                  </a:moveTo>
                  <a:lnTo>
                    <a:pt x="1303342" y="0"/>
                  </a:lnTo>
                  <a:lnTo>
                    <a:pt x="1303342" y="1303342"/>
                  </a:lnTo>
                  <a:lnTo>
                    <a:pt x="0" y="130334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CA"/>
            </a:p>
          </p:txBody>
        </p:sp>
        <p:sp>
          <p:nvSpPr>
            <p:cNvPr id="14" name="TextBox 14"/>
            <p:cNvSpPr txBox="1"/>
            <p:nvPr/>
          </p:nvSpPr>
          <p:spPr>
            <a:xfrm>
              <a:off x="0" y="135180"/>
              <a:ext cx="1303342" cy="890108"/>
            </a:xfrm>
            <a:prstGeom prst="rect">
              <a:avLst/>
            </a:prstGeom>
          </p:spPr>
          <p:txBody>
            <a:bodyPr lIns="0" tIns="0" rIns="0" bIns="0" rtlCol="0" anchor="t">
              <a:spAutoFit/>
            </a:bodyPr>
            <a:lstStyle/>
            <a:p>
              <a:pPr algn="ctr">
                <a:lnSpc>
                  <a:spcPts val="5148"/>
                </a:lnSpc>
                <a:spcBef>
                  <a:spcPct val="0"/>
                </a:spcBef>
              </a:pPr>
              <a:r>
                <a:rPr lang="en-US" sz="3677" spc="-73">
                  <a:solidFill>
                    <a:srgbClr val="FFFFFF"/>
                  </a:solidFill>
                  <a:latin typeface="Bugaki"/>
                  <a:ea typeface="Bugaki"/>
                  <a:cs typeface="Bugaki"/>
                  <a:sym typeface="Bugaki"/>
                </a:rPr>
                <a:t>08</a:t>
              </a:r>
            </a:p>
          </p:txBody>
        </p:sp>
      </p:grpSp>
      <p:pic>
        <p:nvPicPr>
          <p:cNvPr id="32" name="Picture 31">
            <a:extLst>
              <a:ext uri="{FF2B5EF4-FFF2-40B4-BE49-F238E27FC236}">
                <a16:creationId xmlns:a16="http://schemas.microsoft.com/office/drawing/2014/main" id="{EE6207EA-48B4-57F1-B342-85BDC3AFC3CB}"/>
              </a:ext>
            </a:extLst>
          </p:cNvPr>
          <p:cNvPicPr>
            <a:picLocks noChangeAspect="1"/>
          </p:cNvPicPr>
          <p:nvPr/>
        </p:nvPicPr>
        <p:blipFill>
          <a:blip r:embed="rId5"/>
          <a:srcRect t="9569"/>
          <a:stretch/>
        </p:blipFill>
        <p:spPr>
          <a:xfrm>
            <a:off x="1301515" y="3091587"/>
            <a:ext cx="2591019" cy="2559906"/>
          </a:xfrm>
          <a:prstGeom prst="rect">
            <a:avLst/>
          </a:prstGeom>
        </p:spPr>
      </p:pic>
      <p:pic>
        <p:nvPicPr>
          <p:cNvPr id="33" name="Picture 32">
            <a:extLst>
              <a:ext uri="{FF2B5EF4-FFF2-40B4-BE49-F238E27FC236}">
                <a16:creationId xmlns:a16="http://schemas.microsoft.com/office/drawing/2014/main" id="{2531E214-E98B-6334-D0C7-CD2BF62B531F}"/>
              </a:ext>
            </a:extLst>
          </p:cNvPr>
          <p:cNvPicPr>
            <a:picLocks noChangeAspect="1"/>
          </p:cNvPicPr>
          <p:nvPr/>
        </p:nvPicPr>
        <p:blipFill>
          <a:blip r:embed="rId6"/>
          <a:srcRect t="9569"/>
          <a:stretch/>
        </p:blipFill>
        <p:spPr>
          <a:xfrm>
            <a:off x="1301515" y="6317218"/>
            <a:ext cx="2591020" cy="2559907"/>
          </a:xfrm>
          <a:prstGeom prst="rect">
            <a:avLst/>
          </a:prstGeom>
        </p:spPr>
      </p:pic>
      <p:graphicFrame>
        <p:nvGraphicFramePr>
          <p:cNvPr id="17" name="Table 16">
            <a:extLst>
              <a:ext uri="{FF2B5EF4-FFF2-40B4-BE49-F238E27FC236}">
                <a16:creationId xmlns:a16="http://schemas.microsoft.com/office/drawing/2014/main" id="{B1E4B985-CC12-F43B-7D3C-3B50A0802E82}"/>
              </a:ext>
            </a:extLst>
          </p:cNvPr>
          <p:cNvGraphicFramePr>
            <a:graphicFrameLocks noGrp="1"/>
          </p:cNvGraphicFramePr>
          <p:nvPr>
            <p:extLst>
              <p:ext uri="{D42A27DB-BD31-4B8C-83A1-F6EECF244321}">
                <p14:modId xmlns:p14="http://schemas.microsoft.com/office/powerpoint/2010/main" val="1295360794"/>
              </p:ext>
            </p:extLst>
          </p:nvPr>
        </p:nvGraphicFramePr>
        <p:xfrm>
          <a:off x="4437797" y="1641167"/>
          <a:ext cx="12192000" cy="7391400"/>
        </p:xfrm>
        <a:graphic>
          <a:graphicData uri="http://schemas.openxmlformats.org/drawingml/2006/table">
            <a:tbl>
              <a:tblPr firstRow="1" bandRow="1">
                <a:tableStyleId>{5940675A-B579-460E-94D1-54222C63F5DA}</a:tableStyleId>
              </a:tblPr>
              <a:tblGrid>
                <a:gridCol w="4064000">
                  <a:extLst>
                    <a:ext uri="{9D8B030D-6E8A-4147-A177-3AD203B41FA5}">
                      <a16:colId xmlns:a16="http://schemas.microsoft.com/office/drawing/2014/main" val="1264066544"/>
                    </a:ext>
                  </a:extLst>
                </a:gridCol>
                <a:gridCol w="4064000">
                  <a:extLst>
                    <a:ext uri="{9D8B030D-6E8A-4147-A177-3AD203B41FA5}">
                      <a16:colId xmlns:a16="http://schemas.microsoft.com/office/drawing/2014/main" val="3803408983"/>
                    </a:ext>
                  </a:extLst>
                </a:gridCol>
                <a:gridCol w="4064000">
                  <a:extLst>
                    <a:ext uri="{9D8B030D-6E8A-4147-A177-3AD203B41FA5}">
                      <a16:colId xmlns:a16="http://schemas.microsoft.com/office/drawing/2014/main" val="963292728"/>
                    </a:ext>
                  </a:extLst>
                </a:gridCol>
              </a:tblGrid>
              <a:tr h="1165633">
                <a:tc>
                  <a:txBody>
                    <a:bodyPr/>
                    <a:lstStyle/>
                    <a:p>
                      <a:pPr algn="ctr"/>
                      <a:r>
                        <a:rPr lang="en-US" sz="3600" b="1" dirty="0">
                          <a:latin typeface="Open Sauce" panose="020B0604020202020204" charset="0"/>
                        </a:rPr>
                        <a:t>VGG</a:t>
                      </a:r>
                      <a:endParaRPr lang="en-CA" sz="3600" b="1" dirty="0">
                        <a:latin typeface="Open Sauce" panose="020B0604020202020204" charset="0"/>
                      </a:endParaRPr>
                    </a:p>
                  </a:txBody>
                  <a:tcPr anchor="ctr"/>
                </a:tc>
                <a:tc>
                  <a:txBody>
                    <a:bodyPr/>
                    <a:lstStyle/>
                    <a:p>
                      <a:pPr algn="ctr"/>
                      <a:r>
                        <a:rPr lang="en-US" sz="3600" b="1" dirty="0">
                          <a:latin typeface="Open Sauce" panose="020B0604020202020204" charset="0"/>
                        </a:rPr>
                        <a:t>ViT</a:t>
                      </a:r>
                      <a:endParaRPr lang="en-CA" sz="3600" b="1" dirty="0">
                        <a:latin typeface="Open Sauce" panose="020B0604020202020204" charset="0"/>
                      </a:endParaRPr>
                    </a:p>
                  </a:txBody>
                  <a:tcPr anchor="ctr"/>
                </a:tc>
                <a:tc>
                  <a:txBody>
                    <a:bodyPr/>
                    <a:lstStyle/>
                    <a:p>
                      <a:pPr algn="ctr"/>
                      <a:r>
                        <a:rPr lang="en-US" sz="3600" b="1" dirty="0">
                          <a:latin typeface="Open Sauce" panose="020B0604020202020204" charset="0"/>
                        </a:rPr>
                        <a:t>EfficientNet</a:t>
                      </a:r>
                      <a:endParaRPr lang="en-CA" sz="3600" b="1" dirty="0">
                        <a:latin typeface="Open Sauce" panose="020B0604020202020204" charset="0"/>
                      </a:endParaRPr>
                    </a:p>
                  </a:txBody>
                  <a:tcPr anchor="ctr"/>
                </a:tc>
                <a:extLst>
                  <a:ext uri="{0D108BD9-81ED-4DB2-BD59-A6C34878D82A}">
                    <a16:rowId xmlns:a16="http://schemas.microsoft.com/office/drawing/2014/main" val="2271987785"/>
                  </a:ext>
                </a:extLst>
              </a:tr>
              <a:tr h="2949167">
                <a:tc>
                  <a:txBody>
                    <a:bodyPr/>
                    <a:lstStyle/>
                    <a:p>
                      <a:endParaRPr lang="en-CA"/>
                    </a:p>
                  </a:txBody>
                  <a:tcPr/>
                </a:tc>
                <a:tc>
                  <a:txBody>
                    <a:bodyPr/>
                    <a:lstStyle/>
                    <a:p>
                      <a:endParaRPr lang="en-CA" dirty="0"/>
                    </a:p>
                  </a:txBody>
                  <a:tcPr/>
                </a:tc>
                <a:tc>
                  <a:txBody>
                    <a:bodyPr/>
                    <a:lstStyle/>
                    <a:p>
                      <a:endParaRPr lang="en-CA" dirty="0"/>
                    </a:p>
                  </a:txBody>
                  <a:tcPr/>
                </a:tc>
                <a:extLst>
                  <a:ext uri="{0D108BD9-81ED-4DB2-BD59-A6C34878D82A}">
                    <a16:rowId xmlns:a16="http://schemas.microsoft.com/office/drawing/2014/main" val="933332353"/>
                  </a:ext>
                </a:extLst>
              </a:tr>
              <a:tr h="3276600">
                <a:tc>
                  <a:txBody>
                    <a:bodyPr/>
                    <a:lstStyle/>
                    <a:p>
                      <a:endParaRPr lang="en-CA"/>
                    </a:p>
                  </a:txBody>
                  <a:tcPr/>
                </a:tc>
                <a:tc>
                  <a:txBody>
                    <a:bodyPr/>
                    <a:lstStyle/>
                    <a:p>
                      <a:endParaRPr lang="en-CA" dirty="0"/>
                    </a:p>
                  </a:txBody>
                  <a:tcPr/>
                </a:tc>
                <a:tc>
                  <a:txBody>
                    <a:bodyPr/>
                    <a:lstStyle/>
                    <a:p>
                      <a:endParaRPr lang="en-CA" dirty="0"/>
                    </a:p>
                  </a:txBody>
                  <a:tcPr/>
                </a:tc>
                <a:extLst>
                  <a:ext uri="{0D108BD9-81ED-4DB2-BD59-A6C34878D82A}">
                    <a16:rowId xmlns:a16="http://schemas.microsoft.com/office/drawing/2014/main" val="1600395198"/>
                  </a:ext>
                </a:extLst>
              </a:tr>
            </a:tbl>
          </a:graphicData>
        </a:graphic>
      </p:graphicFrame>
      <p:pic>
        <p:nvPicPr>
          <p:cNvPr id="23" name="Picture 22">
            <a:extLst>
              <a:ext uri="{FF2B5EF4-FFF2-40B4-BE49-F238E27FC236}">
                <a16:creationId xmlns:a16="http://schemas.microsoft.com/office/drawing/2014/main" id="{55C5DBB1-C193-DBAF-7BE5-8DFA5B2330FB}"/>
              </a:ext>
            </a:extLst>
          </p:cNvPr>
          <p:cNvPicPr>
            <a:picLocks noChangeAspect="1"/>
          </p:cNvPicPr>
          <p:nvPr/>
        </p:nvPicPr>
        <p:blipFill>
          <a:blip r:embed="rId7"/>
          <a:stretch>
            <a:fillRect/>
          </a:stretch>
        </p:blipFill>
        <p:spPr>
          <a:xfrm>
            <a:off x="5800431" y="3094636"/>
            <a:ext cx="1411493" cy="1411493"/>
          </a:xfrm>
          <a:prstGeom prst="rect">
            <a:avLst/>
          </a:prstGeom>
        </p:spPr>
      </p:pic>
      <p:pic>
        <p:nvPicPr>
          <p:cNvPr id="24" name="Picture 23">
            <a:extLst>
              <a:ext uri="{FF2B5EF4-FFF2-40B4-BE49-F238E27FC236}">
                <a16:creationId xmlns:a16="http://schemas.microsoft.com/office/drawing/2014/main" id="{7A344B6C-4F18-EBCA-C78A-CC318B85F1D2}"/>
              </a:ext>
            </a:extLst>
          </p:cNvPr>
          <p:cNvPicPr>
            <a:picLocks noChangeAspect="1"/>
          </p:cNvPicPr>
          <p:nvPr/>
        </p:nvPicPr>
        <p:blipFill>
          <a:blip r:embed="rId8"/>
          <a:stretch>
            <a:fillRect/>
          </a:stretch>
        </p:blipFill>
        <p:spPr>
          <a:xfrm>
            <a:off x="5800431" y="6317218"/>
            <a:ext cx="1346551" cy="1346551"/>
          </a:xfrm>
          <a:prstGeom prst="rect">
            <a:avLst/>
          </a:prstGeom>
        </p:spPr>
      </p:pic>
      <p:pic>
        <p:nvPicPr>
          <p:cNvPr id="28" name="Picture 27">
            <a:extLst>
              <a:ext uri="{FF2B5EF4-FFF2-40B4-BE49-F238E27FC236}">
                <a16:creationId xmlns:a16="http://schemas.microsoft.com/office/drawing/2014/main" id="{F5E94D04-C3B5-0DC2-3F8E-A1F78ABBB7EE}"/>
              </a:ext>
            </a:extLst>
          </p:cNvPr>
          <p:cNvPicPr>
            <a:picLocks noChangeAspect="1"/>
          </p:cNvPicPr>
          <p:nvPr/>
        </p:nvPicPr>
        <p:blipFill>
          <a:blip r:embed="rId7"/>
          <a:stretch>
            <a:fillRect/>
          </a:stretch>
        </p:blipFill>
        <p:spPr>
          <a:xfrm>
            <a:off x="9762831" y="3094636"/>
            <a:ext cx="1411493" cy="1411493"/>
          </a:xfrm>
          <a:prstGeom prst="rect">
            <a:avLst/>
          </a:prstGeom>
        </p:spPr>
      </p:pic>
      <p:pic>
        <p:nvPicPr>
          <p:cNvPr id="35" name="Picture 34">
            <a:extLst>
              <a:ext uri="{FF2B5EF4-FFF2-40B4-BE49-F238E27FC236}">
                <a16:creationId xmlns:a16="http://schemas.microsoft.com/office/drawing/2014/main" id="{7311220A-C00D-D0F0-741E-567C785E0B9C}"/>
              </a:ext>
            </a:extLst>
          </p:cNvPr>
          <p:cNvPicPr>
            <a:picLocks noChangeAspect="1"/>
          </p:cNvPicPr>
          <p:nvPr/>
        </p:nvPicPr>
        <p:blipFill>
          <a:blip r:embed="rId7"/>
          <a:stretch>
            <a:fillRect/>
          </a:stretch>
        </p:blipFill>
        <p:spPr>
          <a:xfrm>
            <a:off x="9762831" y="6231176"/>
            <a:ext cx="1411493" cy="1411493"/>
          </a:xfrm>
          <a:prstGeom prst="rect">
            <a:avLst/>
          </a:prstGeom>
        </p:spPr>
      </p:pic>
      <p:sp>
        <p:nvSpPr>
          <p:cNvPr id="36" name="TextBox 15">
            <a:extLst>
              <a:ext uri="{FF2B5EF4-FFF2-40B4-BE49-F238E27FC236}">
                <a16:creationId xmlns:a16="http://schemas.microsoft.com/office/drawing/2014/main" id="{1276F6F5-331D-3631-5C08-3F3B738C6911}"/>
              </a:ext>
            </a:extLst>
          </p:cNvPr>
          <p:cNvSpPr txBox="1"/>
          <p:nvPr/>
        </p:nvSpPr>
        <p:spPr>
          <a:xfrm>
            <a:off x="723688" y="2407199"/>
            <a:ext cx="3809624" cy="448841"/>
          </a:xfrm>
          <a:prstGeom prst="rect">
            <a:avLst/>
          </a:prstGeom>
        </p:spPr>
        <p:txBody>
          <a:bodyPr wrap="square" lIns="0" tIns="0" rIns="0" bIns="0" rtlCol="0" anchor="t">
            <a:spAutoFit/>
          </a:bodyPr>
          <a:lstStyle/>
          <a:p>
            <a:pPr algn="ctr">
              <a:lnSpc>
                <a:spcPts val="3509"/>
              </a:lnSpc>
            </a:pPr>
            <a:r>
              <a:rPr lang="en-US" sz="3000" spc="-60" dirty="0">
                <a:solidFill>
                  <a:srgbClr val="000000"/>
                </a:solidFill>
                <a:latin typeface="Open Sauce"/>
                <a:ea typeface="Open Sauce"/>
                <a:cs typeface="Arial"/>
                <a:sym typeface="Open Sauce"/>
              </a:rPr>
              <a:t>No Tumor</a:t>
            </a:r>
            <a:endParaRPr lang="en-US" sz="3000" spc="-60" dirty="0">
              <a:latin typeface="Open Sauce"/>
              <a:cs typeface="Arial"/>
            </a:endParaRPr>
          </a:p>
        </p:txBody>
      </p:sp>
      <p:sp>
        <p:nvSpPr>
          <p:cNvPr id="37" name="TextBox 15">
            <a:extLst>
              <a:ext uri="{FF2B5EF4-FFF2-40B4-BE49-F238E27FC236}">
                <a16:creationId xmlns:a16="http://schemas.microsoft.com/office/drawing/2014/main" id="{DA349BE1-C283-E638-8FBF-349243EF2426}"/>
              </a:ext>
            </a:extLst>
          </p:cNvPr>
          <p:cNvSpPr txBox="1"/>
          <p:nvPr/>
        </p:nvSpPr>
        <p:spPr>
          <a:xfrm>
            <a:off x="723688" y="5798563"/>
            <a:ext cx="3809624" cy="448841"/>
          </a:xfrm>
          <a:prstGeom prst="rect">
            <a:avLst/>
          </a:prstGeom>
        </p:spPr>
        <p:txBody>
          <a:bodyPr wrap="square" lIns="0" tIns="0" rIns="0" bIns="0" rtlCol="0" anchor="t">
            <a:spAutoFit/>
          </a:bodyPr>
          <a:lstStyle/>
          <a:p>
            <a:pPr algn="ctr">
              <a:lnSpc>
                <a:spcPts val="3509"/>
              </a:lnSpc>
            </a:pPr>
            <a:r>
              <a:rPr lang="en-US" sz="3000" spc="-60" dirty="0">
                <a:solidFill>
                  <a:srgbClr val="000000"/>
                </a:solidFill>
                <a:latin typeface="Open Sauce"/>
                <a:ea typeface="Open Sauce"/>
                <a:cs typeface="Arial"/>
                <a:sym typeface="Open Sauce"/>
              </a:rPr>
              <a:t>Tumor</a:t>
            </a:r>
            <a:endParaRPr lang="en-US" sz="3000" spc="-60" dirty="0">
              <a:latin typeface="Open Sauce"/>
              <a:cs typeface="Arial"/>
            </a:endParaRPr>
          </a:p>
        </p:txBody>
      </p:sp>
      <p:sp>
        <p:nvSpPr>
          <p:cNvPr id="38" name="TextBox 15">
            <a:extLst>
              <a:ext uri="{FF2B5EF4-FFF2-40B4-BE49-F238E27FC236}">
                <a16:creationId xmlns:a16="http://schemas.microsoft.com/office/drawing/2014/main" id="{CF6E293B-6DE2-E849-301C-E2FA8610A0E1}"/>
              </a:ext>
            </a:extLst>
          </p:cNvPr>
          <p:cNvSpPr txBox="1"/>
          <p:nvPr/>
        </p:nvSpPr>
        <p:spPr>
          <a:xfrm>
            <a:off x="4601365" y="4888663"/>
            <a:ext cx="3809624" cy="448841"/>
          </a:xfrm>
          <a:prstGeom prst="rect">
            <a:avLst/>
          </a:prstGeom>
        </p:spPr>
        <p:txBody>
          <a:bodyPr wrap="square" lIns="0" tIns="0" rIns="0" bIns="0" rtlCol="0" anchor="t">
            <a:spAutoFit/>
          </a:bodyPr>
          <a:lstStyle/>
          <a:p>
            <a:pPr algn="ctr">
              <a:lnSpc>
                <a:spcPts val="3509"/>
              </a:lnSpc>
            </a:pPr>
            <a:r>
              <a:rPr lang="en-US" sz="3000" spc="-60" dirty="0">
                <a:solidFill>
                  <a:srgbClr val="000000"/>
                </a:solidFill>
                <a:latin typeface="Open Sauce"/>
                <a:ea typeface="Open Sauce"/>
                <a:cs typeface="Arial"/>
                <a:sym typeface="Open Sauce"/>
              </a:rPr>
              <a:t>No Tumor</a:t>
            </a:r>
            <a:endParaRPr lang="en-US" sz="3000" spc="-60" dirty="0">
              <a:latin typeface="Open Sauce"/>
              <a:cs typeface="Arial"/>
            </a:endParaRPr>
          </a:p>
        </p:txBody>
      </p:sp>
      <p:sp>
        <p:nvSpPr>
          <p:cNvPr id="39" name="TextBox 15">
            <a:extLst>
              <a:ext uri="{FF2B5EF4-FFF2-40B4-BE49-F238E27FC236}">
                <a16:creationId xmlns:a16="http://schemas.microsoft.com/office/drawing/2014/main" id="{54BC624B-E659-411E-16A0-44CEC85B4F3C}"/>
              </a:ext>
            </a:extLst>
          </p:cNvPr>
          <p:cNvSpPr txBox="1"/>
          <p:nvPr/>
        </p:nvSpPr>
        <p:spPr>
          <a:xfrm>
            <a:off x="8563765" y="4888663"/>
            <a:ext cx="3809624" cy="448841"/>
          </a:xfrm>
          <a:prstGeom prst="rect">
            <a:avLst/>
          </a:prstGeom>
        </p:spPr>
        <p:txBody>
          <a:bodyPr wrap="square" lIns="0" tIns="0" rIns="0" bIns="0" rtlCol="0" anchor="t">
            <a:spAutoFit/>
          </a:bodyPr>
          <a:lstStyle/>
          <a:p>
            <a:pPr algn="ctr">
              <a:lnSpc>
                <a:spcPts val="3509"/>
              </a:lnSpc>
            </a:pPr>
            <a:r>
              <a:rPr lang="en-US" sz="3000" spc="-60" dirty="0">
                <a:solidFill>
                  <a:srgbClr val="000000"/>
                </a:solidFill>
                <a:latin typeface="Open Sauce"/>
                <a:ea typeface="Open Sauce"/>
                <a:cs typeface="Arial"/>
                <a:sym typeface="Open Sauce"/>
              </a:rPr>
              <a:t>No Tumor</a:t>
            </a:r>
            <a:endParaRPr lang="en-US" sz="3000" spc="-60" dirty="0">
              <a:latin typeface="Open Sauce"/>
              <a:cs typeface="Arial"/>
            </a:endParaRPr>
          </a:p>
        </p:txBody>
      </p:sp>
      <p:sp>
        <p:nvSpPr>
          <p:cNvPr id="40" name="TextBox 15">
            <a:extLst>
              <a:ext uri="{FF2B5EF4-FFF2-40B4-BE49-F238E27FC236}">
                <a16:creationId xmlns:a16="http://schemas.microsoft.com/office/drawing/2014/main" id="{FA037BEF-D884-84F3-CAB5-D7FE62B5B6F8}"/>
              </a:ext>
            </a:extLst>
          </p:cNvPr>
          <p:cNvSpPr txBox="1"/>
          <p:nvPr/>
        </p:nvSpPr>
        <p:spPr>
          <a:xfrm>
            <a:off x="8563765" y="7908133"/>
            <a:ext cx="3809624" cy="448841"/>
          </a:xfrm>
          <a:prstGeom prst="rect">
            <a:avLst/>
          </a:prstGeom>
        </p:spPr>
        <p:txBody>
          <a:bodyPr wrap="square" lIns="0" tIns="0" rIns="0" bIns="0" rtlCol="0" anchor="t">
            <a:spAutoFit/>
          </a:bodyPr>
          <a:lstStyle/>
          <a:p>
            <a:pPr algn="ctr">
              <a:lnSpc>
                <a:spcPts val="3509"/>
              </a:lnSpc>
            </a:pPr>
            <a:r>
              <a:rPr lang="en-US" sz="3000" spc="-60" dirty="0">
                <a:solidFill>
                  <a:srgbClr val="000000"/>
                </a:solidFill>
                <a:latin typeface="Open Sauce"/>
                <a:ea typeface="Open Sauce"/>
                <a:cs typeface="Arial"/>
                <a:sym typeface="Open Sauce"/>
              </a:rPr>
              <a:t>Tumor</a:t>
            </a:r>
            <a:endParaRPr lang="en-US" sz="3000" spc="-60" dirty="0">
              <a:latin typeface="Open Sauce"/>
              <a:cs typeface="Arial"/>
            </a:endParaRPr>
          </a:p>
        </p:txBody>
      </p:sp>
      <p:sp>
        <p:nvSpPr>
          <p:cNvPr id="41" name="TextBox 15">
            <a:extLst>
              <a:ext uri="{FF2B5EF4-FFF2-40B4-BE49-F238E27FC236}">
                <a16:creationId xmlns:a16="http://schemas.microsoft.com/office/drawing/2014/main" id="{EA422FB5-94C2-D07A-F275-AA291D8794B7}"/>
              </a:ext>
            </a:extLst>
          </p:cNvPr>
          <p:cNvSpPr txBox="1"/>
          <p:nvPr/>
        </p:nvSpPr>
        <p:spPr>
          <a:xfrm>
            <a:off x="4601365" y="7906332"/>
            <a:ext cx="3809624" cy="448841"/>
          </a:xfrm>
          <a:prstGeom prst="rect">
            <a:avLst/>
          </a:prstGeom>
        </p:spPr>
        <p:txBody>
          <a:bodyPr wrap="square" lIns="0" tIns="0" rIns="0" bIns="0" rtlCol="0" anchor="t">
            <a:spAutoFit/>
          </a:bodyPr>
          <a:lstStyle/>
          <a:p>
            <a:pPr algn="ctr">
              <a:lnSpc>
                <a:spcPts val="3509"/>
              </a:lnSpc>
            </a:pPr>
            <a:r>
              <a:rPr lang="en-US" sz="3000" spc="-60" dirty="0">
                <a:solidFill>
                  <a:srgbClr val="000000"/>
                </a:solidFill>
                <a:latin typeface="Open Sauce"/>
                <a:ea typeface="Open Sauce"/>
                <a:cs typeface="Arial"/>
                <a:sym typeface="Open Sauce"/>
              </a:rPr>
              <a:t>No Tumor</a:t>
            </a:r>
            <a:endParaRPr lang="en-US" sz="3000" spc="-60" dirty="0">
              <a:latin typeface="Open Sauce"/>
              <a:cs typeface="Arial"/>
            </a:endParaRPr>
          </a:p>
        </p:txBody>
      </p:sp>
      <p:pic>
        <p:nvPicPr>
          <p:cNvPr id="42" name="Picture 41">
            <a:extLst>
              <a:ext uri="{FF2B5EF4-FFF2-40B4-BE49-F238E27FC236}">
                <a16:creationId xmlns:a16="http://schemas.microsoft.com/office/drawing/2014/main" id="{D63B08A3-BDB8-1354-11EE-404958ACA0D6}"/>
              </a:ext>
            </a:extLst>
          </p:cNvPr>
          <p:cNvPicPr>
            <a:picLocks noChangeAspect="1"/>
          </p:cNvPicPr>
          <p:nvPr/>
        </p:nvPicPr>
        <p:blipFill>
          <a:blip r:embed="rId7"/>
          <a:stretch>
            <a:fillRect/>
          </a:stretch>
        </p:blipFill>
        <p:spPr>
          <a:xfrm>
            <a:off x="13937486" y="3094636"/>
            <a:ext cx="1411493" cy="1411493"/>
          </a:xfrm>
          <a:prstGeom prst="rect">
            <a:avLst/>
          </a:prstGeom>
        </p:spPr>
      </p:pic>
      <p:pic>
        <p:nvPicPr>
          <p:cNvPr id="43" name="Picture 42">
            <a:extLst>
              <a:ext uri="{FF2B5EF4-FFF2-40B4-BE49-F238E27FC236}">
                <a16:creationId xmlns:a16="http://schemas.microsoft.com/office/drawing/2014/main" id="{AD9A4E59-E161-3C09-46BD-404C8664F074}"/>
              </a:ext>
            </a:extLst>
          </p:cNvPr>
          <p:cNvPicPr>
            <a:picLocks noChangeAspect="1"/>
          </p:cNvPicPr>
          <p:nvPr/>
        </p:nvPicPr>
        <p:blipFill>
          <a:blip r:embed="rId7"/>
          <a:stretch>
            <a:fillRect/>
          </a:stretch>
        </p:blipFill>
        <p:spPr>
          <a:xfrm>
            <a:off x="13937486" y="6231176"/>
            <a:ext cx="1411493" cy="1411493"/>
          </a:xfrm>
          <a:prstGeom prst="rect">
            <a:avLst/>
          </a:prstGeom>
        </p:spPr>
      </p:pic>
      <p:sp>
        <p:nvSpPr>
          <p:cNvPr id="44" name="TextBox 15">
            <a:extLst>
              <a:ext uri="{FF2B5EF4-FFF2-40B4-BE49-F238E27FC236}">
                <a16:creationId xmlns:a16="http://schemas.microsoft.com/office/drawing/2014/main" id="{D5FE6196-74DD-DE5C-FB76-6D92839FBA6C}"/>
              </a:ext>
            </a:extLst>
          </p:cNvPr>
          <p:cNvSpPr txBox="1"/>
          <p:nvPr/>
        </p:nvSpPr>
        <p:spPr>
          <a:xfrm>
            <a:off x="12738420" y="4888663"/>
            <a:ext cx="3809624" cy="448841"/>
          </a:xfrm>
          <a:prstGeom prst="rect">
            <a:avLst/>
          </a:prstGeom>
        </p:spPr>
        <p:txBody>
          <a:bodyPr wrap="square" lIns="0" tIns="0" rIns="0" bIns="0" rtlCol="0" anchor="t">
            <a:spAutoFit/>
          </a:bodyPr>
          <a:lstStyle/>
          <a:p>
            <a:pPr algn="ctr">
              <a:lnSpc>
                <a:spcPts val="3509"/>
              </a:lnSpc>
            </a:pPr>
            <a:r>
              <a:rPr lang="en-US" sz="3000" spc="-60" dirty="0">
                <a:solidFill>
                  <a:srgbClr val="000000"/>
                </a:solidFill>
                <a:latin typeface="Open Sauce"/>
                <a:ea typeface="Open Sauce"/>
                <a:cs typeface="Arial"/>
                <a:sym typeface="Open Sauce"/>
              </a:rPr>
              <a:t>No Tumor</a:t>
            </a:r>
            <a:endParaRPr lang="en-US" sz="3000" spc="-60" dirty="0">
              <a:latin typeface="Open Sauce"/>
              <a:cs typeface="Arial"/>
            </a:endParaRPr>
          </a:p>
        </p:txBody>
      </p:sp>
      <p:sp>
        <p:nvSpPr>
          <p:cNvPr id="45" name="TextBox 15">
            <a:extLst>
              <a:ext uri="{FF2B5EF4-FFF2-40B4-BE49-F238E27FC236}">
                <a16:creationId xmlns:a16="http://schemas.microsoft.com/office/drawing/2014/main" id="{53CE7D0F-13DC-DB75-A22E-C8B6A1289745}"/>
              </a:ext>
            </a:extLst>
          </p:cNvPr>
          <p:cNvSpPr txBox="1"/>
          <p:nvPr/>
        </p:nvSpPr>
        <p:spPr>
          <a:xfrm>
            <a:off x="12738420" y="7908133"/>
            <a:ext cx="3809624" cy="448841"/>
          </a:xfrm>
          <a:prstGeom prst="rect">
            <a:avLst/>
          </a:prstGeom>
        </p:spPr>
        <p:txBody>
          <a:bodyPr wrap="square" lIns="0" tIns="0" rIns="0" bIns="0" rtlCol="0" anchor="t">
            <a:spAutoFit/>
          </a:bodyPr>
          <a:lstStyle/>
          <a:p>
            <a:pPr algn="ctr">
              <a:lnSpc>
                <a:spcPts val="3509"/>
              </a:lnSpc>
            </a:pPr>
            <a:r>
              <a:rPr lang="en-US" sz="3000" spc="-60" dirty="0">
                <a:solidFill>
                  <a:srgbClr val="000000"/>
                </a:solidFill>
                <a:latin typeface="Open Sauce"/>
                <a:ea typeface="Open Sauce"/>
                <a:cs typeface="Arial"/>
                <a:sym typeface="Open Sauce"/>
              </a:rPr>
              <a:t>Tumor</a:t>
            </a:r>
            <a:endParaRPr lang="en-US" sz="3000" spc="-60" dirty="0">
              <a:latin typeface="Open Sauce"/>
              <a:cs typeface="Arial"/>
            </a:endParaRPr>
          </a:p>
        </p:txBody>
      </p:sp>
      <p:pic>
        <p:nvPicPr>
          <p:cNvPr id="51" name="Picture 50">
            <a:extLst>
              <a:ext uri="{FF2B5EF4-FFF2-40B4-BE49-F238E27FC236}">
                <a16:creationId xmlns:a16="http://schemas.microsoft.com/office/drawing/2014/main" id="{4CAF94A0-8CAC-5C15-67BE-85997E6E168B}"/>
              </a:ext>
            </a:extLst>
          </p:cNvPr>
          <p:cNvPicPr>
            <a:picLocks noChangeAspect="1"/>
          </p:cNvPicPr>
          <p:nvPr/>
        </p:nvPicPr>
        <p:blipFill>
          <a:blip r:embed="rId9"/>
          <a:stretch>
            <a:fillRect/>
          </a:stretch>
        </p:blipFill>
        <p:spPr>
          <a:xfrm>
            <a:off x="15363764" y="6529682"/>
            <a:ext cx="840227" cy="840227"/>
          </a:xfrm>
          <a:prstGeom prst="rect">
            <a:avLst/>
          </a:prstGeom>
        </p:spPr>
      </p:pic>
    </p:spTree>
    <p:extLst>
      <p:ext uri="{BB962C8B-B14F-4D97-AF65-F5344CB8AC3E}">
        <p14:creationId xmlns:p14="http://schemas.microsoft.com/office/powerpoint/2010/main" val="8557587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7393"/>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CA"/>
          </a:p>
        </p:txBody>
      </p:sp>
      <p:grpSp>
        <p:nvGrpSpPr>
          <p:cNvPr id="3" name="Group 3"/>
          <p:cNvGrpSpPr/>
          <p:nvPr/>
        </p:nvGrpSpPr>
        <p:grpSpPr>
          <a:xfrm>
            <a:off x="17259300" y="8984615"/>
            <a:ext cx="1573962" cy="1573962"/>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3B54"/>
            </a:solidFill>
          </p:spPr>
          <p:txBody>
            <a:bodyPr/>
            <a:lstStyle/>
            <a:p>
              <a:endParaRPr lang="en-CA"/>
            </a:p>
          </p:txBody>
        </p:sp>
        <p:sp>
          <p:nvSpPr>
            <p:cNvPr id="5" name="TextBox 5"/>
            <p:cNvSpPr txBox="1"/>
            <p:nvPr/>
          </p:nvSpPr>
          <p:spPr>
            <a:xfrm>
              <a:off x="76200" y="66675"/>
              <a:ext cx="660400" cy="669925"/>
            </a:xfrm>
            <a:prstGeom prst="rect">
              <a:avLst/>
            </a:prstGeom>
          </p:spPr>
          <p:txBody>
            <a:bodyPr lIns="50800" tIns="50800" rIns="50800" bIns="50800" rtlCol="0" anchor="ctr"/>
            <a:lstStyle/>
            <a:p>
              <a:pPr algn="ctr">
                <a:lnSpc>
                  <a:spcPts val="3042"/>
                </a:lnSpc>
              </a:pPr>
              <a:endParaRPr/>
            </a:p>
          </p:txBody>
        </p:sp>
      </p:grpSp>
      <p:grpSp>
        <p:nvGrpSpPr>
          <p:cNvPr id="6" name="Group 6"/>
          <p:cNvGrpSpPr/>
          <p:nvPr/>
        </p:nvGrpSpPr>
        <p:grpSpPr>
          <a:xfrm>
            <a:off x="16303701" y="8984615"/>
            <a:ext cx="786981" cy="786981"/>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664"/>
            </a:solidFill>
          </p:spPr>
          <p:txBody>
            <a:bodyPr/>
            <a:lstStyle/>
            <a:p>
              <a:endParaRPr lang="en-CA"/>
            </a:p>
          </p:txBody>
        </p:sp>
        <p:sp>
          <p:nvSpPr>
            <p:cNvPr id="8" name="TextBox 8"/>
            <p:cNvSpPr txBox="1"/>
            <p:nvPr/>
          </p:nvSpPr>
          <p:spPr>
            <a:xfrm>
              <a:off x="76200" y="66675"/>
              <a:ext cx="660400" cy="669925"/>
            </a:xfrm>
            <a:prstGeom prst="rect">
              <a:avLst/>
            </a:prstGeom>
          </p:spPr>
          <p:txBody>
            <a:bodyPr lIns="50800" tIns="50800" rIns="50800" bIns="50800" rtlCol="0" anchor="ctr"/>
            <a:lstStyle/>
            <a:p>
              <a:pPr algn="ctr">
                <a:lnSpc>
                  <a:spcPts val="3042"/>
                </a:lnSpc>
              </a:pPr>
              <a:endParaRPr/>
            </a:p>
          </p:txBody>
        </p:sp>
      </p:grpSp>
      <p:sp>
        <p:nvSpPr>
          <p:cNvPr id="9" name="AutoShape 9"/>
          <p:cNvSpPr/>
          <p:nvPr/>
        </p:nvSpPr>
        <p:spPr>
          <a:xfrm>
            <a:off x="0" y="9723971"/>
            <a:ext cx="9144000" cy="0"/>
          </a:xfrm>
          <a:prstGeom prst="line">
            <a:avLst/>
          </a:prstGeom>
          <a:ln w="47625" cap="flat">
            <a:solidFill>
              <a:srgbClr val="004664"/>
            </a:solidFill>
            <a:prstDash val="solid"/>
            <a:headEnd type="none" w="sm" len="sm"/>
            <a:tailEnd type="oval" w="lg" len="lg"/>
          </a:ln>
        </p:spPr>
        <p:txBody>
          <a:bodyPr/>
          <a:lstStyle/>
          <a:p>
            <a:endParaRPr lang="en-CA"/>
          </a:p>
        </p:txBody>
      </p:sp>
      <p:sp>
        <p:nvSpPr>
          <p:cNvPr id="10" name="AutoShape 10"/>
          <p:cNvSpPr/>
          <p:nvPr/>
        </p:nvSpPr>
        <p:spPr>
          <a:xfrm>
            <a:off x="15925021" y="646179"/>
            <a:ext cx="2362979" cy="0"/>
          </a:xfrm>
          <a:prstGeom prst="line">
            <a:avLst/>
          </a:prstGeom>
          <a:ln w="47625" cap="flat">
            <a:solidFill>
              <a:srgbClr val="004664"/>
            </a:solidFill>
            <a:prstDash val="solid"/>
            <a:headEnd type="oval" w="lg" len="lg"/>
            <a:tailEnd type="none" w="sm" len="sm"/>
          </a:ln>
        </p:spPr>
        <p:txBody>
          <a:bodyPr/>
          <a:lstStyle/>
          <a:p>
            <a:endParaRPr lang="en-CA"/>
          </a:p>
        </p:txBody>
      </p:sp>
      <p:sp>
        <p:nvSpPr>
          <p:cNvPr id="11" name="TextBox 11"/>
          <p:cNvSpPr txBox="1"/>
          <p:nvPr/>
        </p:nvSpPr>
        <p:spPr>
          <a:xfrm>
            <a:off x="1828800" y="444599"/>
            <a:ext cx="9625751" cy="958850"/>
          </a:xfrm>
          <a:prstGeom prst="rect">
            <a:avLst/>
          </a:prstGeom>
        </p:spPr>
        <p:txBody>
          <a:bodyPr lIns="0" tIns="0" rIns="0" bIns="0" rtlCol="0" anchor="t">
            <a:spAutoFit/>
          </a:bodyPr>
          <a:lstStyle/>
          <a:p>
            <a:pPr algn="l">
              <a:lnSpc>
                <a:spcPts val="7000"/>
              </a:lnSpc>
              <a:spcBef>
                <a:spcPct val="0"/>
              </a:spcBef>
            </a:pPr>
            <a:r>
              <a:rPr lang="en-US" sz="5000" spc="-100" dirty="0">
                <a:solidFill>
                  <a:srgbClr val="013B54"/>
                </a:solidFill>
                <a:latin typeface="Bugaki"/>
                <a:ea typeface="Bugaki"/>
                <a:cs typeface="Bugaki"/>
                <a:sym typeface="Bugaki"/>
              </a:rPr>
              <a:t>Challenges</a:t>
            </a:r>
          </a:p>
        </p:txBody>
      </p:sp>
      <p:grpSp>
        <p:nvGrpSpPr>
          <p:cNvPr id="12" name="Group 12"/>
          <p:cNvGrpSpPr/>
          <p:nvPr/>
        </p:nvGrpSpPr>
        <p:grpSpPr>
          <a:xfrm>
            <a:off x="653555" y="494804"/>
            <a:ext cx="977507" cy="977507"/>
            <a:chOff x="0" y="0"/>
            <a:chExt cx="1303342" cy="1303342"/>
          </a:xfrm>
        </p:grpSpPr>
        <p:sp>
          <p:nvSpPr>
            <p:cNvPr id="13" name="Freeform 13"/>
            <p:cNvSpPr/>
            <p:nvPr/>
          </p:nvSpPr>
          <p:spPr>
            <a:xfrm>
              <a:off x="0" y="0"/>
              <a:ext cx="1303342" cy="1303342"/>
            </a:xfrm>
            <a:custGeom>
              <a:avLst/>
              <a:gdLst/>
              <a:ahLst/>
              <a:cxnLst/>
              <a:rect l="l" t="t" r="r" b="b"/>
              <a:pathLst>
                <a:path w="1303342" h="1303342">
                  <a:moveTo>
                    <a:pt x="0" y="0"/>
                  </a:moveTo>
                  <a:lnTo>
                    <a:pt x="1303342" y="0"/>
                  </a:lnTo>
                  <a:lnTo>
                    <a:pt x="1303342" y="1303342"/>
                  </a:lnTo>
                  <a:lnTo>
                    <a:pt x="0" y="130334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CA"/>
            </a:p>
          </p:txBody>
        </p:sp>
        <p:sp>
          <p:nvSpPr>
            <p:cNvPr id="14" name="TextBox 14"/>
            <p:cNvSpPr txBox="1"/>
            <p:nvPr/>
          </p:nvSpPr>
          <p:spPr>
            <a:xfrm>
              <a:off x="0" y="135180"/>
              <a:ext cx="1303342" cy="890108"/>
            </a:xfrm>
            <a:prstGeom prst="rect">
              <a:avLst/>
            </a:prstGeom>
          </p:spPr>
          <p:txBody>
            <a:bodyPr lIns="0" tIns="0" rIns="0" bIns="0" rtlCol="0" anchor="t">
              <a:spAutoFit/>
            </a:bodyPr>
            <a:lstStyle/>
            <a:p>
              <a:pPr algn="ctr">
                <a:lnSpc>
                  <a:spcPts val="5148"/>
                </a:lnSpc>
                <a:spcBef>
                  <a:spcPct val="0"/>
                </a:spcBef>
              </a:pPr>
              <a:r>
                <a:rPr lang="en-US" sz="3677" spc="-73">
                  <a:solidFill>
                    <a:srgbClr val="FFFFFF"/>
                  </a:solidFill>
                  <a:latin typeface="Bugaki"/>
                  <a:ea typeface="Bugaki"/>
                  <a:cs typeface="Bugaki"/>
                  <a:sym typeface="Bugaki"/>
                </a:rPr>
                <a:t>09</a:t>
              </a:r>
            </a:p>
          </p:txBody>
        </p:sp>
      </p:grpSp>
      <p:sp>
        <p:nvSpPr>
          <p:cNvPr id="15" name="TextBox 15"/>
          <p:cNvSpPr txBox="1"/>
          <p:nvPr/>
        </p:nvSpPr>
        <p:spPr>
          <a:xfrm>
            <a:off x="4028502" y="2194594"/>
            <a:ext cx="5867400" cy="856260"/>
          </a:xfrm>
          <a:prstGeom prst="rect">
            <a:avLst/>
          </a:prstGeom>
        </p:spPr>
        <p:txBody>
          <a:bodyPr wrap="square" lIns="0" tIns="0" rIns="0" bIns="0" rtlCol="0" anchor="t">
            <a:spAutoFit/>
          </a:bodyPr>
          <a:lstStyle/>
          <a:p>
            <a:pPr>
              <a:lnSpc>
                <a:spcPts val="3509"/>
              </a:lnSpc>
            </a:pPr>
            <a:r>
              <a:rPr lang="en-US" sz="3000" b="1" spc="-60" dirty="0">
                <a:solidFill>
                  <a:srgbClr val="000000"/>
                </a:solidFill>
                <a:latin typeface="Open Sauce"/>
                <a:ea typeface="Open Sauce"/>
                <a:cs typeface="Open Sauce"/>
                <a:sym typeface="Open Sauce"/>
              </a:rPr>
              <a:t>Limited Dataset Size</a:t>
            </a:r>
          </a:p>
          <a:p>
            <a:pPr marL="457200" indent="-457200">
              <a:lnSpc>
                <a:spcPts val="3509"/>
              </a:lnSpc>
              <a:buFont typeface="Arial" panose="020B0604020202020204" pitchFamily="34" charset="0"/>
              <a:buChar char="•"/>
            </a:pPr>
            <a:r>
              <a:rPr lang="en-US" sz="2400" spc="-60" dirty="0">
                <a:solidFill>
                  <a:srgbClr val="000000"/>
                </a:solidFill>
                <a:latin typeface="Open Sauce"/>
                <a:ea typeface="Open Sauce"/>
                <a:cs typeface="Open Sauce"/>
                <a:sym typeface="Open Sauce"/>
              </a:rPr>
              <a:t>Impacts model reliability and accuracy</a:t>
            </a:r>
          </a:p>
        </p:txBody>
      </p:sp>
      <p:pic>
        <p:nvPicPr>
          <p:cNvPr id="17" name="Picture 16">
            <a:extLst>
              <a:ext uri="{FF2B5EF4-FFF2-40B4-BE49-F238E27FC236}">
                <a16:creationId xmlns:a16="http://schemas.microsoft.com/office/drawing/2014/main" id="{E48E7D8E-3F6F-A191-3AEF-4F7CC12C5A40}"/>
              </a:ext>
            </a:extLst>
          </p:cNvPr>
          <p:cNvPicPr>
            <a:picLocks noChangeAspect="1"/>
          </p:cNvPicPr>
          <p:nvPr/>
        </p:nvPicPr>
        <p:blipFill>
          <a:blip r:embed="rId5"/>
          <a:stretch>
            <a:fillRect/>
          </a:stretch>
        </p:blipFill>
        <p:spPr>
          <a:xfrm>
            <a:off x="1957617" y="3656457"/>
            <a:ext cx="1395184" cy="1395184"/>
          </a:xfrm>
          <a:prstGeom prst="rect">
            <a:avLst/>
          </a:prstGeom>
        </p:spPr>
      </p:pic>
      <p:pic>
        <p:nvPicPr>
          <p:cNvPr id="19" name="Picture 18">
            <a:extLst>
              <a:ext uri="{FF2B5EF4-FFF2-40B4-BE49-F238E27FC236}">
                <a16:creationId xmlns:a16="http://schemas.microsoft.com/office/drawing/2014/main" id="{F6D12743-AAA9-D38E-9824-FBCC2B1EEACD}"/>
              </a:ext>
            </a:extLst>
          </p:cNvPr>
          <p:cNvPicPr>
            <a:picLocks noChangeAspect="1"/>
          </p:cNvPicPr>
          <p:nvPr/>
        </p:nvPicPr>
        <p:blipFill>
          <a:blip r:embed="rId6"/>
          <a:stretch>
            <a:fillRect/>
          </a:stretch>
        </p:blipFill>
        <p:spPr>
          <a:xfrm>
            <a:off x="1957618" y="1833215"/>
            <a:ext cx="1395182" cy="1395182"/>
          </a:xfrm>
          <a:prstGeom prst="rect">
            <a:avLst/>
          </a:prstGeom>
        </p:spPr>
      </p:pic>
      <p:pic>
        <p:nvPicPr>
          <p:cNvPr id="23" name="Picture 22">
            <a:extLst>
              <a:ext uri="{FF2B5EF4-FFF2-40B4-BE49-F238E27FC236}">
                <a16:creationId xmlns:a16="http://schemas.microsoft.com/office/drawing/2014/main" id="{066127ED-8DFB-B5A2-8D7F-AD07E0B3976F}"/>
              </a:ext>
            </a:extLst>
          </p:cNvPr>
          <p:cNvPicPr>
            <a:picLocks noChangeAspect="1"/>
          </p:cNvPicPr>
          <p:nvPr/>
        </p:nvPicPr>
        <p:blipFill>
          <a:blip r:embed="rId7"/>
          <a:stretch>
            <a:fillRect/>
          </a:stretch>
        </p:blipFill>
        <p:spPr>
          <a:xfrm>
            <a:off x="2079723" y="5548490"/>
            <a:ext cx="1257852" cy="1257852"/>
          </a:xfrm>
          <a:prstGeom prst="rect">
            <a:avLst/>
          </a:prstGeom>
        </p:spPr>
      </p:pic>
      <p:pic>
        <p:nvPicPr>
          <p:cNvPr id="25" name="Picture 24">
            <a:extLst>
              <a:ext uri="{FF2B5EF4-FFF2-40B4-BE49-F238E27FC236}">
                <a16:creationId xmlns:a16="http://schemas.microsoft.com/office/drawing/2014/main" id="{F3A47AB1-F7AE-F4FE-2C28-270368FFFD48}"/>
              </a:ext>
            </a:extLst>
          </p:cNvPr>
          <p:cNvPicPr>
            <a:picLocks noChangeAspect="1"/>
          </p:cNvPicPr>
          <p:nvPr/>
        </p:nvPicPr>
        <p:blipFill>
          <a:blip r:embed="rId8"/>
          <a:stretch>
            <a:fillRect/>
          </a:stretch>
        </p:blipFill>
        <p:spPr>
          <a:xfrm>
            <a:off x="2064498" y="7249345"/>
            <a:ext cx="1288302" cy="1288302"/>
          </a:xfrm>
          <a:prstGeom prst="rect">
            <a:avLst/>
          </a:prstGeom>
        </p:spPr>
      </p:pic>
      <p:sp>
        <p:nvSpPr>
          <p:cNvPr id="26" name="TextBox 15">
            <a:extLst>
              <a:ext uri="{FF2B5EF4-FFF2-40B4-BE49-F238E27FC236}">
                <a16:creationId xmlns:a16="http://schemas.microsoft.com/office/drawing/2014/main" id="{C72A5F46-6810-00B9-4724-164C494DF19F}"/>
              </a:ext>
            </a:extLst>
          </p:cNvPr>
          <p:cNvSpPr txBox="1"/>
          <p:nvPr/>
        </p:nvSpPr>
        <p:spPr>
          <a:xfrm>
            <a:off x="4028502" y="3877018"/>
            <a:ext cx="5867400" cy="856260"/>
          </a:xfrm>
          <a:prstGeom prst="rect">
            <a:avLst/>
          </a:prstGeom>
        </p:spPr>
        <p:txBody>
          <a:bodyPr wrap="square" lIns="0" tIns="0" rIns="0" bIns="0" rtlCol="0" anchor="t">
            <a:spAutoFit/>
          </a:bodyPr>
          <a:lstStyle/>
          <a:p>
            <a:pPr>
              <a:lnSpc>
                <a:spcPts val="3509"/>
              </a:lnSpc>
            </a:pPr>
            <a:r>
              <a:rPr lang="en-US" sz="3000" b="1" spc="-60" dirty="0">
                <a:solidFill>
                  <a:srgbClr val="000000"/>
                </a:solidFill>
                <a:latin typeface="Open Sauce"/>
                <a:ea typeface="Open Sauce"/>
                <a:cs typeface="Open Sauce"/>
                <a:sym typeface="Open Sauce"/>
              </a:rPr>
              <a:t>High Misclassification Risks</a:t>
            </a:r>
          </a:p>
          <a:p>
            <a:pPr marL="457200" indent="-457200">
              <a:lnSpc>
                <a:spcPts val="3509"/>
              </a:lnSpc>
              <a:buFont typeface="Arial" panose="020B0604020202020204" pitchFamily="34" charset="0"/>
              <a:buChar char="•"/>
            </a:pPr>
            <a:r>
              <a:rPr lang="en-US" sz="2400" spc="-60" dirty="0">
                <a:solidFill>
                  <a:srgbClr val="000000"/>
                </a:solidFill>
                <a:latin typeface="Open Sauce"/>
                <a:ea typeface="Open Sauce"/>
                <a:cs typeface="Open Sauce"/>
                <a:sym typeface="Open Sauce"/>
              </a:rPr>
              <a:t>Critical medical consequences</a:t>
            </a:r>
          </a:p>
        </p:txBody>
      </p:sp>
      <p:sp>
        <p:nvSpPr>
          <p:cNvPr id="27" name="TextBox 15">
            <a:extLst>
              <a:ext uri="{FF2B5EF4-FFF2-40B4-BE49-F238E27FC236}">
                <a16:creationId xmlns:a16="http://schemas.microsoft.com/office/drawing/2014/main" id="{3A356BAE-43BF-D27B-09FD-F47089E8F71A}"/>
              </a:ext>
            </a:extLst>
          </p:cNvPr>
          <p:cNvSpPr txBox="1"/>
          <p:nvPr/>
        </p:nvSpPr>
        <p:spPr>
          <a:xfrm>
            <a:off x="4028502" y="5631719"/>
            <a:ext cx="5867400" cy="856260"/>
          </a:xfrm>
          <a:prstGeom prst="rect">
            <a:avLst/>
          </a:prstGeom>
        </p:spPr>
        <p:txBody>
          <a:bodyPr wrap="square" lIns="0" tIns="0" rIns="0" bIns="0" rtlCol="0" anchor="t">
            <a:spAutoFit/>
          </a:bodyPr>
          <a:lstStyle/>
          <a:p>
            <a:pPr>
              <a:lnSpc>
                <a:spcPts val="3509"/>
              </a:lnSpc>
            </a:pPr>
            <a:r>
              <a:rPr lang="en-US" sz="3000" b="1" spc="-60" dirty="0">
                <a:solidFill>
                  <a:srgbClr val="000000"/>
                </a:solidFill>
                <a:latin typeface="Open Sauce"/>
                <a:ea typeface="Open Sauce"/>
                <a:cs typeface="Open Sauce"/>
                <a:sym typeface="Open Sauce"/>
              </a:rPr>
              <a:t>Interpretability Challenges</a:t>
            </a:r>
          </a:p>
          <a:p>
            <a:pPr marL="457200" indent="-457200">
              <a:lnSpc>
                <a:spcPts val="3509"/>
              </a:lnSpc>
              <a:buFont typeface="Arial" panose="020B0604020202020204" pitchFamily="34" charset="0"/>
              <a:buChar char="•"/>
            </a:pPr>
            <a:r>
              <a:rPr lang="en-US" sz="2400" spc="-60" dirty="0">
                <a:solidFill>
                  <a:srgbClr val="000000"/>
                </a:solidFill>
                <a:latin typeface="Open Sauce"/>
                <a:ea typeface="Open Sauce"/>
                <a:cs typeface="Open Sauce"/>
                <a:sym typeface="Open Sauce"/>
              </a:rPr>
              <a:t>Difficult to justify clinical use</a:t>
            </a:r>
          </a:p>
        </p:txBody>
      </p:sp>
      <p:sp>
        <p:nvSpPr>
          <p:cNvPr id="28" name="TextBox 15">
            <a:extLst>
              <a:ext uri="{FF2B5EF4-FFF2-40B4-BE49-F238E27FC236}">
                <a16:creationId xmlns:a16="http://schemas.microsoft.com/office/drawing/2014/main" id="{2CC14AC6-5457-26F5-CA62-353760638E8A}"/>
              </a:ext>
            </a:extLst>
          </p:cNvPr>
          <p:cNvSpPr txBox="1"/>
          <p:nvPr/>
        </p:nvSpPr>
        <p:spPr>
          <a:xfrm>
            <a:off x="4028502" y="7431373"/>
            <a:ext cx="6944298" cy="856260"/>
          </a:xfrm>
          <a:prstGeom prst="rect">
            <a:avLst/>
          </a:prstGeom>
        </p:spPr>
        <p:txBody>
          <a:bodyPr wrap="square" lIns="0" tIns="0" rIns="0" bIns="0" rtlCol="0" anchor="t">
            <a:spAutoFit/>
          </a:bodyPr>
          <a:lstStyle/>
          <a:p>
            <a:pPr>
              <a:lnSpc>
                <a:spcPts val="3509"/>
              </a:lnSpc>
            </a:pPr>
            <a:r>
              <a:rPr lang="en-US" sz="3000" b="1" spc="-60" dirty="0">
                <a:solidFill>
                  <a:srgbClr val="000000"/>
                </a:solidFill>
                <a:latin typeface="Open Sauce"/>
                <a:ea typeface="Open Sauce"/>
                <a:cs typeface="Open Sauce"/>
                <a:sym typeface="Open Sauce"/>
              </a:rPr>
              <a:t>Computational Complexity</a:t>
            </a:r>
          </a:p>
          <a:p>
            <a:pPr marL="457200" indent="-457200">
              <a:lnSpc>
                <a:spcPts val="3509"/>
              </a:lnSpc>
              <a:buFont typeface="Arial" panose="020B0604020202020204" pitchFamily="34" charset="0"/>
              <a:buChar char="•"/>
            </a:pPr>
            <a:r>
              <a:rPr lang="en-US" sz="2400" spc="-60" dirty="0">
                <a:solidFill>
                  <a:srgbClr val="000000"/>
                </a:solidFill>
                <a:latin typeface="Open Sauce"/>
                <a:ea typeface="Open Sauce"/>
                <a:cs typeface="Open Sauce"/>
                <a:sym typeface="Open Sauce"/>
              </a:rPr>
              <a:t>Resource-intensive, costly implementation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CA"/>
          </a:p>
        </p:txBody>
      </p:sp>
      <p:grpSp>
        <p:nvGrpSpPr>
          <p:cNvPr id="3" name="Group 3"/>
          <p:cNvGrpSpPr/>
          <p:nvPr/>
        </p:nvGrpSpPr>
        <p:grpSpPr>
          <a:xfrm>
            <a:off x="17259300" y="8984615"/>
            <a:ext cx="1573962" cy="1573962"/>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3B54"/>
            </a:solidFill>
          </p:spPr>
          <p:txBody>
            <a:bodyPr/>
            <a:lstStyle/>
            <a:p>
              <a:endParaRPr lang="en-CA"/>
            </a:p>
          </p:txBody>
        </p:sp>
        <p:sp>
          <p:nvSpPr>
            <p:cNvPr id="5" name="TextBox 5"/>
            <p:cNvSpPr txBox="1"/>
            <p:nvPr/>
          </p:nvSpPr>
          <p:spPr>
            <a:xfrm>
              <a:off x="76200" y="66675"/>
              <a:ext cx="660400" cy="669925"/>
            </a:xfrm>
            <a:prstGeom prst="rect">
              <a:avLst/>
            </a:prstGeom>
          </p:spPr>
          <p:txBody>
            <a:bodyPr lIns="50800" tIns="50800" rIns="50800" bIns="50800" rtlCol="0" anchor="ctr"/>
            <a:lstStyle/>
            <a:p>
              <a:pPr algn="ctr">
                <a:lnSpc>
                  <a:spcPts val="3042"/>
                </a:lnSpc>
              </a:pPr>
              <a:endParaRPr/>
            </a:p>
          </p:txBody>
        </p:sp>
      </p:grpSp>
      <p:grpSp>
        <p:nvGrpSpPr>
          <p:cNvPr id="6" name="Group 6"/>
          <p:cNvGrpSpPr/>
          <p:nvPr/>
        </p:nvGrpSpPr>
        <p:grpSpPr>
          <a:xfrm>
            <a:off x="16303701" y="8984615"/>
            <a:ext cx="786981" cy="786981"/>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664"/>
            </a:solidFill>
          </p:spPr>
          <p:txBody>
            <a:bodyPr/>
            <a:lstStyle/>
            <a:p>
              <a:endParaRPr lang="en-CA"/>
            </a:p>
          </p:txBody>
        </p:sp>
        <p:sp>
          <p:nvSpPr>
            <p:cNvPr id="8" name="TextBox 8"/>
            <p:cNvSpPr txBox="1"/>
            <p:nvPr/>
          </p:nvSpPr>
          <p:spPr>
            <a:xfrm>
              <a:off x="76200" y="66675"/>
              <a:ext cx="660400" cy="669925"/>
            </a:xfrm>
            <a:prstGeom prst="rect">
              <a:avLst/>
            </a:prstGeom>
          </p:spPr>
          <p:txBody>
            <a:bodyPr lIns="50800" tIns="50800" rIns="50800" bIns="50800" rtlCol="0" anchor="ctr"/>
            <a:lstStyle/>
            <a:p>
              <a:pPr algn="ctr">
                <a:lnSpc>
                  <a:spcPts val="3042"/>
                </a:lnSpc>
              </a:pPr>
              <a:endParaRPr/>
            </a:p>
          </p:txBody>
        </p:sp>
      </p:grpSp>
      <p:sp>
        <p:nvSpPr>
          <p:cNvPr id="9" name="AutoShape 9"/>
          <p:cNvSpPr/>
          <p:nvPr/>
        </p:nvSpPr>
        <p:spPr>
          <a:xfrm>
            <a:off x="0" y="9723971"/>
            <a:ext cx="9144000" cy="0"/>
          </a:xfrm>
          <a:prstGeom prst="line">
            <a:avLst/>
          </a:prstGeom>
          <a:ln w="47625" cap="flat">
            <a:solidFill>
              <a:srgbClr val="004664"/>
            </a:solidFill>
            <a:prstDash val="solid"/>
            <a:headEnd type="none" w="sm" len="sm"/>
            <a:tailEnd type="oval" w="lg" len="lg"/>
          </a:ln>
        </p:spPr>
        <p:txBody>
          <a:bodyPr/>
          <a:lstStyle/>
          <a:p>
            <a:endParaRPr lang="en-CA"/>
          </a:p>
        </p:txBody>
      </p:sp>
      <p:sp>
        <p:nvSpPr>
          <p:cNvPr id="10" name="AutoShape 10"/>
          <p:cNvSpPr/>
          <p:nvPr/>
        </p:nvSpPr>
        <p:spPr>
          <a:xfrm>
            <a:off x="15925021" y="646179"/>
            <a:ext cx="2362979" cy="0"/>
          </a:xfrm>
          <a:prstGeom prst="line">
            <a:avLst/>
          </a:prstGeom>
          <a:ln w="47625" cap="flat">
            <a:solidFill>
              <a:srgbClr val="004664"/>
            </a:solidFill>
            <a:prstDash val="solid"/>
            <a:headEnd type="oval" w="lg" len="lg"/>
            <a:tailEnd type="none" w="sm" len="sm"/>
          </a:ln>
        </p:spPr>
        <p:txBody>
          <a:bodyPr/>
          <a:lstStyle/>
          <a:p>
            <a:endParaRPr lang="en-CA"/>
          </a:p>
        </p:txBody>
      </p:sp>
      <p:sp>
        <p:nvSpPr>
          <p:cNvPr id="11" name="TextBox 11"/>
          <p:cNvSpPr txBox="1"/>
          <p:nvPr/>
        </p:nvSpPr>
        <p:spPr>
          <a:xfrm>
            <a:off x="1912891" y="431032"/>
            <a:ext cx="9625751" cy="958850"/>
          </a:xfrm>
          <a:prstGeom prst="rect">
            <a:avLst/>
          </a:prstGeom>
        </p:spPr>
        <p:txBody>
          <a:bodyPr lIns="0" tIns="0" rIns="0" bIns="0" rtlCol="0" anchor="t">
            <a:spAutoFit/>
          </a:bodyPr>
          <a:lstStyle/>
          <a:p>
            <a:pPr algn="l">
              <a:lnSpc>
                <a:spcPts val="7000"/>
              </a:lnSpc>
              <a:spcBef>
                <a:spcPct val="0"/>
              </a:spcBef>
            </a:pPr>
            <a:r>
              <a:rPr lang="en-US" sz="5000" spc="-100" dirty="0">
                <a:solidFill>
                  <a:srgbClr val="013B54"/>
                </a:solidFill>
                <a:latin typeface="Bugaki"/>
                <a:ea typeface="Bugaki"/>
                <a:cs typeface="Bugaki"/>
                <a:sym typeface="Bugaki"/>
              </a:rPr>
              <a:t>Key Findings</a:t>
            </a:r>
          </a:p>
        </p:txBody>
      </p:sp>
      <p:grpSp>
        <p:nvGrpSpPr>
          <p:cNvPr id="12" name="Group 12"/>
          <p:cNvGrpSpPr/>
          <p:nvPr/>
        </p:nvGrpSpPr>
        <p:grpSpPr>
          <a:xfrm>
            <a:off x="554018" y="431032"/>
            <a:ext cx="977507" cy="977507"/>
            <a:chOff x="0" y="0"/>
            <a:chExt cx="1303342" cy="1303342"/>
          </a:xfrm>
        </p:grpSpPr>
        <p:sp>
          <p:nvSpPr>
            <p:cNvPr id="13" name="Freeform 13"/>
            <p:cNvSpPr/>
            <p:nvPr/>
          </p:nvSpPr>
          <p:spPr>
            <a:xfrm>
              <a:off x="0" y="0"/>
              <a:ext cx="1303342" cy="1303342"/>
            </a:xfrm>
            <a:custGeom>
              <a:avLst/>
              <a:gdLst/>
              <a:ahLst/>
              <a:cxnLst/>
              <a:rect l="l" t="t" r="r" b="b"/>
              <a:pathLst>
                <a:path w="1303342" h="1303342">
                  <a:moveTo>
                    <a:pt x="0" y="0"/>
                  </a:moveTo>
                  <a:lnTo>
                    <a:pt x="1303342" y="0"/>
                  </a:lnTo>
                  <a:lnTo>
                    <a:pt x="1303342" y="1303342"/>
                  </a:lnTo>
                  <a:lnTo>
                    <a:pt x="0" y="130334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CA"/>
            </a:p>
          </p:txBody>
        </p:sp>
        <p:sp>
          <p:nvSpPr>
            <p:cNvPr id="14" name="TextBox 14"/>
            <p:cNvSpPr txBox="1"/>
            <p:nvPr/>
          </p:nvSpPr>
          <p:spPr>
            <a:xfrm>
              <a:off x="0" y="135180"/>
              <a:ext cx="1303342" cy="842710"/>
            </a:xfrm>
            <a:prstGeom prst="rect">
              <a:avLst/>
            </a:prstGeom>
          </p:spPr>
          <p:txBody>
            <a:bodyPr lIns="0" tIns="0" rIns="0" bIns="0" rtlCol="0" anchor="t">
              <a:spAutoFit/>
            </a:bodyPr>
            <a:lstStyle/>
            <a:p>
              <a:pPr algn="ctr">
                <a:lnSpc>
                  <a:spcPts val="5148"/>
                </a:lnSpc>
                <a:spcBef>
                  <a:spcPct val="0"/>
                </a:spcBef>
              </a:pPr>
              <a:r>
                <a:rPr lang="en-US" sz="3677" spc="-73" dirty="0">
                  <a:solidFill>
                    <a:srgbClr val="FFFFFF"/>
                  </a:solidFill>
                  <a:latin typeface="Bugaki"/>
                  <a:ea typeface="Bugaki"/>
                  <a:cs typeface="Bugaki"/>
                  <a:sym typeface="Bugaki"/>
                </a:rPr>
                <a:t>10</a:t>
              </a:r>
            </a:p>
          </p:txBody>
        </p:sp>
      </p:grpSp>
      <p:sp>
        <p:nvSpPr>
          <p:cNvPr id="15" name="TextBox 15"/>
          <p:cNvSpPr txBox="1"/>
          <p:nvPr/>
        </p:nvSpPr>
        <p:spPr>
          <a:xfrm>
            <a:off x="1696652" y="1866900"/>
            <a:ext cx="13830666" cy="7181453"/>
          </a:xfrm>
          <a:prstGeom prst="rect">
            <a:avLst/>
          </a:prstGeom>
        </p:spPr>
        <p:txBody>
          <a:bodyPr wrap="square" lIns="0" tIns="0" rIns="0" bIns="0" rtlCol="0" anchor="t">
            <a:spAutoFit/>
          </a:bodyPr>
          <a:lstStyle/>
          <a:p>
            <a:pPr>
              <a:lnSpc>
                <a:spcPts val="3509"/>
              </a:lnSpc>
            </a:pPr>
            <a:r>
              <a:rPr lang="en-US" sz="3200" b="1" dirty="0">
                <a:latin typeface="Open Sauce" panose="020B0604020202020204" charset="0"/>
              </a:rPr>
              <a:t>Supervised models (VGG)</a:t>
            </a:r>
            <a:r>
              <a:rPr lang="en-US" sz="3200" dirty="0">
                <a:latin typeface="Open Sauce" panose="020B0604020202020204" charset="0"/>
              </a:rPr>
              <a:t> </a:t>
            </a:r>
          </a:p>
          <a:p>
            <a:pPr>
              <a:lnSpc>
                <a:spcPts val="3509"/>
              </a:lnSpc>
            </a:pPr>
            <a:r>
              <a:rPr lang="en-US" sz="3200" dirty="0">
                <a:latin typeface="Open Sauce" panose="020B0604020202020204" charset="0"/>
              </a:rPr>
              <a:t>	performed well in binary classification tasks, achieving high 	accuracy on tumor vs non-tumor MRI data.</a:t>
            </a:r>
          </a:p>
          <a:p>
            <a:pPr>
              <a:lnSpc>
                <a:spcPts val="3509"/>
              </a:lnSpc>
            </a:pPr>
            <a:endParaRPr lang="en-US" sz="3200" dirty="0">
              <a:latin typeface="Open Sauce" panose="020B0604020202020204" charset="0"/>
            </a:endParaRPr>
          </a:p>
          <a:p>
            <a:pPr>
              <a:lnSpc>
                <a:spcPts val="3509"/>
              </a:lnSpc>
            </a:pPr>
            <a:r>
              <a:rPr lang="en-US" sz="3200" b="1" dirty="0">
                <a:latin typeface="Open Sauce" panose="020B0604020202020204" charset="0"/>
              </a:rPr>
              <a:t>Unsupervised models (Autoencoder, VAE)</a:t>
            </a:r>
            <a:r>
              <a:rPr lang="en-US" sz="3200" dirty="0">
                <a:latin typeface="Open Sauce" panose="020B0604020202020204" charset="0"/>
              </a:rPr>
              <a:t> </a:t>
            </a:r>
          </a:p>
          <a:p>
            <a:pPr>
              <a:lnSpc>
                <a:spcPts val="3509"/>
              </a:lnSpc>
            </a:pPr>
            <a:r>
              <a:rPr lang="en-US" sz="3200" dirty="0">
                <a:latin typeface="Open Sauce" panose="020B0604020202020204" charset="0"/>
              </a:rPr>
              <a:t>	effectively identified anomalies, demonstrating potential in cases 	with limited labeled data.</a:t>
            </a:r>
          </a:p>
          <a:p>
            <a:pPr>
              <a:lnSpc>
                <a:spcPts val="3509"/>
              </a:lnSpc>
            </a:pPr>
            <a:endParaRPr lang="en-US" sz="3200" dirty="0">
              <a:latin typeface="Open Sauce" panose="020B0604020202020204" charset="0"/>
            </a:endParaRPr>
          </a:p>
          <a:p>
            <a:pPr>
              <a:lnSpc>
                <a:spcPts val="3509"/>
              </a:lnSpc>
            </a:pPr>
            <a:r>
              <a:rPr lang="en-US" sz="3200" b="1" dirty="0">
                <a:latin typeface="Open Sauce" panose="020B0604020202020204" charset="0"/>
              </a:rPr>
              <a:t>State-of-the-art models (ViT, EfficientNet)</a:t>
            </a:r>
            <a:r>
              <a:rPr lang="en-US" sz="3200" dirty="0">
                <a:latin typeface="Open Sauce" panose="020B0604020202020204" charset="0"/>
              </a:rPr>
              <a:t> </a:t>
            </a:r>
          </a:p>
          <a:p>
            <a:pPr>
              <a:lnSpc>
                <a:spcPts val="3509"/>
              </a:lnSpc>
            </a:pPr>
            <a:r>
              <a:rPr lang="en-US" sz="3200" dirty="0">
                <a:latin typeface="Open Sauce" panose="020B0604020202020204" charset="0"/>
              </a:rPr>
              <a:t>	showed competitive results with enhanced performance when 	fine-tuned but required more compute resources and careful 	preprocessing.</a:t>
            </a:r>
          </a:p>
          <a:p>
            <a:pPr>
              <a:lnSpc>
                <a:spcPts val="3509"/>
              </a:lnSpc>
            </a:pPr>
            <a:endParaRPr lang="en-US" sz="3200" dirty="0">
              <a:latin typeface="Open Sauce" panose="020B0604020202020204" charset="0"/>
            </a:endParaRPr>
          </a:p>
          <a:p>
            <a:pPr>
              <a:lnSpc>
                <a:spcPts val="3509"/>
              </a:lnSpc>
            </a:pPr>
            <a:r>
              <a:rPr lang="en-US" sz="3200" b="1" dirty="0">
                <a:latin typeface="Open Sauce" panose="020B0604020202020204" charset="0"/>
              </a:rPr>
              <a:t>Performance Trade-offs</a:t>
            </a:r>
          </a:p>
          <a:p>
            <a:pPr>
              <a:lnSpc>
                <a:spcPts val="3509"/>
              </a:lnSpc>
            </a:pPr>
            <a:r>
              <a:rPr lang="en-US" sz="3200" dirty="0">
                <a:latin typeface="Open Sauce" panose="020B0604020202020204" charset="0"/>
              </a:rPr>
              <a:t>	ViT balanced accuracy and recall best; Unsupervised models had 	low tumor recall. EfficientNet avoided false positives.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CA"/>
          </a:p>
        </p:txBody>
      </p:sp>
      <p:grpSp>
        <p:nvGrpSpPr>
          <p:cNvPr id="3" name="Group 3"/>
          <p:cNvGrpSpPr/>
          <p:nvPr/>
        </p:nvGrpSpPr>
        <p:grpSpPr>
          <a:xfrm>
            <a:off x="17259300" y="8984615"/>
            <a:ext cx="1573962" cy="1573962"/>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3B54"/>
            </a:solidFill>
          </p:spPr>
          <p:txBody>
            <a:bodyPr/>
            <a:lstStyle/>
            <a:p>
              <a:endParaRPr lang="en-CA"/>
            </a:p>
          </p:txBody>
        </p:sp>
        <p:sp>
          <p:nvSpPr>
            <p:cNvPr id="5" name="TextBox 5"/>
            <p:cNvSpPr txBox="1"/>
            <p:nvPr/>
          </p:nvSpPr>
          <p:spPr>
            <a:xfrm>
              <a:off x="76200" y="66675"/>
              <a:ext cx="660400" cy="669925"/>
            </a:xfrm>
            <a:prstGeom prst="rect">
              <a:avLst/>
            </a:prstGeom>
          </p:spPr>
          <p:txBody>
            <a:bodyPr lIns="50800" tIns="50800" rIns="50800" bIns="50800" rtlCol="0" anchor="ctr"/>
            <a:lstStyle/>
            <a:p>
              <a:pPr algn="ctr">
                <a:lnSpc>
                  <a:spcPts val="3042"/>
                </a:lnSpc>
              </a:pPr>
              <a:endParaRPr/>
            </a:p>
          </p:txBody>
        </p:sp>
      </p:grpSp>
      <p:sp>
        <p:nvSpPr>
          <p:cNvPr id="9" name="AutoShape 9"/>
          <p:cNvSpPr/>
          <p:nvPr/>
        </p:nvSpPr>
        <p:spPr>
          <a:xfrm>
            <a:off x="0" y="9723971"/>
            <a:ext cx="9144000" cy="0"/>
          </a:xfrm>
          <a:prstGeom prst="line">
            <a:avLst/>
          </a:prstGeom>
          <a:ln w="47625" cap="flat">
            <a:solidFill>
              <a:srgbClr val="004664"/>
            </a:solidFill>
            <a:prstDash val="solid"/>
            <a:headEnd type="none" w="sm" len="sm"/>
            <a:tailEnd type="oval" w="lg" len="lg"/>
          </a:ln>
        </p:spPr>
        <p:txBody>
          <a:bodyPr/>
          <a:lstStyle/>
          <a:p>
            <a:endParaRPr lang="en-CA"/>
          </a:p>
        </p:txBody>
      </p:sp>
      <p:sp>
        <p:nvSpPr>
          <p:cNvPr id="10" name="AutoShape 10"/>
          <p:cNvSpPr/>
          <p:nvPr/>
        </p:nvSpPr>
        <p:spPr>
          <a:xfrm>
            <a:off x="15925021" y="646179"/>
            <a:ext cx="2362979" cy="0"/>
          </a:xfrm>
          <a:prstGeom prst="line">
            <a:avLst/>
          </a:prstGeom>
          <a:ln w="47625" cap="flat">
            <a:solidFill>
              <a:srgbClr val="004664"/>
            </a:solidFill>
            <a:prstDash val="solid"/>
            <a:headEnd type="oval" w="lg" len="lg"/>
            <a:tailEnd type="none" w="sm" len="sm"/>
          </a:ln>
        </p:spPr>
        <p:txBody>
          <a:bodyPr/>
          <a:lstStyle/>
          <a:p>
            <a:endParaRPr lang="en-CA"/>
          </a:p>
        </p:txBody>
      </p:sp>
      <p:sp>
        <p:nvSpPr>
          <p:cNvPr id="11" name="TextBox 11"/>
          <p:cNvSpPr txBox="1"/>
          <p:nvPr/>
        </p:nvSpPr>
        <p:spPr>
          <a:xfrm>
            <a:off x="1600200" y="391890"/>
            <a:ext cx="9625751" cy="958850"/>
          </a:xfrm>
          <a:prstGeom prst="rect">
            <a:avLst/>
          </a:prstGeom>
        </p:spPr>
        <p:txBody>
          <a:bodyPr lIns="0" tIns="0" rIns="0" bIns="0" rtlCol="0" anchor="t">
            <a:spAutoFit/>
          </a:bodyPr>
          <a:lstStyle/>
          <a:p>
            <a:pPr algn="l">
              <a:lnSpc>
                <a:spcPts val="7000"/>
              </a:lnSpc>
              <a:spcBef>
                <a:spcPct val="0"/>
              </a:spcBef>
            </a:pPr>
            <a:r>
              <a:rPr lang="en-US" sz="5000" spc="-100" dirty="0">
                <a:solidFill>
                  <a:srgbClr val="013B54"/>
                </a:solidFill>
                <a:latin typeface="Bugaki"/>
                <a:ea typeface="Bugaki"/>
                <a:cs typeface="Bugaki"/>
                <a:sym typeface="Bugaki"/>
              </a:rPr>
              <a:t>Success and Limitations</a:t>
            </a:r>
          </a:p>
        </p:txBody>
      </p:sp>
      <p:grpSp>
        <p:nvGrpSpPr>
          <p:cNvPr id="12" name="Group 12"/>
          <p:cNvGrpSpPr/>
          <p:nvPr/>
        </p:nvGrpSpPr>
        <p:grpSpPr>
          <a:xfrm>
            <a:off x="457566" y="373233"/>
            <a:ext cx="977507" cy="977507"/>
            <a:chOff x="0" y="0"/>
            <a:chExt cx="1303342" cy="1303342"/>
          </a:xfrm>
        </p:grpSpPr>
        <p:sp>
          <p:nvSpPr>
            <p:cNvPr id="13" name="Freeform 13"/>
            <p:cNvSpPr/>
            <p:nvPr/>
          </p:nvSpPr>
          <p:spPr>
            <a:xfrm>
              <a:off x="0" y="0"/>
              <a:ext cx="1303342" cy="1303342"/>
            </a:xfrm>
            <a:custGeom>
              <a:avLst/>
              <a:gdLst/>
              <a:ahLst/>
              <a:cxnLst/>
              <a:rect l="l" t="t" r="r" b="b"/>
              <a:pathLst>
                <a:path w="1303342" h="1303342">
                  <a:moveTo>
                    <a:pt x="0" y="0"/>
                  </a:moveTo>
                  <a:lnTo>
                    <a:pt x="1303342" y="0"/>
                  </a:lnTo>
                  <a:lnTo>
                    <a:pt x="1303342" y="1303342"/>
                  </a:lnTo>
                  <a:lnTo>
                    <a:pt x="0" y="130334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CA"/>
            </a:p>
          </p:txBody>
        </p:sp>
        <p:sp>
          <p:nvSpPr>
            <p:cNvPr id="14" name="TextBox 14"/>
            <p:cNvSpPr txBox="1"/>
            <p:nvPr/>
          </p:nvSpPr>
          <p:spPr>
            <a:xfrm>
              <a:off x="0" y="135180"/>
              <a:ext cx="1303342" cy="842710"/>
            </a:xfrm>
            <a:prstGeom prst="rect">
              <a:avLst/>
            </a:prstGeom>
          </p:spPr>
          <p:txBody>
            <a:bodyPr lIns="0" tIns="0" rIns="0" bIns="0" rtlCol="0" anchor="t">
              <a:spAutoFit/>
            </a:bodyPr>
            <a:lstStyle/>
            <a:p>
              <a:pPr algn="ctr">
                <a:lnSpc>
                  <a:spcPts val="5148"/>
                </a:lnSpc>
                <a:spcBef>
                  <a:spcPct val="0"/>
                </a:spcBef>
              </a:pPr>
              <a:r>
                <a:rPr lang="en-US" sz="3677" spc="-73" dirty="0">
                  <a:solidFill>
                    <a:srgbClr val="FFFFFF"/>
                  </a:solidFill>
                  <a:latin typeface="Bugaki"/>
                  <a:ea typeface="Bugaki"/>
                  <a:cs typeface="Bugaki"/>
                  <a:sym typeface="Bugaki"/>
                </a:rPr>
                <a:t>11</a:t>
              </a:r>
            </a:p>
          </p:txBody>
        </p:sp>
      </p:grpSp>
      <p:sp>
        <p:nvSpPr>
          <p:cNvPr id="21" name="Rectangle 20">
            <a:extLst>
              <a:ext uri="{FF2B5EF4-FFF2-40B4-BE49-F238E27FC236}">
                <a16:creationId xmlns:a16="http://schemas.microsoft.com/office/drawing/2014/main" id="{502DCACB-13FE-A5CF-8B5B-4FBE78F7759D}"/>
              </a:ext>
            </a:extLst>
          </p:cNvPr>
          <p:cNvSpPr/>
          <p:nvPr/>
        </p:nvSpPr>
        <p:spPr>
          <a:xfrm>
            <a:off x="762001" y="1687753"/>
            <a:ext cx="8077200" cy="8207357"/>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 name="TextBox 15"/>
          <p:cNvSpPr txBox="1"/>
          <p:nvPr/>
        </p:nvSpPr>
        <p:spPr>
          <a:xfrm>
            <a:off x="1221168" y="3038984"/>
            <a:ext cx="7520413" cy="6691191"/>
          </a:xfrm>
          <a:prstGeom prst="rect">
            <a:avLst/>
          </a:prstGeom>
        </p:spPr>
        <p:txBody>
          <a:bodyPr wrap="square" lIns="0" tIns="0" rIns="0" bIns="0" rtlCol="0" anchor="t">
            <a:spAutoFit/>
          </a:bodyPr>
          <a:lstStyle/>
          <a:p>
            <a:pPr marL="457200" indent="-457200">
              <a:lnSpc>
                <a:spcPts val="3509"/>
              </a:lnSpc>
              <a:buFont typeface="Arial" panose="020B0604020202020204" pitchFamily="34" charset="0"/>
              <a:buChar char="•"/>
            </a:pPr>
            <a:r>
              <a:rPr lang="en-US" sz="3000" b="1" spc="-60" dirty="0">
                <a:solidFill>
                  <a:srgbClr val="000000"/>
                </a:solidFill>
                <a:latin typeface="Open Sauce"/>
                <a:ea typeface="Open Sauce"/>
                <a:cs typeface="Open Sauce"/>
                <a:sym typeface="Open Sauce"/>
              </a:rPr>
              <a:t>High accuracy</a:t>
            </a:r>
          </a:p>
          <a:p>
            <a:pPr lvl="1">
              <a:lnSpc>
                <a:spcPts val="3509"/>
              </a:lnSpc>
            </a:pPr>
            <a:r>
              <a:rPr lang="en-US" sz="2400" spc="-60" dirty="0">
                <a:solidFill>
                  <a:srgbClr val="000000"/>
                </a:solidFill>
                <a:latin typeface="Open Sauce"/>
                <a:ea typeface="Open Sauce"/>
                <a:cs typeface="Open Sauce"/>
                <a:sym typeface="Open Sauce"/>
              </a:rPr>
              <a:t>VGG achieved 86%, EfficientNet 89%, suitable for clinical use</a:t>
            </a:r>
          </a:p>
          <a:p>
            <a:pPr lvl="1">
              <a:lnSpc>
                <a:spcPts val="3509"/>
              </a:lnSpc>
            </a:pPr>
            <a:endParaRPr lang="en-US" sz="3000" spc="-60" dirty="0">
              <a:solidFill>
                <a:srgbClr val="000000"/>
              </a:solidFill>
              <a:latin typeface="Open Sauce"/>
              <a:ea typeface="Open Sauce"/>
              <a:cs typeface="Open Sauce"/>
              <a:sym typeface="Open Sauce"/>
            </a:endParaRPr>
          </a:p>
          <a:p>
            <a:pPr marL="457200" indent="-457200">
              <a:lnSpc>
                <a:spcPts val="3509"/>
              </a:lnSpc>
              <a:buFont typeface="Arial" panose="020B0604020202020204" pitchFamily="34" charset="0"/>
              <a:buChar char="•"/>
            </a:pPr>
            <a:r>
              <a:rPr lang="en-US" sz="3000" b="1" spc="-60" dirty="0">
                <a:solidFill>
                  <a:srgbClr val="000000"/>
                </a:solidFill>
                <a:latin typeface="Open Sauce"/>
                <a:ea typeface="Open Sauce"/>
                <a:cs typeface="Open Sauce"/>
                <a:sym typeface="Open Sauce"/>
              </a:rPr>
              <a:t>Effective Transfer Learning</a:t>
            </a:r>
          </a:p>
          <a:p>
            <a:pPr lvl="1">
              <a:lnSpc>
                <a:spcPts val="3509"/>
              </a:lnSpc>
            </a:pPr>
            <a:r>
              <a:rPr lang="en-US" sz="2400" spc="-60" dirty="0">
                <a:solidFill>
                  <a:srgbClr val="000000"/>
                </a:solidFill>
                <a:latin typeface="Open Sauce"/>
                <a:ea typeface="Open Sauce"/>
                <a:cs typeface="Open Sauce"/>
                <a:sym typeface="Open Sauce"/>
              </a:rPr>
              <a:t>Fine-tuned state-of-the-art models quickly adapted to the dataset</a:t>
            </a:r>
          </a:p>
          <a:p>
            <a:pPr>
              <a:lnSpc>
                <a:spcPts val="3509"/>
              </a:lnSpc>
            </a:pPr>
            <a:endParaRPr lang="en-US" sz="3000" spc="-60" dirty="0">
              <a:solidFill>
                <a:srgbClr val="000000"/>
              </a:solidFill>
              <a:latin typeface="Open Sauce"/>
              <a:ea typeface="Open Sauce"/>
              <a:cs typeface="Open Sauce"/>
              <a:sym typeface="Open Sauce"/>
            </a:endParaRPr>
          </a:p>
          <a:p>
            <a:pPr marL="457200" indent="-457200">
              <a:lnSpc>
                <a:spcPts val="3509"/>
              </a:lnSpc>
              <a:buFont typeface="Arial" panose="020B0604020202020204" pitchFamily="34" charset="0"/>
              <a:buChar char="•"/>
            </a:pPr>
            <a:r>
              <a:rPr lang="en-US" sz="3000" b="1" spc="-60" dirty="0">
                <a:solidFill>
                  <a:srgbClr val="000000"/>
                </a:solidFill>
                <a:latin typeface="Open Sauce"/>
                <a:ea typeface="Open Sauce"/>
                <a:cs typeface="Open Sauce"/>
                <a:sym typeface="Open Sauce"/>
              </a:rPr>
              <a:t>Strong Precision</a:t>
            </a:r>
          </a:p>
          <a:p>
            <a:pPr lvl="1">
              <a:lnSpc>
                <a:spcPts val="3509"/>
              </a:lnSpc>
            </a:pPr>
            <a:r>
              <a:rPr lang="en-US" sz="2400" spc="-60" dirty="0">
                <a:solidFill>
                  <a:srgbClr val="000000"/>
                </a:solidFill>
                <a:latin typeface="Open Sauce"/>
                <a:ea typeface="Open Sauce"/>
                <a:cs typeface="Open Sauce"/>
                <a:sym typeface="Open Sauce"/>
              </a:rPr>
              <a:t>EfficientNet showed 100% precision, minimizing false positives</a:t>
            </a:r>
          </a:p>
          <a:p>
            <a:pPr>
              <a:lnSpc>
                <a:spcPts val="3509"/>
              </a:lnSpc>
            </a:pPr>
            <a:endParaRPr lang="en-US" sz="3000" spc="-60" dirty="0">
              <a:solidFill>
                <a:srgbClr val="000000"/>
              </a:solidFill>
              <a:latin typeface="Open Sauce"/>
              <a:ea typeface="Open Sauce"/>
              <a:cs typeface="Open Sauce"/>
              <a:sym typeface="Open Sauce"/>
            </a:endParaRPr>
          </a:p>
          <a:p>
            <a:pPr marL="457200" indent="-457200">
              <a:lnSpc>
                <a:spcPts val="3509"/>
              </a:lnSpc>
              <a:buFont typeface="Arial" panose="020B0604020202020204" pitchFamily="34" charset="0"/>
              <a:buChar char="•"/>
            </a:pPr>
            <a:r>
              <a:rPr lang="en-US" sz="3000" b="1" spc="-60" dirty="0">
                <a:solidFill>
                  <a:srgbClr val="000000"/>
                </a:solidFill>
                <a:latin typeface="Open Sauce"/>
                <a:ea typeface="Open Sauce"/>
                <a:cs typeface="Open Sauce"/>
                <a:sym typeface="Open Sauce"/>
              </a:rPr>
              <a:t>Automated Preprocessing</a:t>
            </a:r>
          </a:p>
          <a:p>
            <a:pPr lvl="1">
              <a:lnSpc>
                <a:spcPts val="3509"/>
              </a:lnSpc>
            </a:pPr>
            <a:r>
              <a:rPr lang="en-US" sz="2400" spc="-60" dirty="0">
                <a:solidFill>
                  <a:srgbClr val="000000"/>
                </a:solidFill>
                <a:latin typeface="Open Sauce"/>
                <a:ea typeface="Open Sauce"/>
                <a:cs typeface="Open Sauce"/>
                <a:sym typeface="Open Sauce"/>
              </a:rPr>
              <a:t>Robust pipeline improved image quality and model input consistency</a:t>
            </a:r>
          </a:p>
        </p:txBody>
      </p:sp>
      <p:sp>
        <p:nvSpPr>
          <p:cNvPr id="16" name="TextBox 15">
            <a:extLst>
              <a:ext uri="{FF2B5EF4-FFF2-40B4-BE49-F238E27FC236}">
                <a16:creationId xmlns:a16="http://schemas.microsoft.com/office/drawing/2014/main" id="{560B1B4F-6ADB-5057-687F-1E38AB772DA0}"/>
              </a:ext>
            </a:extLst>
          </p:cNvPr>
          <p:cNvSpPr txBox="1"/>
          <p:nvPr/>
        </p:nvSpPr>
        <p:spPr>
          <a:xfrm>
            <a:off x="2384479" y="2121174"/>
            <a:ext cx="7650997" cy="448841"/>
          </a:xfrm>
          <a:prstGeom prst="rect">
            <a:avLst/>
          </a:prstGeom>
        </p:spPr>
        <p:txBody>
          <a:bodyPr lIns="0" tIns="0" rIns="0" bIns="0" rtlCol="0" anchor="t">
            <a:spAutoFit/>
          </a:bodyPr>
          <a:lstStyle/>
          <a:p>
            <a:pPr algn="just">
              <a:lnSpc>
                <a:spcPts val="3509"/>
              </a:lnSpc>
            </a:pPr>
            <a:r>
              <a:rPr lang="en-US" sz="3600" b="1" spc="-60" dirty="0">
                <a:solidFill>
                  <a:srgbClr val="000000"/>
                </a:solidFill>
                <a:latin typeface="Open Sauce"/>
                <a:ea typeface="Open Sauce"/>
                <a:cs typeface="Open Sauce"/>
                <a:sym typeface="Open Sauce"/>
              </a:rPr>
              <a:t>Successes</a:t>
            </a:r>
          </a:p>
        </p:txBody>
      </p:sp>
      <p:pic>
        <p:nvPicPr>
          <p:cNvPr id="18" name="Picture 17">
            <a:extLst>
              <a:ext uri="{FF2B5EF4-FFF2-40B4-BE49-F238E27FC236}">
                <a16:creationId xmlns:a16="http://schemas.microsoft.com/office/drawing/2014/main" id="{EEE368A4-48AE-735B-5450-C6F0A3F2B19C}"/>
              </a:ext>
            </a:extLst>
          </p:cNvPr>
          <p:cNvPicPr>
            <a:picLocks noChangeAspect="1"/>
          </p:cNvPicPr>
          <p:nvPr/>
        </p:nvPicPr>
        <p:blipFill>
          <a:blip r:embed="rId5"/>
          <a:stretch>
            <a:fillRect/>
          </a:stretch>
        </p:blipFill>
        <p:spPr>
          <a:xfrm>
            <a:off x="975889" y="1791973"/>
            <a:ext cx="1002462" cy="1002462"/>
          </a:xfrm>
          <a:prstGeom prst="rect">
            <a:avLst/>
          </a:prstGeom>
        </p:spPr>
      </p:pic>
      <p:sp>
        <p:nvSpPr>
          <p:cNvPr id="22" name="Rectangle 21">
            <a:extLst>
              <a:ext uri="{FF2B5EF4-FFF2-40B4-BE49-F238E27FC236}">
                <a16:creationId xmlns:a16="http://schemas.microsoft.com/office/drawing/2014/main" id="{F304DAFB-32CF-1DE2-3762-A28496BC160D}"/>
              </a:ext>
            </a:extLst>
          </p:cNvPr>
          <p:cNvSpPr/>
          <p:nvPr/>
        </p:nvSpPr>
        <p:spPr>
          <a:xfrm>
            <a:off x="8839200" y="1687753"/>
            <a:ext cx="8839199" cy="8207357"/>
          </a:xfrm>
          <a:prstGeom prst="rect">
            <a:avLst/>
          </a:prstGeom>
          <a:solidFill>
            <a:srgbClr val="FAED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3" name="TextBox 22">
            <a:extLst>
              <a:ext uri="{FF2B5EF4-FFF2-40B4-BE49-F238E27FC236}">
                <a16:creationId xmlns:a16="http://schemas.microsoft.com/office/drawing/2014/main" id="{AC493588-E81B-D9E2-FE47-86FBCB9336EA}"/>
              </a:ext>
            </a:extLst>
          </p:cNvPr>
          <p:cNvSpPr txBox="1"/>
          <p:nvPr/>
        </p:nvSpPr>
        <p:spPr>
          <a:xfrm>
            <a:off x="10670979" y="2109449"/>
            <a:ext cx="7650997" cy="448841"/>
          </a:xfrm>
          <a:prstGeom prst="rect">
            <a:avLst/>
          </a:prstGeom>
        </p:spPr>
        <p:txBody>
          <a:bodyPr lIns="0" tIns="0" rIns="0" bIns="0" rtlCol="0" anchor="t">
            <a:spAutoFit/>
          </a:bodyPr>
          <a:lstStyle/>
          <a:p>
            <a:pPr algn="just">
              <a:lnSpc>
                <a:spcPts val="3509"/>
              </a:lnSpc>
            </a:pPr>
            <a:r>
              <a:rPr lang="en-US" sz="3600" b="1" spc="-60" dirty="0">
                <a:solidFill>
                  <a:srgbClr val="000000"/>
                </a:solidFill>
                <a:latin typeface="Open Sauce"/>
                <a:ea typeface="Open Sauce"/>
                <a:cs typeface="Open Sauce"/>
                <a:sym typeface="Open Sauce"/>
              </a:rPr>
              <a:t>Limitations</a:t>
            </a:r>
          </a:p>
        </p:txBody>
      </p:sp>
      <p:pic>
        <p:nvPicPr>
          <p:cNvPr id="31" name="Picture 30">
            <a:extLst>
              <a:ext uri="{FF2B5EF4-FFF2-40B4-BE49-F238E27FC236}">
                <a16:creationId xmlns:a16="http://schemas.microsoft.com/office/drawing/2014/main" id="{2C0C4BC0-C821-52E3-B63B-CFE9563F29C1}"/>
              </a:ext>
            </a:extLst>
          </p:cNvPr>
          <p:cNvPicPr>
            <a:picLocks noChangeAspect="1"/>
          </p:cNvPicPr>
          <p:nvPr/>
        </p:nvPicPr>
        <p:blipFill>
          <a:blip r:embed="rId6"/>
          <a:stretch>
            <a:fillRect/>
          </a:stretch>
        </p:blipFill>
        <p:spPr>
          <a:xfrm>
            <a:off x="9034441" y="1583791"/>
            <a:ext cx="1449401" cy="1449401"/>
          </a:xfrm>
          <a:prstGeom prst="rect">
            <a:avLst/>
          </a:prstGeom>
        </p:spPr>
      </p:pic>
      <p:sp>
        <p:nvSpPr>
          <p:cNvPr id="33" name="TextBox 15">
            <a:extLst>
              <a:ext uri="{FF2B5EF4-FFF2-40B4-BE49-F238E27FC236}">
                <a16:creationId xmlns:a16="http://schemas.microsoft.com/office/drawing/2014/main" id="{61056DF9-37E4-DD41-FF13-85C65CF1DE35}"/>
              </a:ext>
            </a:extLst>
          </p:cNvPr>
          <p:cNvSpPr txBox="1"/>
          <p:nvPr/>
        </p:nvSpPr>
        <p:spPr>
          <a:xfrm>
            <a:off x="9136039" y="3038984"/>
            <a:ext cx="8344258" cy="6691191"/>
          </a:xfrm>
          <a:prstGeom prst="rect">
            <a:avLst/>
          </a:prstGeom>
        </p:spPr>
        <p:txBody>
          <a:bodyPr wrap="square" lIns="0" tIns="0" rIns="0" bIns="0" rtlCol="0" anchor="t">
            <a:spAutoFit/>
          </a:bodyPr>
          <a:lstStyle/>
          <a:p>
            <a:pPr marL="457200" indent="-457200">
              <a:lnSpc>
                <a:spcPts val="3509"/>
              </a:lnSpc>
              <a:buFont typeface="Arial" panose="020B0604020202020204" pitchFamily="34" charset="0"/>
              <a:buChar char="•"/>
            </a:pPr>
            <a:r>
              <a:rPr lang="en-US" sz="3000" b="1" spc="-60" dirty="0">
                <a:solidFill>
                  <a:srgbClr val="000000"/>
                </a:solidFill>
                <a:latin typeface="Open Sauce"/>
                <a:ea typeface="Open Sauce"/>
                <a:cs typeface="Open Sauce"/>
                <a:sym typeface="Open Sauce"/>
              </a:rPr>
              <a:t>Misclassification Rates</a:t>
            </a:r>
          </a:p>
          <a:p>
            <a:pPr lvl="1">
              <a:lnSpc>
                <a:spcPts val="3509"/>
              </a:lnSpc>
            </a:pPr>
            <a:r>
              <a:rPr lang="en-US" sz="2400" spc="-60" dirty="0">
                <a:solidFill>
                  <a:srgbClr val="000000"/>
                </a:solidFill>
                <a:latin typeface="Open Sauce"/>
                <a:ea typeface="Open Sauce"/>
                <a:cs typeface="Open Sauce"/>
                <a:sym typeface="Open Sauce"/>
              </a:rPr>
              <a:t>VGG (31%) showed false-negative rates, inherently risky for medical applications</a:t>
            </a:r>
          </a:p>
          <a:p>
            <a:pPr lvl="1">
              <a:lnSpc>
                <a:spcPts val="3509"/>
              </a:lnSpc>
            </a:pPr>
            <a:endParaRPr lang="en-US" sz="3000" spc="-60" dirty="0">
              <a:solidFill>
                <a:srgbClr val="000000"/>
              </a:solidFill>
              <a:latin typeface="Open Sauce"/>
              <a:ea typeface="Open Sauce"/>
              <a:cs typeface="Open Sauce"/>
              <a:sym typeface="Open Sauce"/>
            </a:endParaRPr>
          </a:p>
          <a:p>
            <a:pPr marL="457200" indent="-457200">
              <a:lnSpc>
                <a:spcPts val="3509"/>
              </a:lnSpc>
              <a:buFont typeface="Arial" panose="020B0604020202020204" pitchFamily="34" charset="0"/>
              <a:buChar char="•"/>
            </a:pPr>
            <a:r>
              <a:rPr lang="en-US" sz="3000" b="1" spc="-60" dirty="0">
                <a:solidFill>
                  <a:srgbClr val="000000"/>
                </a:solidFill>
                <a:latin typeface="Open Sauce"/>
                <a:ea typeface="Open Sauce"/>
                <a:cs typeface="Open Sauce"/>
                <a:sym typeface="Open Sauce"/>
              </a:rPr>
              <a:t>Interpretability Issues</a:t>
            </a:r>
          </a:p>
          <a:p>
            <a:pPr lvl="1">
              <a:lnSpc>
                <a:spcPts val="3509"/>
              </a:lnSpc>
            </a:pPr>
            <a:r>
              <a:rPr lang="en-US" sz="2400" spc="-60" dirty="0">
                <a:solidFill>
                  <a:srgbClr val="000000"/>
                </a:solidFill>
                <a:latin typeface="Open Sauce"/>
                <a:ea typeface="Open Sauce"/>
                <a:cs typeface="Open Sauce"/>
                <a:sym typeface="Open Sauce"/>
              </a:rPr>
              <a:t>Complex models like ViT and Autoencoder inherently lack transparency, limiting clinical trust</a:t>
            </a:r>
          </a:p>
          <a:p>
            <a:pPr>
              <a:lnSpc>
                <a:spcPts val="3509"/>
              </a:lnSpc>
            </a:pPr>
            <a:endParaRPr lang="en-US" sz="3000" spc="-60" dirty="0">
              <a:solidFill>
                <a:srgbClr val="000000"/>
              </a:solidFill>
              <a:latin typeface="Open Sauce"/>
              <a:ea typeface="Open Sauce"/>
              <a:cs typeface="Open Sauce"/>
              <a:sym typeface="Open Sauce"/>
            </a:endParaRPr>
          </a:p>
          <a:p>
            <a:pPr marL="457200" indent="-457200">
              <a:lnSpc>
                <a:spcPts val="3509"/>
              </a:lnSpc>
              <a:buFont typeface="Arial" panose="020B0604020202020204" pitchFamily="34" charset="0"/>
              <a:buChar char="•"/>
            </a:pPr>
            <a:r>
              <a:rPr lang="en-US" sz="3000" b="1" spc="-60" dirty="0">
                <a:solidFill>
                  <a:srgbClr val="000000"/>
                </a:solidFill>
                <a:latin typeface="Open Sauce"/>
                <a:ea typeface="Open Sauce"/>
                <a:cs typeface="Open Sauce"/>
                <a:sym typeface="Open Sauce"/>
              </a:rPr>
              <a:t>Model Complexity</a:t>
            </a:r>
          </a:p>
          <a:p>
            <a:pPr lvl="1">
              <a:lnSpc>
                <a:spcPts val="3509"/>
              </a:lnSpc>
            </a:pPr>
            <a:r>
              <a:rPr lang="en-US" sz="2400" spc="-60" dirty="0">
                <a:solidFill>
                  <a:srgbClr val="000000"/>
                </a:solidFill>
                <a:latin typeface="Open Sauce"/>
                <a:ea typeface="Open Sauce"/>
                <a:cs typeface="Open Sauce"/>
                <a:sym typeface="Open Sauce"/>
              </a:rPr>
              <a:t>Advanced models require significant computational resources, increasing operational complexity</a:t>
            </a:r>
          </a:p>
          <a:p>
            <a:pPr>
              <a:lnSpc>
                <a:spcPts val="3509"/>
              </a:lnSpc>
            </a:pPr>
            <a:endParaRPr lang="en-US" sz="3000" spc="-60" dirty="0">
              <a:solidFill>
                <a:srgbClr val="000000"/>
              </a:solidFill>
              <a:latin typeface="Open Sauce"/>
              <a:ea typeface="Open Sauce"/>
              <a:cs typeface="Open Sauce"/>
              <a:sym typeface="Open Sauce"/>
            </a:endParaRPr>
          </a:p>
          <a:p>
            <a:pPr marL="457200" indent="-457200">
              <a:lnSpc>
                <a:spcPts val="3509"/>
              </a:lnSpc>
              <a:buFont typeface="Arial" panose="020B0604020202020204" pitchFamily="34" charset="0"/>
              <a:buChar char="•"/>
            </a:pPr>
            <a:r>
              <a:rPr lang="en-US" sz="3000" b="1" spc="-60" dirty="0">
                <a:solidFill>
                  <a:srgbClr val="000000"/>
                </a:solidFill>
                <a:latin typeface="Open Sauce"/>
                <a:ea typeface="Open Sauce"/>
                <a:cs typeface="Open Sauce"/>
                <a:sym typeface="Open Sauce"/>
              </a:rPr>
              <a:t>Fixed Dataset Size</a:t>
            </a:r>
          </a:p>
          <a:p>
            <a:pPr lvl="1">
              <a:lnSpc>
                <a:spcPts val="3509"/>
              </a:lnSpc>
            </a:pPr>
            <a:r>
              <a:rPr lang="en-US" sz="2400" spc="-60" dirty="0">
                <a:solidFill>
                  <a:srgbClr val="000000"/>
                </a:solidFill>
                <a:latin typeface="Open Sauce"/>
                <a:ea typeface="Open Sauce"/>
                <a:cs typeface="Open Sauce"/>
                <a:sym typeface="Open Sauce"/>
              </a:rPr>
              <a:t>Reliance on a fixed dataset restricts model scalability and extensive validation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CA"/>
          </a:p>
        </p:txBody>
      </p:sp>
      <p:grpSp>
        <p:nvGrpSpPr>
          <p:cNvPr id="3" name="Group 3"/>
          <p:cNvGrpSpPr/>
          <p:nvPr/>
        </p:nvGrpSpPr>
        <p:grpSpPr>
          <a:xfrm>
            <a:off x="17259300" y="8984615"/>
            <a:ext cx="1573962" cy="1573962"/>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3B54"/>
            </a:solidFill>
          </p:spPr>
          <p:txBody>
            <a:bodyPr/>
            <a:lstStyle/>
            <a:p>
              <a:endParaRPr lang="en-CA"/>
            </a:p>
          </p:txBody>
        </p:sp>
        <p:sp>
          <p:nvSpPr>
            <p:cNvPr id="5" name="TextBox 5"/>
            <p:cNvSpPr txBox="1"/>
            <p:nvPr/>
          </p:nvSpPr>
          <p:spPr>
            <a:xfrm>
              <a:off x="76200" y="66675"/>
              <a:ext cx="660400" cy="669925"/>
            </a:xfrm>
            <a:prstGeom prst="rect">
              <a:avLst/>
            </a:prstGeom>
          </p:spPr>
          <p:txBody>
            <a:bodyPr lIns="50800" tIns="50800" rIns="50800" bIns="50800" rtlCol="0" anchor="ctr"/>
            <a:lstStyle/>
            <a:p>
              <a:pPr algn="ctr">
                <a:lnSpc>
                  <a:spcPts val="3042"/>
                </a:lnSpc>
              </a:pPr>
              <a:endParaRPr/>
            </a:p>
          </p:txBody>
        </p:sp>
      </p:grpSp>
      <p:grpSp>
        <p:nvGrpSpPr>
          <p:cNvPr id="6" name="Group 6"/>
          <p:cNvGrpSpPr/>
          <p:nvPr/>
        </p:nvGrpSpPr>
        <p:grpSpPr>
          <a:xfrm>
            <a:off x="16303701" y="8984615"/>
            <a:ext cx="786981" cy="786981"/>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664"/>
            </a:solidFill>
          </p:spPr>
          <p:txBody>
            <a:bodyPr/>
            <a:lstStyle/>
            <a:p>
              <a:endParaRPr lang="en-CA"/>
            </a:p>
          </p:txBody>
        </p:sp>
        <p:sp>
          <p:nvSpPr>
            <p:cNvPr id="8" name="TextBox 8"/>
            <p:cNvSpPr txBox="1"/>
            <p:nvPr/>
          </p:nvSpPr>
          <p:spPr>
            <a:xfrm>
              <a:off x="76200" y="66675"/>
              <a:ext cx="660400" cy="669925"/>
            </a:xfrm>
            <a:prstGeom prst="rect">
              <a:avLst/>
            </a:prstGeom>
          </p:spPr>
          <p:txBody>
            <a:bodyPr lIns="50800" tIns="50800" rIns="50800" bIns="50800" rtlCol="0" anchor="ctr"/>
            <a:lstStyle/>
            <a:p>
              <a:pPr algn="ctr">
                <a:lnSpc>
                  <a:spcPts val="3042"/>
                </a:lnSpc>
              </a:pPr>
              <a:endParaRPr/>
            </a:p>
          </p:txBody>
        </p:sp>
      </p:grpSp>
      <p:sp>
        <p:nvSpPr>
          <p:cNvPr id="9" name="AutoShape 9"/>
          <p:cNvSpPr/>
          <p:nvPr/>
        </p:nvSpPr>
        <p:spPr>
          <a:xfrm>
            <a:off x="0" y="9723971"/>
            <a:ext cx="9144000" cy="0"/>
          </a:xfrm>
          <a:prstGeom prst="line">
            <a:avLst/>
          </a:prstGeom>
          <a:ln w="47625" cap="flat">
            <a:solidFill>
              <a:srgbClr val="004664"/>
            </a:solidFill>
            <a:prstDash val="solid"/>
            <a:headEnd type="none" w="sm" len="sm"/>
            <a:tailEnd type="oval" w="lg" len="lg"/>
          </a:ln>
        </p:spPr>
        <p:txBody>
          <a:bodyPr/>
          <a:lstStyle/>
          <a:p>
            <a:endParaRPr lang="en-CA"/>
          </a:p>
        </p:txBody>
      </p:sp>
      <p:sp>
        <p:nvSpPr>
          <p:cNvPr id="10" name="AutoShape 10"/>
          <p:cNvSpPr/>
          <p:nvPr/>
        </p:nvSpPr>
        <p:spPr>
          <a:xfrm>
            <a:off x="15925021" y="646179"/>
            <a:ext cx="2362979" cy="0"/>
          </a:xfrm>
          <a:prstGeom prst="line">
            <a:avLst/>
          </a:prstGeom>
          <a:ln w="47625" cap="flat">
            <a:solidFill>
              <a:srgbClr val="004664"/>
            </a:solidFill>
            <a:prstDash val="solid"/>
            <a:headEnd type="oval" w="lg" len="lg"/>
            <a:tailEnd type="none" w="sm" len="sm"/>
          </a:ln>
        </p:spPr>
        <p:txBody>
          <a:bodyPr/>
          <a:lstStyle/>
          <a:p>
            <a:endParaRPr lang="en-CA"/>
          </a:p>
        </p:txBody>
      </p:sp>
      <p:sp>
        <p:nvSpPr>
          <p:cNvPr id="11" name="TextBox 11"/>
          <p:cNvSpPr txBox="1"/>
          <p:nvPr/>
        </p:nvSpPr>
        <p:spPr>
          <a:xfrm>
            <a:off x="1680950" y="284284"/>
            <a:ext cx="10559549" cy="958850"/>
          </a:xfrm>
          <a:prstGeom prst="rect">
            <a:avLst/>
          </a:prstGeom>
        </p:spPr>
        <p:txBody>
          <a:bodyPr lIns="0" tIns="0" rIns="0" bIns="0" rtlCol="0" anchor="t">
            <a:spAutoFit/>
          </a:bodyPr>
          <a:lstStyle/>
          <a:p>
            <a:pPr algn="l">
              <a:lnSpc>
                <a:spcPts val="7000"/>
              </a:lnSpc>
              <a:spcBef>
                <a:spcPct val="0"/>
              </a:spcBef>
            </a:pPr>
            <a:r>
              <a:rPr lang="en-US" sz="5000" spc="-100" dirty="0">
                <a:solidFill>
                  <a:srgbClr val="013B54"/>
                </a:solidFill>
                <a:latin typeface="Bugaki"/>
                <a:ea typeface="Bugaki"/>
                <a:cs typeface="Bugaki"/>
                <a:sym typeface="Bugaki"/>
              </a:rPr>
              <a:t>Suggestions for Future Work</a:t>
            </a:r>
          </a:p>
        </p:txBody>
      </p:sp>
      <p:grpSp>
        <p:nvGrpSpPr>
          <p:cNvPr id="12" name="Group 12"/>
          <p:cNvGrpSpPr/>
          <p:nvPr/>
        </p:nvGrpSpPr>
        <p:grpSpPr>
          <a:xfrm>
            <a:off x="538316" y="280462"/>
            <a:ext cx="977507" cy="977507"/>
            <a:chOff x="0" y="0"/>
            <a:chExt cx="1303342" cy="1303342"/>
          </a:xfrm>
        </p:grpSpPr>
        <p:sp>
          <p:nvSpPr>
            <p:cNvPr id="13" name="Freeform 13"/>
            <p:cNvSpPr/>
            <p:nvPr/>
          </p:nvSpPr>
          <p:spPr>
            <a:xfrm>
              <a:off x="0" y="0"/>
              <a:ext cx="1303342" cy="1303342"/>
            </a:xfrm>
            <a:custGeom>
              <a:avLst/>
              <a:gdLst/>
              <a:ahLst/>
              <a:cxnLst/>
              <a:rect l="l" t="t" r="r" b="b"/>
              <a:pathLst>
                <a:path w="1303342" h="1303342">
                  <a:moveTo>
                    <a:pt x="0" y="0"/>
                  </a:moveTo>
                  <a:lnTo>
                    <a:pt x="1303342" y="0"/>
                  </a:lnTo>
                  <a:lnTo>
                    <a:pt x="1303342" y="1303342"/>
                  </a:lnTo>
                  <a:lnTo>
                    <a:pt x="0" y="130334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CA"/>
            </a:p>
          </p:txBody>
        </p:sp>
        <p:sp>
          <p:nvSpPr>
            <p:cNvPr id="14" name="TextBox 14"/>
            <p:cNvSpPr txBox="1"/>
            <p:nvPr/>
          </p:nvSpPr>
          <p:spPr>
            <a:xfrm>
              <a:off x="0" y="135180"/>
              <a:ext cx="1303342" cy="842710"/>
            </a:xfrm>
            <a:prstGeom prst="rect">
              <a:avLst/>
            </a:prstGeom>
          </p:spPr>
          <p:txBody>
            <a:bodyPr lIns="0" tIns="0" rIns="0" bIns="0" rtlCol="0" anchor="t">
              <a:spAutoFit/>
            </a:bodyPr>
            <a:lstStyle/>
            <a:p>
              <a:pPr algn="ctr">
                <a:lnSpc>
                  <a:spcPts val="5148"/>
                </a:lnSpc>
                <a:spcBef>
                  <a:spcPct val="0"/>
                </a:spcBef>
              </a:pPr>
              <a:r>
                <a:rPr lang="en-US" sz="3677" spc="-73" dirty="0">
                  <a:solidFill>
                    <a:srgbClr val="FFFFFF"/>
                  </a:solidFill>
                  <a:latin typeface="Bugaki"/>
                  <a:ea typeface="Bugaki"/>
                  <a:cs typeface="Bugaki"/>
                  <a:sym typeface="Bugaki"/>
                </a:rPr>
                <a:t>12</a:t>
              </a:r>
            </a:p>
          </p:txBody>
        </p:sp>
      </p:grpSp>
      <p:sp>
        <p:nvSpPr>
          <p:cNvPr id="15" name="TextBox 15"/>
          <p:cNvSpPr txBox="1"/>
          <p:nvPr/>
        </p:nvSpPr>
        <p:spPr>
          <a:xfrm>
            <a:off x="796958" y="3999334"/>
            <a:ext cx="6363040" cy="4488408"/>
          </a:xfrm>
          <a:prstGeom prst="rect">
            <a:avLst/>
          </a:prstGeom>
        </p:spPr>
        <p:txBody>
          <a:bodyPr wrap="square" lIns="0" tIns="0" rIns="0" bIns="0" rtlCol="0" anchor="t">
            <a:spAutoFit/>
          </a:bodyPr>
          <a:lstStyle/>
          <a:p>
            <a:pPr marL="457200" indent="-457200">
              <a:lnSpc>
                <a:spcPts val="3509"/>
              </a:lnSpc>
              <a:buFont typeface="Arial" panose="020B0604020202020204" pitchFamily="34" charset="0"/>
              <a:buChar char="•"/>
            </a:pPr>
            <a:r>
              <a:rPr lang="en-US" sz="3200" spc="-60" dirty="0">
                <a:solidFill>
                  <a:srgbClr val="000000"/>
                </a:solidFill>
                <a:latin typeface="Open Sauce"/>
                <a:ea typeface="Open Sauce"/>
                <a:cs typeface="Open Sauce"/>
                <a:sym typeface="Open Sauce"/>
              </a:rPr>
              <a:t>Expand dataset size for better generalization</a:t>
            </a:r>
          </a:p>
          <a:p>
            <a:pPr marL="457200" indent="-457200">
              <a:lnSpc>
                <a:spcPts val="3509"/>
              </a:lnSpc>
              <a:buFont typeface="Arial" panose="020B0604020202020204" pitchFamily="34" charset="0"/>
              <a:buChar char="•"/>
            </a:pPr>
            <a:r>
              <a:rPr lang="en-US" sz="3200" spc="-60" dirty="0">
                <a:solidFill>
                  <a:srgbClr val="000000"/>
                </a:solidFill>
                <a:latin typeface="Open Sauce"/>
                <a:ea typeface="Open Sauce"/>
                <a:cs typeface="Open Sauce"/>
                <a:sym typeface="Open Sauce"/>
              </a:rPr>
              <a:t>Employ ensemble methods to minimize false negatives</a:t>
            </a:r>
          </a:p>
          <a:p>
            <a:pPr marL="457200" indent="-457200">
              <a:lnSpc>
                <a:spcPts val="3509"/>
              </a:lnSpc>
              <a:buFont typeface="Arial" panose="020B0604020202020204" pitchFamily="34" charset="0"/>
              <a:buChar char="•"/>
            </a:pPr>
            <a:r>
              <a:rPr lang="en-US" sz="3200" spc="-60" dirty="0">
                <a:solidFill>
                  <a:srgbClr val="000000"/>
                </a:solidFill>
                <a:latin typeface="Open Sauce"/>
                <a:ea typeface="Open Sauce"/>
                <a:cs typeface="Open Sauce"/>
                <a:sym typeface="Open Sauce"/>
              </a:rPr>
              <a:t>Explore lightweight architectures to lower computational costs</a:t>
            </a:r>
          </a:p>
          <a:p>
            <a:pPr marL="457200" indent="-457200">
              <a:lnSpc>
                <a:spcPts val="3509"/>
              </a:lnSpc>
              <a:buFont typeface="Arial" panose="020B0604020202020204" pitchFamily="34" charset="0"/>
              <a:buChar char="•"/>
            </a:pPr>
            <a:r>
              <a:rPr lang="en-US" sz="3200" spc="-60" dirty="0">
                <a:solidFill>
                  <a:srgbClr val="000000"/>
                </a:solidFill>
                <a:latin typeface="Open Sauce"/>
                <a:ea typeface="Open Sauce"/>
                <a:cs typeface="Open Sauce"/>
                <a:sym typeface="Open Sauce"/>
              </a:rPr>
              <a:t>Incorporate interpretability methods (ex. Grad-CAM) for better clinical adoption</a:t>
            </a:r>
          </a:p>
        </p:txBody>
      </p:sp>
      <p:pic>
        <p:nvPicPr>
          <p:cNvPr id="17" name="Picture 16">
            <a:extLst>
              <a:ext uri="{FF2B5EF4-FFF2-40B4-BE49-F238E27FC236}">
                <a16:creationId xmlns:a16="http://schemas.microsoft.com/office/drawing/2014/main" id="{A58DAB5F-1733-57A0-7C9B-6C7B12A52103}"/>
              </a:ext>
            </a:extLst>
          </p:cNvPr>
          <p:cNvPicPr>
            <a:picLocks noChangeAspect="1"/>
          </p:cNvPicPr>
          <p:nvPr/>
        </p:nvPicPr>
        <p:blipFill>
          <a:blip r:embed="rId5"/>
          <a:stretch>
            <a:fillRect/>
          </a:stretch>
        </p:blipFill>
        <p:spPr>
          <a:xfrm>
            <a:off x="2700691" y="1509638"/>
            <a:ext cx="2171105" cy="2171105"/>
          </a:xfrm>
          <a:prstGeom prst="rect">
            <a:avLst/>
          </a:prstGeom>
        </p:spPr>
      </p:pic>
      <p:pic>
        <p:nvPicPr>
          <p:cNvPr id="1028" name="Picture 4" descr="Object Identification and Localization Using Grad-CAM++ with Mask Regional  Convolution Neural Network">
            <a:extLst>
              <a:ext uri="{FF2B5EF4-FFF2-40B4-BE49-F238E27FC236}">
                <a16:creationId xmlns:a16="http://schemas.microsoft.com/office/drawing/2014/main" id="{D6539299-E316-AA54-B12D-450B1A7A07A3}"/>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34428" y="5913848"/>
            <a:ext cx="10653572" cy="399231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The Essential Guide to Ensemble Learning">
            <a:extLst>
              <a:ext uri="{FF2B5EF4-FFF2-40B4-BE49-F238E27FC236}">
                <a16:creationId xmlns:a16="http://schemas.microsoft.com/office/drawing/2014/main" id="{F2552689-0EE3-40E3-7D01-E7376A0F0CD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227769" y="1242199"/>
            <a:ext cx="9521915" cy="429081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CA"/>
          </a:p>
        </p:txBody>
      </p:sp>
      <p:grpSp>
        <p:nvGrpSpPr>
          <p:cNvPr id="3" name="Group 3"/>
          <p:cNvGrpSpPr/>
          <p:nvPr/>
        </p:nvGrpSpPr>
        <p:grpSpPr>
          <a:xfrm>
            <a:off x="17259300" y="8984615"/>
            <a:ext cx="1573962" cy="1573962"/>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3B54"/>
            </a:solidFill>
          </p:spPr>
          <p:txBody>
            <a:bodyPr/>
            <a:lstStyle/>
            <a:p>
              <a:endParaRPr lang="en-CA"/>
            </a:p>
          </p:txBody>
        </p:sp>
        <p:sp>
          <p:nvSpPr>
            <p:cNvPr id="5" name="TextBox 5"/>
            <p:cNvSpPr txBox="1"/>
            <p:nvPr/>
          </p:nvSpPr>
          <p:spPr>
            <a:xfrm>
              <a:off x="76200" y="66675"/>
              <a:ext cx="660400" cy="669925"/>
            </a:xfrm>
            <a:prstGeom prst="rect">
              <a:avLst/>
            </a:prstGeom>
          </p:spPr>
          <p:txBody>
            <a:bodyPr lIns="50800" tIns="50800" rIns="50800" bIns="50800" rtlCol="0" anchor="ctr"/>
            <a:lstStyle/>
            <a:p>
              <a:pPr algn="ctr">
                <a:lnSpc>
                  <a:spcPts val="3042"/>
                </a:lnSpc>
              </a:pPr>
              <a:endParaRPr/>
            </a:p>
          </p:txBody>
        </p:sp>
      </p:grpSp>
      <p:grpSp>
        <p:nvGrpSpPr>
          <p:cNvPr id="6" name="Group 6"/>
          <p:cNvGrpSpPr/>
          <p:nvPr/>
        </p:nvGrpSpPr>
        <p:grpSpPr>
          <a:xfrm>
            <a:off x="16303701" y="8984615"/>
            <a:ext cx="786981" cy="786981"/>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664"/>
            </a:solidFill>
          </p:spPr>
          <p:txBody>
            <a:bodyPr/>
            <a:lstStyle/>
            <a:p>
              <a:endParaRPr lang="en-CA"/>
            </a:p>
          </p:txBody>
        </p:sp>
        <p:sp>
          <p:nvSpPr>
            <p:cNvPr id="8" name="TextBox 8"/>
            <p:cNvSpPr txBox="1"/>
            <p:nvPr/>
          </p:nvSpPr>
          <p:spPr>
            <a:xfrm>
              <a:off x="76200" y="66675"/>
              <a:ext cx="660400" cy="669925"/>
            </a:xfrm>
            <a:prstGeom prst="rect">
              <a:avLst/>
            </a:prstGeom>
          </p:spPr>
          <p:txBody>
            <a:bodyPr lIns="50800" tIns="50800" rIns="50800" bIns="50800" rtlCol="0" anchor="ctr"/>
            <a:lstStyle/>
            <a:p>
              <a:pPr algn="ctr">
                <a:lnSpc>
                  <a:spcPts val="3042"/>
                </a:lnSpc>
              </a:pPr>
              <a:endParaRPr/>
            </a:p>
          </p:txBody>
        </p:sp>
      </p:grpSp>
      <p:sp>
        <p:nvSpPr>
          <p:cNvPr id="9" name="AutoShape 9"/>
          <p:cNvSpPr/>
          <p:nvPr/>
        </p:nvSpPr>
        <p:spPr>
          <a:xfrm>
            <a:off x="0" y="9723971"/>
            <a:ext cx="9144000" cy="0"/>
          </a:xfrm>
          <a:prstGeom prst="line">
            <a:avLst/>
          </a:prstGeom>
          <a:ln w="47625" cap="flat">
            <a:solidFill>
              <a:srgbClr val="004664"/>
            </a:solidFill>
            <a:prstDash val="solid"/>
            <a:headEnd type="none" w="sm" len="sm"/>
            <a:tailEnd type="oval" w="lg" len="lg"/>
          </a:ln>
        </p:spPr>
        <p:txBody>
          <a:bodyPr/>
          <a:lstStyle/>
          <a:p>
            <a:endParaRPr lang="en-CA"/>
          </a:p>
        </p:txBody>
      </p:sp>
      <p:sp>
        <p:nvSpPr>
          <p:cNvPr id="10" name="AutoShape 10"/>
          <p:cNvSpPr/>
          <p:nvPr/>
        </p:nvSpPr>
        <p:spPr>
          <a:xfrm>
            <a:off x="15925021" y="646179"/>
            <a:ext cx="2362979" cy="0"/>
          </a:xfrm>
          <a:prstGeom prst="line">
            <a:avLst/>
          </a:prstGeom>
          <a:ln w="47625" cap="flat">
            <a:solidFill>
              <a:srgbClr val="004664"/>
            </a:solidFill>
            <a:prstDash val="solid"/>
            <a:headEnd type="oval" w="lg" len="lg"/>
            <a:tailEnd type="none" w="sm" len="sm"/>
          </a:ln>
        </p:spPr>
        <p:txBody>
          <a:bodyPr/>
          <a:lstStyle/>
          <a:p>
            <a:endParaRPr lang="en-CA"/>
          </a:p>
        </p:txBody>
      </p:sp>
      <p:sp>
        <p:nvSpPr>
          <p:cNvPr id="11" name="TextBox 11"/>
          <p:cNvSpPr txBox="1"/>
          <p:nvPr/>
        </p:nvSpPr>
        <p:spPr>
          <a:xfrm>
            <a:off x="1524000" y="279758"/>
            <a:ext cx="9625751" cy="958850"/>
          </a:xfrm>
          <a:prstGeom prst="rect">
            <a:avLst/>
          </a:prstGeom>
        </p:spPr>
        <p:txBody>
          <a:bodyPr lIns="0" tIns="0" rIns="0" bIns="0" rtlCol="0" anchor="t">
            <a:spAutoFit/>
          </a:bodyPr>
          <a:lstStyle/>
          <a:p>
            <a:pPr algn="l">
              <a:lnSpc>
                <a:spcPts val="7000"/>
              </a:lnSpc>
              <a:spcBef>
                <a:spcPct val="0"/>
              </a:spcBef>
            </a:pPr>
            <a:r>
              <a:rPr lang="en-US" sz="5000" spc="-100" dirty="0">
                <a:solidFill>
                  <a:srgbClr val="013B54"/>
                </a:solidFill>
                <a:latin typeface="Bugaki"/>
                <a:ea typeface="Bugaki"/>
                <a:cs typeface="Bugaki"/>
                <a:sym typeface="Bugaki"/>
              </a:rPr>
              <a:t>Work Distribution</a:t>
            </a:r>
          </a:p>
        </p:txBody>
      </p:sp>
      <p:grpSp>
        <p:nvGrpSpPr>
          <p:cNvPr id="12" name="Group 12"/>
          <p:cNvGrpSpPr/>
          <p:nvPr/>
        </p:nvGrpSpPr>
        <p:grpSpPr>
          <a:xfrm>
            <a:off x="381366" y="257438"/>
            <a:ext cx="977507" cy="977507"/>
            <a:chOff x="0" y="0"/>
            <a:chExt cx="1303342" cy="1303342"/>
          </a:xfrm>
        </p:grpSpPr>
        <p:sp>
          <p:nvSpPr>
            <p:cNvPr id="13" name="Freeform 13"/>
            <p:cNvSpPr/>
            <p:nvPr/>
          </p:nvSpPr>
          <p:spPr>
            <a:xfrm>
              <a:off x="0" y="0"/>
              <a:ext cx="1303342" cy="1303342"/>
            </a:xfrm>
            <a:custGeom>
              <a:avLst/>
              <a:gdLst/>
              <a:ahLst/>
              <a:cxnLst/>
              <a:rect l="l" t="t" r="r" b="b"/>
              <a:pathLst>
                <a:path w="1303342" h="1303342">
                  <a:moveTo>
                    <a:pt x="0" y="0"/>
                  </a:moveTo>
                  <a:lnTo>
                    <a:pt x="1303342" y="0"/>
                  </a:lnTo>
                  <a:lnTo>
                    <a:pt x="1303342" y="1303342"/>
                  </a:lnTo>
                  <a:lnTo>
                    <a:pt x="0" y="130334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CA"/>
            </a:p>
          </p:txBody>
        </p:sp>
        <p:sp>
          <p:nvSpPr>
            <p:cNvPr id="14" name="TextBox 14"/>
            <p:cNvSpPr txBox="1"/>
            <p:nvPr/>
          </p:nvSpPr>
          <p:spPr>
            <a:xfrm>
              <a:off x="0" y="135180"/>
              <a:ext cx="1303342" cy="842710"/>
            </a:xfrm>
            <a:prstGeom prst="rect">
              <a:avLst/>
            </a:prstGeom>
          </p:spPr>
          <p:txBody>
            <a:bodyPr lIns="0" tIns="0" rIns="0" bIns="0" rtlCol="0" anchor="t">
              <a:spAutoFit/>
            </a:bodyPr>
            <a:lstStyle/>
            <a:p>
              <a:pPr algn="ctr">
                <a:lnSpc>
                  <a:spcPts val="5148"/>
                </a:lnSpc>
                <a:spcBef>
                  <a:spcPct val="0"/>
                </a:spcBef>
              </a:pPr>
              <a:r>
                <a:rPr lang="en-US" sz="3677" spc="-73" dirty="0">
                  <a:solidFill>
                    <a:srgbClr val="FFFFFF"/>
                  </a:solidFill>
                  <a:latin typeface="Bugaki"/>
                  <a:ea typeface="Bugaki"/>
                  <a:cs typeface="Bugaki"/>
                  <a:sym typeface="Bugaki"/>
                </a:rPr>
                <a:t>13</a:t>
              </a:r>
            </a:p>
          </p:txBody>
        </p:sp>
      </p:grpSp>
      <p:graphicFrame>
        <p:nvGraphicFramePr>
          <p:cNvPr id="16" name="Table 15">
            <a:extLst>
              <a:ext uri="{FF2B5EF4-FFF2-40B4-BE49-F238E27FC236}">
                <a16:creationId xmlns:a16="http://schemas.microsoft.com/office/drawing/2014/main" id="{F1F0746B-5E29-B116-A60D-98A92447FF02}"/>
              </a:ext>
            </a:extLst>
          </p:cNvPr>
          <p:cNvGraphicFramePr>
            <a:graphicFrameLocks noGrp="1"/>
          </p:cNvGraphicFramePr>
          <p:nvPr>
            <p:extLst>
              <p:ext uri="{D42A27DB-BD31-4B8C-83A1-F6EECF244321}">
                <p14:modId xmlns:p14="http://schemas.microsoft.com/office/powerpoint/2010/main" val="1041197227"/>
              </p:ext>
            </p:extLst>
          </p:nvPr>
        </p:nvGraphicFramePr>
        <p:xfrm>
          <a:off x="1905000" y="1609042"/>
          <a:ext cx="13467597" cy="7268258"/>
        </p:xfrm>
        <a:graphic>
          <a:graphicData uri="http://schemas.openxmlformats.org/drawingml/2006/table">
            <a:tbl>
              <a:tblPr firstRow="1" bandRow="1">
                <a:tableStyleId>{5940675A-B579-460E-94D1-54222C63F5DA}</a:tableStyleId>
              </a:tblPr>
              <a:tblGrid>
                <a:gridCol w="4489199">
                  <a:extLst>
                    <a:ext uri="{9D8B030D-6E8A-4147-A177-3AD203B41FA5}">
                      <a16:colId xmlns:a16="http://schemas.microsoft.com/office/drawing/2014/main" val="2378984720"/>
                    </a:ext>
                  </a:extLst>
                </a:gridCol>
                <a:gridCol w="4489199">
                  <a:extLst>
                    <a:ext uri="{9D8B030D-6E8A-4147-A177-3AD203B41FA5}">
                      <a16:colId xmlns:a16="http://schemas.microsoft.com/office/drawing/2014/main" val="3585766424"/>
                    </a:ext>
                  </a:extLst>
                </a:gridCol>
                <a:gridCol w="4489199">
                  <a:extLst>
                    <a:ext uri="{9D8B030D-6E8A-4147-A177-3AD203B41FA5}">
                      <a16:colId xmlns:a16="http://schemas.microsoft.com/office/drawing/2014/main" val="4015896195"/>
                    </a:ext>
                  </a:extLst>
                </a:gridCol>
              </a:tblGrid>
              <a:tr h="3534458">
                <a:tc>
                  <a:txBody>
                    <a:bodyPr/>
                    <a:lstStyle/>
                    <a:p>
                      <a:endParaRPr lang="en-CA"/>
                    </a:p>
                  </a:txBody>
                  <a:tcPr/>
                </a:tc>
                <a:tc>
                  <a:txBody>
                    <a:bodyPr/>
                    <a:lstStyle/>
                    <a:p>
                      <a:endParaRPr lang="en-CA" dirty="0"/>
                    </a:p>
                  </a:txBody>
                  <a:tcPr/>
                </a:tc>
                <a:tc>
                  <a:txBody>
                    <a:bodyPr/>
                    <a:lstStyle/>
                    <a:p>
                      <a:endParaRPr lang="en-CA"/>
                    </a:p>
                  </a:txBody>
                  <a:tcPr/>
                </a:tc>
                <a:extLst>
                  <a:ext uri="{0D108BD9-81ED-4DB2-BD59-A6C34878D82A}">
                    <a16:rowId xmlns:a16="http://schemas.microsoft.com/office/drawing/2014/main" val="2483260665"/>
                  </a:ext>
                </a:extLst>
              </a:tr>
              <a:tr h="3733800">
                <a:tc>
                  <a:txBody>
                    <a:bodyPr/>
                    <a:lstStyle/>
                    <a:p>
                      <a:endParaRPr lang="en-CA"/>
                    </a:p>
                  </a:txBody>
                  <a:tcPr/>
                </a:tc>
                <a:tc>
                  <a:txBody>
                    <a:bodyPr/>
                    <a:lstStyle/>
                    <a:p>
                      <a:endParaRPr lang="en-CA" dirty="0"/>
                    </a:p>
                  </a:txBody>
                  <a:tcPr/>
                </a:tc>
                <a:tc>
                  <a:txBody>
                    <a:bodyPr/>
                    <a:lstStyle/>
                    <a:p>
                      <a:endParaRPr lang="en-CA" dirty="0"/>
                    </a:p>
                  </a:txBody>
                  <a:tcPr/>
                </a:tc>
                <a:extLst>
                  <a:ext uri="{0D108BD9-81ED-4DB2-BD59-A6C34878D82A}">
                    <a16:rowId xmlns:a16="http://schemas.microsoft.com/office/drawing/2014/main" val="3025445734"/>
                  </a:ext>
                </a:extLst>
              </a:tr>
            </a:tbl>
          </a:graphicData>
        </a:graphic>
      </p:graphicFrame>
      <p:pic>
        <p:nvPicPr>
          <p:cNvPr id="20" name="Picture 19">
            <a:extLst>
              <a:ext uri="{FF2B5EF4-FFF2-40B4-BE49-F238E27FC236}">
                <a16:creationId xmlns:a16="http://schemas.microsoft.com/office/drawing/2014/main" id="{0E441E0D-5733-8AE4-4EA0-C19A1EEF838E}"/>
              </a:ext>
            </a:extLst>
          </p:cNvPr>
          <p:cNvPicPr>
            <a:picLocks noChangeAspect="1"/>
          </p:cNvPicPr>
          <p:nvPr/>
        </p:nvPicPr>
        <p:blipFill>
          <a:blip r:embed="rId5"/>
          <a:stretch>
            <a:fillRect/>
          </a:stretch>
        </p:blipFill>
        <p:spPr>
          <a:xfrm>
            <a:off x="8000999" y="3773988"/>
            <a:ext cx="1363826" cy="1363826"/>
          </a:xfrm>
          <a:prstGeom prst="rect">
            <a:avLst/>
          </a:prstGeom>
        </p:spPr>
      </p:pic>
      <p:pic>
        <p:nvPicPr>
          <p:cNvPr id="22" name="Picture 21">
            <a:extLst>
              <a:ext uri="{FF2B5EF4-FFF2-40B4-BE49-F238E27FC236}">
                <a16:creationId xmlns:a16="http://schemas.microsoft.com/office/drawing/2014/main" id="{737CE7A4-BB92-C489-340C-22B29FBBBEE1}"/>
              </a:ext>
            </a:extLst>
          </p:cNvPr>
          <p:cNvPicPr>
            <a:picLocks noChangeAspect="1"/>
          </p:cNvPicPr>
          <p:nvPr/>
        </p:nvPicPr>
        <p:blipFill>
          <a:blip r:embed="rId6"/>
          <a:stretch>
            <a:fillRect/>
          </a:stretch>
        </p:blipFill>
        <p:spPr>
          <a:xfrm>
            <a:off x="12649199" y="3779674"/>
            <a:ext cx="1363826" cy="1363826"/>
          </a:xfrm>
          <a:prstGeom prst="rect">
            <a:avLst/>
          </a:prstGeom>
        </p:spPr>
      </p:pic>
      <p:pic>
        <p:nvPicPr>
          <p:cNvPr id="30" name="Picture 29">
            <a:extLst>
              <a:ext uri="{FF2B5EF4-FFF2-40B4-BE49-F238E27FC236}">
                <a16:creationId xmlns:a16="http://schemas.microsoft.com/office/drawing/2014/main" id="{9E7AC08B-251E-7B59-85CE-2A8C4FDFCC66}"/>
              </a:ext>
            </a:extLst>
          </p:cNvPr>
          <p:cNvPicPr>
            <a:picLocks noChangeAspect="1"/>
          </p:cNvPicPr>
          <p:nvPr/>
        </p:nvPicPr>
        <p:blipFill>
          <a:blip r:embed="rId7"/>
          <a:stretch>
            <a:fillRect/>
          </a:stretch>
        </p:blipFill>
        <p:spPr>
          <a:xfrm>
            <a:off x="3465059" y="3695700"/>
            <a:ext cx="1524000" cy="1524000"/>
          </a:xfrm>
          <a:prstGeom prst="rect">
            <a:avLst/>
          </a:prstGeom>
        </p:spPr>
      </p:pic>
      <p:sp>
        <p:nvSpPr>
          <p:cNvPr id="34" name="Rectangle 33">
            <a:extLst>
              <a:ext uri="{FF2B5EF4-FFF2-40B4-BE49-F238E27FC236}">
                <a16:creationId xmlns:a16="http://schemas.microsoft.com/office/drawing/2014/main" id="{6785CE66-16E6-2B5A-54A3-3D9694A4FAD9}"/>
              </a:ext>
            </a:extLst>
          </p:cNvPr>
          <p:cNvSpPr/>
          <p:nvPr/>
        </p:nvSpPr>
        <p:spPr>
          <a:xfrm>
            <a:off x="2133600" y="1714499"/>
            <a:ext cx="4114800" cy="1843329"/>
          </a:xfrm>
          <a:prstGeom prst="rect">
            <a:avLst/>
          </a:prstGeom>
          <a:solidFill>
            <a:srgbClr val="92ABB4"/>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285750" indent="-285750">
              <a:buFont typeface="Arial,Sans-Serif" panose="020B0604020202020204" pitchFamily="34" charset="0"/>
              <a:buChar char="•"/>
            </a:pPr>
            <a:r>
              <a:rPr lang="en-US" dirty="0">
                <a:ea typeface="Calibri"/>
                <a:cs typeface="Calibri"/>
              </a:rPr>
              <a:t>Researching State of Art models</a:t>
            </a:r>
            <a:endParaRPr lang="en-US" dirty="0">
              <a:solidFill>
                <a:srgbClr val="000000"/>
              </a:solidFill>
              <a:ea typeface="Calibri"/>
              <a:cs typeface="Calibri"/>
            </a:endParaRPr>
          </a:p>
          <a:p>
            <a:pPr marL="285750" indent="-285750">
              <a:buFont typeface="Arial,Sans-Serif" panose="020B0604020202020204" pitchFamily="34" charset="0"/>
              <a:buChar char="•"/>
            </a:pPr>
            <a:r>
              <a:rPr lang="en-US" dirty="0">
                <a:ea typeface="Calibri"/>
                <a:cs typeface="Calibri"/>
              </a:rPr>
              <a:t>Preprocessing for ViT model and fine tuning on dataset</a:t>
            </a:r>
            <a:endParaRPr lang="en-US" dirty="0">
              <a:solidFill>
                <a:srgbClr val="FFFFFF"/>
              </a:solidFill>
              <a:ea typeface="Calibri"/>
              <a:cs typeface="Calibri"/>
            </a:endParaRPr>
          </a:p>
          <a:p>
            <a:pPr marL="285750" indent="-285750">
              <a:buFont typeface="Arial,Sans-Serif" panose="020B0604020202020204" pitchFamily="34" charset="0"/>
              <a:buChar char="•"/>
            </a:pPr>
            <a:r>
              <a:rPr lang="en-US" dirty="0">
                <a:ea typeface="Calibri"/>
                <a:cs typeface="Calibri"/>
              </a:rPr>
              <a:t>Reporting and evaluation with real world example images</a:t>
            </a:r>
          </a:p>
        </p:txBody>
      </p:sp>
      <p:sp>
        <p:nvSpPr>
          <p:cNvPr id="35" name="Rectangle 34">
            <a:extLst>
              <a:ext uri="{FF2B5EF4-FFF2-40B4-BE49-F238E27FC236}">
                <a16:creationId xmlns:a16="http://schemas.microsoft.com/office/drawing/2014/main" id="{4EC275FB-6C9D-780B-AABB-074CA469F9B2}"/>
              </a:ext>
            </a:extLst>
          </p:cNvPr>
          <p:cNvSpPr/>
          <p:nvPr/>
        </p:nvSpPr>
        <p:spPr>
          <a:xfrm>
            <a:off x="2102097" y="4457700"/>
            <a:ext cx="1155110" cy="57623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Open Sauce" panose="020B0604020202020204" charset="0"/>
              </a:rPr>
              <a:t>Sandeep</a:t>
            </a:r>
            <a:endParaRPr lang="en-CA" sz="1600" dirty="0">
              <a:solidFill>
                <a:schemeClr val="tx1"/>
              </a:solidFill>
              <a:latin typeface="Open Sauce" panose="020B0604020202020204" charset="0"/>
            </a:endParaRPr>
          </a:p>
        </p:txBody>
      </p:sp>
      <p:sp>
        <p:nvSpPr>
          <p:cNvPr id="36" name="Rectangle 35">
            <a:extLst>
              <a:ext uri="{FF2B5EF4-FFF2-40B4-BE49-F238E27FC236}">
                <a16:creationId xmlns:a16="http://schemas.microsoft.com/office/drawing/2014/main" id="{1B7482B5-8055-D874-2108-AB4E8A984BA9}"/>
              </a:ext>
            </a:extLst>
          </p:cNvPr>
          <p:cNvSpPr/>
          <p:nvPr/>
        </p:nvSpPr>
        <p:spPr>
          <a:xfrm>
            <a:off x="6641427" y="4457700"/>
            <a:ext cx="1155110" cy="57623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Open Sauce" panose="020B0604020202020204" charset="0"/>
              </a:rPr>
              <a:t>Jessica</a:t>
            </a:r>
            <a:endParaRPr lang="en-CA" sz="1600" dirty="0">
              <a:solidFill>
                <a:schemeClr val="tx1"/>
              </a:solidFill>
              <a:latin typeface="Open Sauce" panose="020B0604020202020204" charset="0"/>
            </a:endParaRPr>
          </a:p>
        </p:txBody>
      </p:sp>
      <p:sp>
        <p:nvSpPr>
          <p:cNvPr id="37" name="Rectangle 36">
            <a:extLst>
              <a:ext uri="{FF2B5EF4-FFF2-40B4-BE49-F238E27FC236}">
                <a16:creationId xmlns:a16="http://schemas.microsoft.com/office/drawing/2014/main" id="{77775938-05CD-0658-43E2-1B6F866001F8}"/>
              </a:ext>
            </a:extLst>
          </p:cNvPr>
          <p:cNvSpPr/>
          <p:nvPr/>
        </p:nvSpPr>
        <p:spPr>
          <a:xfrm>
            <a:off x="11213601" y="4457700"/>
            <a:ext cx="1155110" cy="57623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Open Sauce" panose="020B0604020202020204" charset="0"/>
              </a:rPr>
              <a:t>Jane /</a:t>
            </a:r>
            <a:br>
              <a:rPr lang="en-US" sz="1600" dirty="0">
                <a:solidFill>
                  <a:schemeClr val="tx1"/>
                </a:solidFill>
                <a:latin typeface="Open Sauce" panose="020B0604020202020204" charset="0"/>
              </a:rPr>
            </a:br>
            <a:r>
              <a:rPr lang="en-US" sz="1600" dirty="0">
                <a:solidFill>
                  <a:schemeClr val="tx1"/>
                </a:solidFill>
                <a:latin typeface="Open Sauce" panose="020B0604020202020204" charset="0"/>
              </a:rPr>
              <a:t>Yi-Chen</a:t>
            </a:r>
            <a:endParaRPr lang="en-CA" sz="1600" dirty="0">
              <a:solidFill>
                <a:schemeClr val="tx1"/>
              </a:solidFill>
              <a:latin typeface="Open Sauce" panose="020B0604020202020204" charset="0"/>
            </a:endParaRPr>
          </a:p>
        </p:txBody>
      </p:sp>
      <p:sp>
        <p:nvSpPr>
          <p:cNvPr id="38" name="Rectangle 37">
            <a:extLst>
              <a:ext uri="{FF2B5EF4-FFF2-40B4-BE49-F238E27FC236}">
                <a16:creationId xmlns:a16="http://schemas.microsoft.com/office/drawing/2014/main" id="{C6E91B08-256C-CA3E-CA5D-D43BAA571BBD}"/>
              </a:ext>
            </a:extLst>
          </p:cNvPr>
          <p:cNvSpPr/>
          <p:nvPr/>
        </p:nvSpPr>
        <p:spPr>
          <a:xfrm>
            <a:off x="2102097" y="8085218"/>
            <a:ext cx="1155110" cy="57623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Open Sauce" panose="020B0604020202020204" charset="0"/>
              </a:rPr>
              <a:t>Diego</a:t>
            </a:r>
            <a:endParaRPr lang="en-CA" sz="1600" dirty="0">
              <a:solidFill>
                <a:schemeClr val="tx1"/>
              </a:solidFill>
              <a:latin typeface="Open Sauce" panose="020B0604020202020204" charset="0"/>
            </a:endParaRPr>
          </a:p>
        </p:txBody>
      </p:sp>
      <p:sp>
        <p:nvSpPr>
          <p:cNvPr id="39" name="Rectangle 38">
            <a:extLst>
              <a:ext uri="{FF2B5EF4-FFF2-40B4-BE49-F238E27FC236}">
                <a16:creationId xmlns:a16="http://schemas.microsoft.com/office/drawing/2014/main" id="{2805647E-12E0-5DD9-DD11-D74FEC54C214}"/>
              </a:ext>
            </a:extLst>
          </p:cNvPr>
          <p:cNvSpPr/>
          <p:nvPr/>
        </p:nvSpPr>
        <p:spPr>
          <a:xfrm>
            <a:off x="6581398" y="1714499"/>
            <a:ext cx="4114800" cy="1843329"/>
          </a:xfrm>
          <a:prstGeom prst="rect">
            <a:avLst/>
          </a:prstGeom>
          <a:solidFill>
            <a:srgbClr val="92ABB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dirty="0"/>
              <a:t>Data loading</a:t>
            </a:r>
          </a:p>
          <a:p>
            <a:pPr marL="285750" indent="-285750">
              <a:buFont typeface="Arial" panose="020B0604020202020204" pitchFamily="34" charset="0"/>
              <a:buChar char="•"/>
            </a:pPr>
            <a:r>
              <a:rPr lang="en-US" dirty="0"/>
              <a:t>Preprocessing</a:t>
            </a:r>
          </a:p>
          <a:p>
            <a:pPr marL="285750" indent="-285750">
              <a:buFont typeface="Arial" panose="020B0604020202020204" pitchFamily="34" charset="0"/>
              <a:buChar char="•"/>
            </a:pPr>
            <a:r>
              <a:rPr lang="en-US" dirty="0"/>
              <a:t>Data exploration</a:t>
            </a:r>
          </a:p>
          <a:p>
            <a:pPr marL="285750" indent="-285750">
              <a:buFont typeface="Arial" panose="020B0604020202020204" pitchFamily="34" charset="0"/>
              <a:buChar char="•"/>
            </a:pPr>
            <a:r>
              <a:rPr lang="en-US" dirty="0"/>
              <a:t>Report and documentation </a:t>
            </a:r>
            <a:endParaRPr lang="en-CA" dirty="0"/>
          </a:p>
        </p:txBody>
      </p:sp>
      <p:sp>
        <p:nvSpPr>
          <p:cNvPr id="40" name="Rectangle 39">
            <a:extLst>
              <a:ext uri="{FF2B5EF4-FFF2-40B4-BE49-F238E27FC236}">
                <a16:creationId xmlns:a16="http://schemas.microsoft.com/office/drawing/2014/main" id="{BBB4A710-7B6A-0CAA-248F-FEB5EFC5E6ED}"/>
              </a:ext>
            </a:extLst>
          </p:cNvPr>
          <p:cNvSpPr/>
          <p:nvPr/>
        </p:nvSpPr>
        <p:spPr>
          <a:xfrm>
            <a:off x="11056492" y="1714499"/>
            <a:ext cx="4114800" cy="1843329"/>
          </a:xfrm>
          <a:prstGeom prst="rect">
            <a:avLst/>
          </a:prstGeom>
          <a:solidFill>
            <a:srgbClr val="92ABB4"/>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285750" indent="-285750">
              <a:buFont typeface="Arial"/>
              <a:buChar char="•"/>
            </a:pPr>
            <a:r>
              <a:rPr lang="en-CA">
                <a:ea typeface="Calibri"/>
                <a:cs typeface="Calibri"/>
              </a:rPr>
              <a:t>Explore the supervised learning algorithm for the task</a:t>
            </a:r>
            <a:endParaRPr lang="en-US">
              <a:ea typeface="Calibri"/>
              <a:cs typeface="Calibri"/>
            </a:endParaRPr>
          </a:p>
          <a:p>
            <a:pPr marL="285750" indent="-285750">
              <a:buFont typeface="Arial"/>
              <a:buChar char="•"/>
            </a:pPr>
            <a:r>
              <a:rPr lang="en-CA">
                <a:ea typeface="Calibri"/>
                <a:cs typeface="Calibri"/>
              </a:rPr>
              <a:t>Using VGG and CNN architecture to classify the binary labeled data</a:t>
            </a:r>
          </a:p>
          <a:p>
            <a:pPr marL="285750" indent="-285750">
              <a:buFont typeface="Arial"/>
              <a:buChar char="•"/>
            </a:pPr>
            <a:r>
              <a:rPr lang="en-CA">
                <a:ea typeface="Calibri"/>
                <a:cs typeface="Calibri"/>
              </a:rPr>
              <a:t>Reporting and evaluation aligned with others</a:t>
            </a:r>
          </a:p>
        </p:txBody>
      </p:sp>
      <p:sp>
        <p:nvSpPr>
          <p:cNvPr id="41" name="Rectangle 40">
            <a:extLst>
              <a:ext uri="{FF2B5EF4-FFF2-40B4-BE49-F238E27FC236}">
                <a16:creationId xmlns:a16="http://schemas.microsoft.com/office/drawing/2014/main" id="{B2A5CB87-411A-2D94-ED42-93AD44D49BDD}"/>
              </a:ext>
            </a:extLst>
          </p:cNvPr>
          <p:cNvSpPr/>
          <p:nvPr/>
        </p:nvSpPr>
        <p:spPr>
          <a:xfrm>
            <a:off x="2133600" y="5281371"/>
            <a:ext cx="4114800" cy="1843329"/>
          </a:xfrm>
          <a:prstGeom prst="rect">
            <a:avLst/>
          </a:prstGeom>
          <a:solidFill>
            <a:srgbClr val="92ABB4"/>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285750" indent="-285750">
              <a:buFont typeface="Arial" panose="020B0604020202020204" pitchFamily="34" charset="0"/>
              <a:buChar char="•"/>
            </a:pPr>
            <a:r>
              <a:rPr lang="en-CA" dirty="0">
                <a:ea typeface="Calibri"/>
                <a:cs typeface="Calibri"/>
              </a:rPr>
              <a:t>Explore the unsupervised learning algorithms</a:t>
            </a:r>
          </a:p>
          <a:p>
            <a:pPr marL="285750" indent="-285750">
              <a:buFont typeface="Arial" panose="020B0604020202020204" pitchFamily="34" charset="0"/>
              <a:buChar char="•"/>
            </a:pPr>
            <a:r>
              <a:rPr lang="en-CA" dirty="0">
                <a:ea typeface="Calibri"/>
                <a:cs typeface="Calibri"/>
              </a:rPr>
              <a:t>Develop Autoencoder and VAE models</a:t>
            </a:r>
          </a:p>
          <a:p>
            <a:pPr marL="285750" indent="-285750">
              <a:buFont typeface="Arial" panose="020B0604020202020204" pitchFamily="34" charset="0"/>
              <a:buChar char="•"/>
            </a:pPr>
            <a:r>
              <a:rPr lang="en-CA" dirty="0">
                <a:ea typeface="Calibri"/>
                <a:cs typeface="Calibri"/>
              </a:rPr>
              <a:t>Reporting</a:t>
            </a:r>
          </a:p>
        </p:txBody>
      </p:sp>
      <p:sp>
        <p:nvSpPr>
          <p:cNvPr id="42" name="Rectangle 41">
            <a:extLst>
              <a:ext uri="{FF2B5EF4-FFF2-40B4-BE49-F238E27FC236}">
                <a16:creationId xmlns:a16="http://schemas.microsoft.com/office/drawing/2014/main" id="{0F9BB64B-62BB-6929-C119-59B8AA35F04F}"/>
              </a:ext>
            </a:extLst>
          </p:cNvPr>
          <p:cNvSpPr/>
          <p:nvPr/>
        </p:nvSpPr>
        <p:spPr>
          <a:xfrm>
            <a:off x="6581398" y="5281371"/>
            <a:ext cx="4114800" cy="1843329"/>
          </a:xfrm>
          <a:prstGeom prst="rect">
            <a:avLst/>
          </a:prstGeom>
          <a:solidFill>
            <a:srgbClr val="92ABB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dirty="0"/>
              <a:t>Explored state of the art models</a:t>
            </a:r>
          </a:p>
          <a:p>
            <a:pPr marL="285750" indent="-285750">
              <a:buFont typeface="Arial" panose="020B0604020202020204" pitchFamily="34" charset="0"/>
              <a:buChar char="•"/>
            </a:pPr>
            <a:r>
              <a:rPr lang="en-US" dirty="0"/>
              <a:t>Preprocessing for EfficientNet model and fine tuning</a:t>
            </a:r>
          </a:p>
          <a:p>
            <a:pPr marL="285750" indent="-285750">
              <a:buFont typeface="Arial" panose="020B0604020202020204" pitchFamily="34" charset="0"/>
              <a:buChar char="•"/>
            </a:pPr>
            <a:r>
              <a:rPr lang="en-US" dirty="0"/>
              <a:t>Report and evaluation</a:t>
            </a:r>
            <a:endParaRPr lang="en-CA" dirty="0"/>
          </a:p>
        </p:txBody>
      </p:sp>
      <p:sp>
        <p:nvSpPr>
          <p:cNvPr id="43" name="Rectangle 42">
            <a:extLst>
              <a:ext uri="{FF2B5EF4-FFF2-40B4-BE49-F238E27FC236}">
                <a16:creationId xmlns:a16="http://schemas.microsoft.com/office/drawing/2014/main" id="{BE13A1F2-1BC0-90CE-374A-FD7ABA799DF0}"/>
              </a:ext>
            </a:extLst>
          </p:cNvPr>
          <p:cNvSpPr/>
          <p:nvPr/>
        </p:nvSpPr>
        <p:spPr>
          <a:xfrm>
            <a:off x="11056492" y="5281371"/>
            <a:ext cx="4114800" cy="1843329"/>
          </a:xfrm>
          <a:prstGeom prst="rect">
            <a:avLst/>
          </a:prstGeom>
          <a:solidFill>
            <a:srgbClr val="92ABB4"/>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285750" indent="-285750">
              <a:buFont typeface="Arial" panose="020B0604020202020204" pitchFamily="34" charset="0"/>
              <a:buChar char="•"/>
            </a:pPr>
            <a:r>
              <a:rPr lang="en-CA">
                <a:ea typeface="Calibri"/>
                <a:cs typeface="Calibri"/>
              </a:rPr>
              <a:t>Model Comparison and evaluation</a:t>
            </a:r>
          </a:p>
          <a:p>
            <a:pPr marL="285750" indent="-285750">
              <a:buFont typeface="Arial" panose="020B0604020202020204" pitchFamily="34" charset="0"/>
              <a:buChar char="•"/>
            </a:pPr>
            <a:r>
              <a:rPr lang="en-CA">
                <a:ea typeface="Calibri"/>
                <a:cs typeface="Calibri"/>
              </a:rPr>
              <a:t>Reporting</a:t>
            </a:r>
          </a:p>
        </p:txBody>
      </p:sp>
      <p:sp>
        <p:nvSpPr>
          <p:cNvPr id="44" name="Rectangle 43">
            <a:extLst>
              <a:ext uri="{FF2B5EF4-FFF2-40B4-BE49-F238E27FC236}">
                <a16:creationId xmlns:a16="http://schemas.microsoft.com/office/drawing/2014/main" id="{A3DB8B4D-032D-B844-2168-9FA0385995B3}"/>
              </a:ext>
            </a:extLst>
          </p:cNvPr>
          <p:cNvSpPr/>
          <p:nvPr/>
        </p:nvSpPr>
        <p:spPr>
          <a:xfrm>
            <a:off x="6641427" y="8085218"/>
            <a:ext cx="1155110" cy="57623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Open Sauce" panose="020B0604020202020204" charset="0"/>
              </a:rPr>
              <a:t>Vincent</a:t>
            </a:r>
            <a:endParaRPr lang="en-CA" sz="1600" dirty="0">
              <a:solidFill>
                <a:schemeClr val="tx1"/>
              </a:solidFill>
              <a:latin typeface="Open Sauce" panose="020B0604020202020204" charset="0"/>
            </a:endParaRPr>
          </a:p>
        </p:txBody>
      </p:sp>
      <p:sp>
        <p:nvSpPr>
          <p:cNvPr id="45" name="Rectangle 44">
            <a:extLst>
              <a:ext uri="{FF2B5EF4-FFF2-40B4-BE49-F238E27FC236}">
                <a16:creationId xmlns:a16="http://schemas.microsoft.com/office/drawing/2014/main" id="{DEC24AFE-B17B-4885-65D0-9775102EE92C}"/>
              </a:ext>
            </a:extLst>
          </p:cNvPr>
          <p:cNvSpPr/>
          <p:nvPr/>
        </p:nvSpPr>
        <p:spPr>
          <a:xfrm>
            <a:off x="11213601" y="8085218"/>
            <a:ext cx="1155110" cy="57623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Open Sauce" panose="020B0604020202020204" charset="0"/>
              </a:rPr>
              <a:t>Arcan</a:t>
            </a:r>
            <a:endParaRPr lang="en-CA" sz="1600" dirty="0">
              <a:solidFill>
                <a:schemeClr val="tx1"/>
              </a:solidFill>
              <a:latin typeface="Open Sauce" panose="020B0604020202020204" charset="0"/>
            </a:endParaRPr>
          </a:p>
        </p:txBody>
      </p:sp>
      <p:pic>
        <p:nvPicPr>
          <p:cNvPr id="49" name="Picture 48">
            <a:extLst>
              <a:ext uri="{FF2B5EF4-FFF2-40B4-BE49-F238E27FC236}">
                <a16:creationId xmlns:a16="http://schemas.microsoft.com/office/drawing/2014/main" id="{F62356E6-DED7-7B13-2DF0-82025A87D0BD}"/>
              </a:ext>
            </a:extLst>
          </p:cNvPr>
          <p:cNvPicPr>
            <a:picLocks noChangeAspect="1"/>
          </p:cNvPicPr>
          <p:nvPr/>
        </p:nvPicPr>
        <p:blipFill>
          <a:blip r:embed="rId8"/>
          <a:stretch>
            <a:fillRect/>
          </a:stretch>
        </p:blipFill>
        <p:spPr>
          <a:xfrm>
            <a:off x="7949273" y="7247884"/>
            <a:ext cx="1619786" cy="1619786"/>
          </a:xfrm>
          <a:prstGeom prst="rect">
            <a:avLst/>
          </a:prstGeom>
        </p:spPr>
      </p:pic>
      <p:pic>
        <p:nvPicPr>
          <p:cNvPr id="51" name="Picture 50">
            <a:extLst>
              <a:ext uri="{FF2B5EF4-FFF2-40B4-BE49-F238E27FC236}">
                <a16:creationId xmlns:a16="http://schemas.microsoft.com/office/drawing/2014/main" id="{A8981BC2-EBE6-41D2-2AE8-D2321153CDE0}"/>
              </a:ext>
            </a:extLst>
          </p:cNvPr>
          <p:cNvPicPr>
            <a:picLocks noChangeAspect="1"/>
          </p:cNvPicPr>
          <p:nvPr/>
        </p:nvPicPr>
        <p:blipFill>
          <a:blip r:embed="rId9"/>
          <a:stretch>
            <a:fillRect/>
          </a:stretch>
        </p:blipFill>
        <p:spPr>
          <a:xfrm>
            <a:off x="12649199" y="7395732"/>
            <a:ext cx="1471938" cy="1471938"/>
          </a:xfrm>
          <a:prstGeom prst="rect">
            <a:avLst/>
          </a:prstGeom>
        </p:spPr>
      </p:pic>
      <p:pic>
        <p:nvPicPr>
          <p:cNvPr id="54" name="Picture 53">
            <a:extLst>
              <a:ext uri="{FF2B5EF4-FFF2-40B4-BE49-F238E27FC236}">
                <a16:creationId xmlns:a16="http://schemas.microsoft.com/office/drawing/2014/main" id="{E908579E-8AB3-8149-45A6-D32AEAC4F37D}"/>
              </a:ext>
            </a:extLst>
          </p:cNvPr>
          <p:cNvPicPr>
            <a:picLocks noChangeAspect="1"/>
          </p:cNvPicPr>
          <p:nvPr/>
        </p:nvPicPr>
        <p:blipFill>
          <a:blip r:embed="rId10"/>
          <a:stretch>
            <a:fillRect/>
          </a:stretch>
        </p:blipFill>
        <p:spPr>
          <a:xfrm>
            <a:off x="3477050" y="7343010"/>
            <a:ext cx="1553056" cy="155305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F8314641BB837840B3C51EC45DA3AB4C" ma:contentTypeVersion="3" ma:contentTypeDescription="Create a new document." ma:contentTypeScope="" ma:versionID="29083bc1dc344a2de98aa24f51f7f22a">
  <xsd:schema xmlns:xsd="http://www.w3.org/2001/XMLSchema" xmlns:xs="http://www.w3.org/2001/XMLSchema" xmlns:p="http://schemas.microsoft.com/office/2006/metadata/properties" xmlns:ns2="6df42491-71c9-400c-98d4-4d1764699899" targetNamespace="http://schemas.microsoft.com/office/2006/metadata/properties" ma:root="true" ma:fieldsID="928b80609d23434fd2dbcde4f7921114" ns2:_="">
    <xsd:import namespace="6df42491-71c9-400c-98d4-4d1764699899"/>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df42491-71c9-400c-98d4-4d176469989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8A9C311-E363-4F2B-B4F0-47F56A5B499D}">
  <ds:schemaRefs>
    <ds:schemaRef ds:uri="http://schemas.microsoft.com/sharepoint/v3/contenttype/forms"/>
  </ds:schemaRefs>
</ds:datastoreItem>
</file>

<file path=customXml/itemProps2.xml><?xml version="1.0" encoding="utf-8"?>
<ds:datastoreItem xmlns:ds="http://schemas.openxmlformats.org/officeDocument/2006/customXml" ds:itemID="{0BC21FC4-4BAD-462D-9D1D-A02294F58C38}">
  <ds:schemaRefs>
    <ds:schemaRef ds:uri="http://schemas.microsoft.com/office/2006/metadata/properties"/>
    <ds:schemaRef ds:uri="http://purl.org/dc/elements/1.1/"/>
    <ds:schemaRef ds:uri="http://purl.org/dc/terms/"/>
    <ds:schemaRef ds:uri="http://www.w3.org/XML/1998/namespace"/>
    <ds:schemaRef ds:uri="http://schemas.microsoft.com/office/2006/documentManagement/types"/>
    <ds:schemaRef ds:uri="6df42491-71c9-400c-98d4-4d1764699899"/>
    <ds:schemaRef ds:uri="http://purl.org/dc/dcmitype/"/>
    <ds:schemaRef ds:uri="http://schemas.microsoft.com/office/infopath/2007/PartnerControls"/>
    <ds:schemaRef ds:uri="http://schemas.openxmlformats.org/package/2006/metadata/core-properties"/>
  </ds:schemaRefs>
</ds:datastoreItem>
</file>

<file path=customXml/itemProps3.xml><?xml version="1.0" encoding="utf-8"?>
<ds:datastoreItem xmlns:ds="http://schemas.openxmlformats.org/officeDocument/2006/customXml" ds:itemID="{05568886-63D8-4DFD-A77C-3413DDC4298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df42491-71c9-400c-98d4-4d176469989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883</TotalTime>
  <Words>1139</Words>
  <Application>Microsoft Office PowerPoint</Application>
  <PresentationFormat>Custom</PresentationFormat>
  <Paragraphs>300</Paragraphs>
  <Slides>22</Slides>
  <Notes>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22</vt:i4>
      </vt:variant>
    </vt:vector>
  </HeadingPairs>
  <TitlesOfParts>
    <vt:vector size="33" baseType="lpstr">
      <vt:lpstr>Open Sauce</vt:lpstr>
      <vt:lpstr>Poppins</vt:lpstr>
      <vt:lpstr>Courier New</vt:lpstr>
      <vt:lpstr>Open Sauce Bold</vt:lpstr>
      <vt:lpstr>Arial,Sans-Serif</vt:lpstr>
      <vt:lpstr>Arial</vt:lpstr>
      <vt:lpstr>Calibri</vt:lpstr>
      <vt:lpstr>Roboto</vt:lpstr>
      <vt:lpstr>Aptos</vt:lpstr>
      <vt:lpstr>Bugaki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comp263-001_presentation</dc:title>
  <dc:creator>Jessica Marie Hernandez</dc:creator>
  <cp:lastModifiedBy>Jessica Marie Hernandez</cp:lastModifiedBy>
  <cp:revision>2</cp:revision>
  <dcterms:created xsi:type="dcterms:W3CDTF">2006-08-16T00:00:00Z</dcterms:created>
  <dcterms:modified xsi:type="dcterms:W3CDTF">2025-04-14T01:13:00Z</dcterms:modified>
  <dc:identifier>DAGj3IIw1GY</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0x010100F8314641BB837840B3C51EC45DA3AB4C</vt:lpwstr>
  </property>
</Properties>
</file>